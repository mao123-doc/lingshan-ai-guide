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8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3"/>
    <p:sldId id="261" r:id="rId4"/>
    <p:sldId id="297" r:id="rId5"/>
    <p:sldId id="288" r:id="rId6"/>
    <p:sldId id="278" r:id="rId7"/>
    <p:sldId id="298" r:id="rId8"/>
    <p:sldId id="280" r:id="rId9"/>
    <p:sldId id="281" r:id="rId10"/>
    <p:sldId id="289" r:id="rId11"/>
    <p:sldId id="291" r:id="rId12"/>
    <p:sldId id="299" r:id="rId13"/>
    <p:sldId id="284" r:id="rId14"/>
    <p:sldId id="292" r:id="rId15"/>
    <p:sldId id="285" r:id="rId16"/>
    <p:sldId id="293" r:id="rId17"/>
    <p:sldId id="287" r:id="rId18"/>
    <p:sldId id="295" r:id="rId19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B784"/>
    <a:srgbClr val="F2F4F1"/>
    <a:srgbClr val="C0504D"/>
    <a:srgbClr val="6E492B"/>
    <a:srgbClr val="573823"/>
    <a:srgbClr val="C9366D"/>
    <a:srgbClr val="F4E352"/>
    <a:srgbClr val="D4B672"/>
    <a:srgbClr val="D8C789"/>
    <a:srgbClr val="D9C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252" y="396"/>
      </p:cViewPr>
      <p:guideLst>
        <p:guide orient="horz" pos="228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gs" Target="tags/tag8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8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版式"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0" name="平行四边形 39"/>
          <p:cNvSpPr/>
          <p:nvPr userDrawn="1"/>
        </p:nvSpPr>
        <p:spPr>
          <a:xfrm>
            <a:off x="669607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14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.xml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13.png"/><Relationship Id="rId6" Type="http://schemas.openxmlformats.org/officeDocument/2006/relationships/image" Target="../media/image1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25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4.xml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.xml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.png"/><Relationship Id="rId7" Type="http://schemas.openxmlformats.org/officeDocument/2006/relationships/image" Target="../media/image58.png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4" Type="http://schemas.openxmlformats.org/officeDocument/2006/relationships/slideLayout" Target="../slideLayouts/slideLayout2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10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9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image" Target="../media/image62.png"/><Relationship Id="rId26" Type="http://schemas.openxmlformats.org/officeDocument/2006/relationships/tags" Target="../tags/tag26.xml"/><Relationship Id="rId25" Type="http://schemas.openxmlformats.org/officeDocument/2006/relationships/image" Target="../media/image61.png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8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image" Target="../media/image60.png"/><Relationship Id="rId16" Type="http://schemas.openxmlformats.org/officeDocument/2006/relationships/image" Target="../media/image59.png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image" Target="../media/image71.png"/><Relationship Id="rId7" Type="http://schemas.openxmlformats.org/officeDocument/2006/relationships/image" Target="../media/image13.png"/><Relationship Id="rId6" Type="http://schemas.openxmlformats.org/officeDocument/2006/relationships/image" Target="../media/image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68.xml"/><Relationship Id="rId33" Type="http://schemas.openxmlformats.org/officeDocument/2006/relationships/image" Target="../media/image72.png"/><Relationship Id="rId32" Type="http://schemas.openxmlformats.org/officeDocument/2006/relationships/tags" Target="../tags/tag67.xml"/><Relationship Id="rId31" Type="http://schemas.openxmlformats.org/officeDocument/2006/relationships/tags" Target="../tags/tag66.xml"/><Relationship Id="rId30" Type="http://schemas.openxmlformats.org/officeDocument/2006/relationships/tags" Target="../tags/tag65.xml"/><Relationship Id="rId3" Type="http://schemas.openxmlformats.org/officeDocument/2006/relationships/image" Target="../media/image68.png"/><Relationship Id="rId29" Type="http://schemas.openxmlformats.org/officeDocument/2006/relationships/tags" Target="../tags/tag64.xml"/><Relationship Id="rId28" Type="http://schemas.openxmlformats.org/officeDocument/2006/relationships/tags" Target="../tags/tag63.xml"/><Relationship Id="rId27" Type="http://schemas.openxmlformats.org/officeDocument/2006/relationships/tags" Target="../tags/tag62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image" Target="../media/image67.png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73.jpe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0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71.xml"/><Relationship Id="rId17" Type="http://schemas.openxmlformats.org/officeDocument/2006/relationships/image" Target="../media/image91.png"/><Relationship Id="rId16" Type="http://schemas.openxmlformats.org/officeDocument/2006/relationships/image" Target="../media/image90.png"/><Relationship Id="rId15" Type="http://schemas.openxmlformats.org/officeDocument/2006/relationships/image" Target="../media/image89.png"/><Relationship Id="rId14" Type="http://schemas.openxmlformats.org/officeDocument/2006/relationships/image" Target="../media/image88.png"/><Relationship Id="rId13" Type="http://schemas.openxmlformats.org/officeDocument/2006/relationships/image" Target="../media/image87.png"/><Relationship Id="rId12" Type="http://schemas.openxmlformats.org/officeDocument/2006/relationships/image" Target="../media/image86.png"/><Relationship Id="rId11" Type="http://schemas.openxmlformats.org/officeDocument/2006/relationships/image" Target="../media/image85.png"/><Relationship Id="rId10" Type="http://schemas.openxmlformats.org/officeDocument/2006/relationships/image" Target="../media/image84.png"/><Relationship Id="rId1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80.xml"/><Relationship Id="rId13" Type="http://schemas.openxmlformats.org/officeDocument/2006/relationships/image" Target="../media/image94.png"/><Relationship Id="rId12" Type="http://schemas.openxmlformats.org/officeDocument/2006/relationships/image" Target="../media/image93.png"/><Relationship Id="rId11" Type="http://schemas.openxmlformats.org/officeDocument/2006/relationships/image" Target="../media/image92.png"/><Relationship Id="rId10" Type="http://schemas.openxmlformats.org/officeDocument/2006/relationships/tags" Target="../tags/tag79.xml"/><Relationship Id="rId1" Type="http://schemas.openxmlformats.org/officeDocument/2006/relationships/tags" Target="../tags/tag7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101.png"/><Relationship Id="rId5" Type="http://schemas.openxmlformats.org/officeDocument/2006/relationships/image" Target="../media/image13.png"/><Relationship Id="rId4" Type="http://schemas.openxmlformats.org/officeDocument/2006/relationships/image" Target="../media/image1.png"/><Relationship Id="rId3" Type="http://schemas.openxmlformats.org/officeDocument/2006/relationships/image" Target="../media/image39.png"/><Relationship Id="rId2" Type="http://schemas.openxmlformats.org/officeDocument/2006/relationships/image" Target="../media/image10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4" Type="http://schemas.openxmlformats.org/officeDocument/2006/relationships/image" Target="../media/image5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6" b="10400"/>
          <a:stretch>
            <a:fillRect/>
          </a:stretch>
        </p:blipFill>
        <p:spPr>
          <a:xfrm>
            <a:off x="-146305" y="-45070"/>
            <a:ext cx="12338303" cy="6948140"/>
          </a:xfrm>
          <a:prstGeom prst="rect">
            <a:avLst/>
          </a:prstGeom>
        </p:spPr>
      </p:pic>
      <p:sp>
        <p:nvSpPr>
          <p:cNvPr id="3" name="任意多边形: 形状 2"/>
          <p:cNvSpPr/>
          <p:nvPr/>
        </p:nvSpPr>
        <p:spPr>
          <a:xfrm>
            <a:off x="183896" y="0"/>
            <a:ext cx="12338304" cy="6858000"/>
          </a:xfrm>
          <a:custGeom>
            <a:avLst/>
            <a:gdLst>
              <a:gd name="csX0" fmla="*/ 5203985 w 12338304"/>
              <a:gd name="csY0" fmla="*/ 0 h 6858000"/>
              <a:gd name="csX1" fmla="*/ 5206979 w 12338304"/>
              <a:gd name="csY1" fmla="*/ 0 h 6858000"/>
              <a:gd name="csX2" fmla="*/ 5219237 w 12338304"/>
              <a:gd name="csY2" fmla="*/ 7951 h 6858000"/>
              <a:gd name="csX3" fmla="*/ 5210033 w 12338304"/>
              <a:gd name="csY3" fmla="*/ 7336 h 6858000"/>
              <a:gd name="csX4" fmla="*/ 5205935 w 12338304"/>
              <a:gd name="csY4" fmla="*/ 1964 h 6858000"/>
              <a:gd name="csX5" fmla="*/ 0 w 12338304"/>
              <a:gd name="csY5" fmla="*/ 0 h 6858000"/>
              <a:gd name="csX6" fmla="*/ 5107710 w 12338304"/>
              <a:gd name="csY6" fmla="*/ 0 h 6858000"/>
              <a:gd name="csX7" fmla="*/ 5113541 w 12338304"/>
              <a:gd name="csY7" fmla="*/ 885 h 6858000"/>
              <a:gd name="csX8" fmla="*/ 5210033 w 12338304"/>
              <a:gd name="csY8" fmla="*/ 7336 h 6858000"/>
              <a:gd name="csX9" fmla="*/ 5259553 w 12338304"/>
              <a:gd name="csY9" fmla="*/ 72245 h 6858000"/>
              <a:gd name="csX10" fmla="*/ 5362362 w 12338304"/>
              <a:gd name="csY10" fmla="*/ 270344 h 6858000"/>
              <a:gd name="csX11" fmla="*/ 5720169 w 12338304"/>
              <a:gd name="csY11" fmla="*/ 1757238 h 6858000"/>
              <a:gd name="csX12" fmla="*/ 6698179 w 12338304"/>
              <a:gd name="csY12" fmla="*/ 2441050 h 6858000"/>
              <a:gd name="csX13" fmla="*/ 7334283 w 12338304"/>
              <a:gd name="csY13" fmla="*/ 4715123 h 6858000"/>
              <a:gd name="csX14" fmla="*/ 9306207 w 12338304"/>
              <a:gd name="csY14" fmla="*/ 5414838 h 6858000"/>
              <a:gd name="csX15" fmla="*/ 10816954 w 12338304"/>
              <a:gd name="csY15" fmla="*/ 4086970 h 6858000"/>
              <a:gd name="csX16" fmla="*/ 12136871 w 12338304"/>
              <a:gd name="csY16" fmla="*/ 4182386 h 6858000"/>
              <a:gd name="csX17" fmla="*/ 12267951 w 12338304"/>
              <a:gd name="csY17" fmla="*/ 4233301 h 6858000"/>
              <a:gd name="csX18" fmla="*/ 12338304 w 12338304"/>
              <a:gd name="csY18" fmla="*/ 4267048 h 6858000"/>
              <a:gd name="csX19" fmla="*/ 12338304 w 12338304"/>
              <a:gd name="csY19" fmla="*/ 6858000 h 6858000"/>
              <a:gd name="csX20" fmla="*/ 0 w 12338304"/>
              <a:gd name="csY20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2338304" h="6858000">
                <a:moveTo>
                  <a:pt x="5203985" y="0"/>
                </a:moveTo>
                <a:lnTo>
                  <a:pt x="5206979" y="0"/>
                </a:lnTo>
                <a:lnTo>
                  <a:pt x="5219237" y="7951"/>
                </a:lnTo>
                <a:lnTo>
                  <a:pt x="5210033" y="7336"/>
                </a:lnTo>
                <a:lnTo>
                  <a:pt x="5205935" y="1964"/>
                </a:lnTo>
                <a:close/>
                <a:moveTo>
                  <a:pt x="0" y="0"/>
                </a:moveTo>
                <a:lnTo>
                  <a:pt x="5107710" y="0"/>
                </a:lnTo>
                <a:lnTo>
                  <a:pt x="5113541" y="885"/>
                </a:lnTo>
                <a:lnTo>
                  <a:pt x="5210033" y="7336"/>
                </a:lnTo>
                <a:lnTo>
                  <a:pt x="5259553" y="72245"/>
                </a:lnTo>
                <a:cubicBezTo>
                  <a:pt x="5294857" y="124819"/>
                  <a:pt x="5329231" y="189506"/>
                  <a:pt x="5362362" y="270344"/>
                </a:cubicBezTo>
                <a:cubicBezTo>
                  <a:pt x="5494882" y="593697"/>
                  <a:pt x="5497533" y="1395454"/>
                  <a:pt x="5720169" y="1757238"/>
                </a:cubicBezTo>
                <a:cubicBezTo>
                  <a:pt x="5942804" y="2119022"/>
                  <a:pt x="6429160" y="1948069"/>
                  <a:pt x="6698179" y="2441050"/>
                </a:cubicBezTo>
                <a:cubicBezTo>
                  <a:pt x="6967198" y="2934031"/>
                  <a:pt x="6899612" y="4219492"/>
                  <a:pt x="7334283" y="4715123"/>
                </a:cubicBezTo>
                <a:cubicBezTo>
                  <a:pt x="7768954" y="5210754"/>
                  <a:pt x="8725762" y="5519530"/>
                  <a:pt x="9306207" y="5414838"/>
                </a:cubicBezTo>
                <a:cubicBezTo>
                  <a:pt x="9886652" y="5310146"/>
                  <a:pt x="10345177" y="4292379"/>
                  <a:pt x="10816954" y="4086970"/>
                </a:cubicBezTo>
                <a:cubicBezTo>
                  <a:pt x="11288731" y="3881561"/>
                  <a:pt x="11775087" y="4056490"/>
                  <a:pt x="12136871" y="4182386"/>
                </a:cubicBezTo>
                <a:cubicBezTo>
                  <a:pt x="12182094" y="4198123"/>
                  <a:pt x="12225743" y="4215061"/>
                  <a:pt x="12267951" y="4233301"/>
                </a:cubicBezTo>
                <a:lnTo>
                  <a:pt x="12338304" y="4267048"/>
                </a:lnTo>
                <a:lnTo>
                  <a:pt x="12338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>
          <a:xfrm>
            <a:off x="-146304" y="0"/>
            <a:ext cx="12338304" cy="6858000"/>
          </a:xfrm>
          <a:custGeom>
            <a:avLst/>
            <a:gdLst>
              <a:gd name="csX0" fmla="*/ 5203985 w 12338304"/>
              <a:gd name="csY0" fmla="*/ 0 h 6858000"/>
              <a:gd name="csX1" fmla="*/ 5206979 w 12338304"/>
              <a:gd name="csY1" fmla="*/ 0 h 6858000"/>
              <a:gd name="csX2" fmla="*/ 5219237 w 12338304"/>
              <a:gd name="csY2" fmla="*/ 7951 h 6858000"/>
              <a:gd name="csX3" fmla="*/ 5210033 w 12338304"/>
              <a:gd name="csY3" fmla="*/ 7336 h 6858000"/>
              <a:gd name="csX4" fmla="*/ 5205935 w 12338304"/>
              <a:gd name="csY4" fmla="*/ 1964 h 6858000"/>
              <a:gd name="csX5" fmla="*/ 0 w 12338304"/>
              <a:gd name="csY5" fmla="*/ 0 h 6858000"/>
              <a:gd name="csX6" fmla="*/ 5107710 w 12338304"/>
              <a:gd name="csY6" fmla="*/ 0 h 6858000"/>
              <a:gd name="csX7" fmla="*/ 5113541 w 12338304"/>
              <a:gd name="csY7" fmla="*/ 885 h 6858000"/>
              <a:gd name="csX8" fmla="*/ 5210033 w 12338304"/>
              <a:gd name="csY8" fmla="*/ 7336 h 6858000"/>
              <a:gd name="csX9" fmla="*/ 5259553 w 12338304"/>
              <a:gd name="csY9" fmla="*/ 72245 h 6858000"/>
              <a:gd name="csX10" fmla="*/ 5362362 w 12338304"/>
              <a:gd name="csY10" fmla="*/ 270344 h 6858000"/>
              <a:gd name="csX11" fmla="*/ 5720169 w 12338304"/>
              <a:gd name="csY11" fmla="*/ 1757238 h 6858000"/>
              <a:gd name="csX12" fmla="*/ 6698179 w 12338304"/>
              <a:gd name="csY12" fmla="*/ 2441050 h 6858000"/>
              <a:gd name="csX13" fmla="*/ 7334283 w 12338304"/>
              <a:gd name="csY13" fmla="*/ 4715123 h 6858000"/>
              <a:gd name="csX14" fmla="*/ 9306207 w 12338304"/>
              <a:gd name="csY14" fmla="*/ 5414838 h 6858000"/>
              <a:gd name="csX15" fmla="*/ 10816954 w 12338304"/>
              <a:gd name="csY15" fmla="*/ 4086970 h 6858000"/>
              <a:gd name="csX16" fmla="*/ 12136871 w 12338304"/>
              <a:gd name="csY16" fmla="*/ 4182386 h 6858000"/>
              <a:gd name="csX17" fmla="*/ 12267951 w 12338304"/>
              <a:gd name="csY17" fmla="*/ 4233301 h 6858000"/>
              <a:gd name="csX18" fmla="*/ 12338304 w 12338304"/>
              <a:gd name="csY18" fmla="*/ 4267048 h 6858000"/>
              <a:gd name="csX19" fmla="*/ 12338304 w 12338304"/>
              <a:gd name="csY19" fmla="*/ 6858000 h 6858000"/>
              <a:gd name="csX20" fmla="*/ 0 w 12338304"/>
              <a:gd name="csY20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2338304" h="6858000">
                <a:moveTo>
                  <a:pt x="5203985" y="0"/>
                </a:moveTo>
                <a:lnTo>
                  <a:pt x="5206979" y="0"/>
                </a:lnTo>
                <a:lnTo>
                  <a:pt x="5219237" y="7951"/>
                </a:lnTo>
                <a:lnTo>
                  <a:pt x="5210033" y="7336"/>
                </a:lnTo>
                <a:lnTo>
                  <a:pt x="5205935" y="1964"/>
                </a:lnTo>
                <a:close/>
                <a:moveTo>
                  <a:pt x="0" y="0"/>
                </a:moveTo>
                <a:lnTo>
                  <a:pt x="5107710" y="0"/>
                </a:lnTo>
                <a:lnTo>
                  <a:pt x="5113541" y="885"/>
                </a:lnTo>
                <a:lnTo>
                  <a:pt x="5210033" y="7336"/>
                </a:lnTo>
                <a:lnTo>
                  <a:pt x="5259553" y="72245"/>
                </a:lnTo>
                <a:cubicBezTo>
                  <a:pt x="5294857" y="124819"/>
                  <a:pt x="5329231" y="189506"/>
                  <a:pt x="5362362" y="270344"/>
                </a:cubicBezTo>
                <a:cubicBezTo>
                  <a:pt x="5494882" y="593697"/>
                  <a:pt x="5497533" y="1395454"/>
                  <a:pt x="5720169" y="1757238"/>
                </a:cubicBezTo>
                <a:cubicBezTo>
                  <a:pt x="5942804" y="2119022"/>
                  <a:pt x="6429160" y="1948069"/>
                  <a:pt x="6698179" y="2441050"/>
                </a:cubicBezTo>
                <a:cubicBezTo>
                  <a:pt x="6967198" y="2934031"/>
                  <a:pt x="6899612" y="4219492"/>
                  <a:pt x="7334283" y="4715123"/>
                </a:cubicBezTo>
                <a:cubicBezTo>
                  <a:pt x="7768954" y="5210754"/>
                  <a:pt x="8725762" y="5519530"/>
                  <a:pt x="9306207" y="5414838"/>
                </a:cubicBezTo>
                <a:cubicBezTo>
                  <a:pt x="9886652" y="5310146"/>
                  <a:pt x="10345177" y="4292379"/>
                  <a:pt x="10816954" y="4086970"/>
                </a:cubicBezTo>
                <a:cubicBezTo>
                  <a:pt x="11288731" y="3881561"/>
                  <a:pt x="11775087" y="4056490"/>
                  <a:pt x="12136871" y="4182386"/>
                </a:cubicBezTo>
                <a:cubicBezTo>
                  <a:pt x="12182094" y="4198123"/>
                  <a:pt x="12225743" y="4215061"/>
                  <a:pt x="12267951" y="4233301"/>
                </a:cubicBezTo>
                <a:lnTo>
                  <a:pt x="12338304" y="4267048"/>
                </a:lnTo>
                <a:lnTo>
                  <a:pt x="1233830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AA260"/>
          </a:solidFill>
          <a:ln>
            <a:noFill/>
          </a:ln>
          <a:effectLst>
            <a:outerShdw blurRad="1905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49034">
            <a:off x="-568404" y="-1020137"/>
            <a:ext cx="7181491" cy="6432042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10" name="图片 9" descr="图片1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53770" y="766445"/>
            <a:ext cx="3324860" cy="3953510"/>
          </a:xfrm>
          <a:prstGeom prst="rect">
            <a:avLst/>
          </a:prstGeom>
          <a:effectLst>
            <a:softEdge rad="495300"/>
          </a:effectLst>
        </p:spPr>
      </p:pic>
      <p:pic>
        <p:nvPicPr>
          <p:cNvPr id="17" name="图片 16" descr="屏幕截图 2026-09-21 212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008" y="37226"/>
            <a:ext cx="1931992" cy="630936"/>
          </a:xfrm>
          <a:prstGeom prst="rect">
            <a:avLst/>
          </a:prstGeom>
        </p:spPr>
      </p:pic>
      <p:pic>
        <p:nvPicPr>
          <p:cNvPr id="5" name="图片 4" descr="屏幕截图 2026-09-22 113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20" y="1255422"/>
            <a:ext cx="4454392" cy="218367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75923" y="4490113"/>
            <a:ext cx="8077200" cy="1198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7294" y="4646323"/>
            <a:ext cx="7314186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</a:rPr>
              <a:t>    </a:t>
            </a:r>
            <a:r>
              <a:rPr lang="zh-CN" altLang="en-US" sz="6600" b="1" spc="150" dirty="0">
                <a:blipFill>
                  <a:blip r:embed="rId7"/>
                  <a:tile tx="127000" ty="12700" sx="100000" sy="100000" flip="y" algn="tl"/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</a:rPr>
              <a:t>可信</a:t>
            </a:r>
            <a:r>
              <a:rPr lang="zh-CN" altLang="en-US" sz="4400" b="1" spc="150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</a:rPr>
              <a:t>文旅</a:t>
            </a:r>
            <a:r>
              <a:rPr lang="zh-CN" altLang="en-US" sz="6600" b="1" spc="150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</a:rPr>
              <a:t>决策</a:t>
            </a:r>
            <a:r>
              <a:rPr lang="zh-CN" altLang="en-US" sz="4400" b="1" spc="150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</a:rPr>
              <a:t>智能体</a:t>
            </a:r>
            <a:endParaRPr lang="zh-CN" altLang="en-US" sz="4400" b="1" spc="150" dirty="0">
              <a:blipFill>
                <a:blip r:embed="rId7"/>
                <a:stretch>
                  <a:fillRect/>
                </a:stretch>
              </a:blipFill>
              <a:latin typeface="汉仪闫锐敏行楷简" panose="00020600040101010101" charset="-122"/>
              <a:ea typeface="汉仪闫锐敏行楷简" panose="00020600040101010101" charset="-122"/>
              <a:cs typeface="汉仪闫锐敏行楷简" panose="0002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77745" y="4126865"/>
            <a:ext cx="658495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  <a:sym typeface="+mn-ea"/>
              </a:rPr>
              <a:t> </a:t>
            </a:r>
            <a:r>
              <a:rPr lang="en-US" altLang="zh-CN" sz="4000" b="1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  <a:sym typeface="+mn-ea"/>
              </a:rPr>
              <a:t>——</a:t>
            </a:r>
            <a:r>
              <a:rPr lang="zh-CN" altLang="en-US" sz="4000" b="1" spc="-80" dirty="0">
                <a:blipFill>
                  <a:blip r:embed="rId7"/>
                  <a:stretch>
                    <a:fillRect/>
                  </a:stretch>
                </a:blipFill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  <a:sym typeface="+mn-ea"/>
              </a:rPr>
              <a:t>面向真实景区的</a:t>
            </a:r>
            <a:endParaRPr lang="zh-CN" altLang="en-US" sz="4000" b="1" spc="-80" dirty="0">
              <a:blipFill>
                <a:blip r:embed="rId7"/>
                <a:stretch>
                  <a:fillRect/>
                </a:stretch>
              </a:blipFill>
              <a:latin typeface="汉仪闫锐敏行楷简" panose="00020600040101010101" charset="-122"/>
              <a:ea typeface="汉仪闫锐敏行楷简" panose="00020600040101010101" charset="-122"/>
              <a:cs typeface="汉仪闫锐敏行楷简" panose="00020600040101010101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50078" y="2692150"/>
            <a:ext cx="157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spc="140" dirty="0">
                <a:solidFill>
                  <a:srgbClr val="570A04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Agent</a:t>
            </a:r>
            <a:endParaRPr lang="zh-CN" altLang="en-US" i="1" spc="140" dirty="0">
              <a:solidFill>
                <a:srgbClr val="570A04"/>
              </a:solidFill>
              <a:latin typeface="Artifakt Element Black" panose="020B0A03050000020004" pitchFamily="34" charset="0"/>
              <a:ea typeface="华文行楷" panose="0201080004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079" y="2257662"/>
            <a:ext cx="1510514" cy="151051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5257165" y="5814060"/>
            <a:ext cx="3787140" cy="637540"/>
            <a:chOff x="9063" y="9156"/>
            <a:chExt cx="5964" cy="1004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9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6529365">
              <a:off x="9026" y="9193"/>
              <a:ext cx="1005" cy="931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/>
          </p:nvSpPr>
          <p:spPr>
            <a:xfrm>
              <a:off x="9229" y="9276"/>
              <a:ext cx="5799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参赛团队：灵境智游</a:t>
              </a:r>
              <a:endParaRPr lang="zh-CN" altLang="en-US" sz="2400" b="1" dirty="0">
                <a:gradFill>
                  <a:gsLst>
                    <a:gs pos="0">
                      <a:srgbClr val="FADA86"/>
                    </a:gs>
                    <a:gs pos="100000">
                      <a:srgbClr val="F8EFE1"/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33375" y="5814060"/>
            <a:ext cx="4689475" cy="814070"/>
            <a:chOff x="1015" y="9156"/>
            <a:chExt cx="7385" cy="1282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9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6529365">
              <a:off x="978" y="9193"/>
              <a:ext cx="1005" cy="931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1176" y="9276"/>
              <a:ext cx="7224" cy="1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赛道：</a:t>
              </a:r>
              <a:r>
                <a:rPr lang="zh-CN" altLang="zh-CN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算法创新赛·AI+场景创新</a:t>
              </a:r>
              <a:endParaRPr lang="zh-CN" altLang="zh-CN" sz="2400" b="1" dirty="0">
                <a:gradFill>
                  <a:gsLst>
                    <a:gs pos="0">
                      <a:srgbClr val="FADA86"/>
                    </a:gs>
                    <a:gs pos="100000">
                      <a:srgbClr val="F8EFE1"/>
                    </a:gs>
                  </a:gsLst>
                  <a:lin ang="5400000" scaled="1"/>
                </a:gradFill>
              </a:endParaRPr>
            </a:p>
            <a:p>
              <a:endParaRPr lang="zh-CN" altLang="en-US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685530" y="5814060"/>
            <a:ext cx="4635500" cy="637540"/>
            <a:chOff x="14280" y="9156"/>
            <a:chExt cx="7300" cy="1004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9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6529365">
              <a:off x="14243" y="9193"/>
              <a:ext cx="1005" cy="931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4356" y="9276"/>
              <a:ext cx="722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参赛日期：</a:t>
              </a:r>
              <a:r>
                <a:rPr lang="en-US" altLang="zh-CN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2026</a:t>
              </a:r>
              <a:r>
                <a:rPr lang="zh-CN" altLang="en-US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年</a:t>
              </a:r>
              <a:r>
                <a:rPr lang="en-US" altLang="zh-CN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9</a:t>
              </a:r>
              <a:r>
                <a:rPr lang="zh-CN" altLang="en-US" sz="2400" b="1" dirty="0">
                  <a:gradFill>
                    <a:gsLst>
                      <a:gs pos="0">
                        <a:srgbClr val="FADA86"/>
                      </a:gs>
                      <a:gs pos="100000">
                        <a:srgbClr val="F8EFE1"/>
                      </a:gs>
                    </a:gsLst>
                    <a:lin ang="5400000" scaled="1"/>
                  </a:gradFill>
                </a:rPr>
                <a:t>月</a:t>
              </a:r>
              <a:endParaRPr lang="zh-CN" altLang="en-US" sz="2400" b="1" dirty="0">
                <a:gradFill>
                  <a:gsLst>
                    <a:gs pos="0">
                      <a:srgbClr val="FADA86"/>
                    </a:gs>
                    <a:gs pos="100000">
                      <a:srgbClr val="F8EFE1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61365" y="3275330"/>
            <a:ext cx="53975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融合多路知识检索</a:t>
            </a:r>
            <a:r>
              <a:rPr lang="en-US" altLang="zh-CN" sz="1400" b="1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lang="zh-CN" altLang="en-US" sz="1400" b="1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游客状态理解</a:t>
            </a:r>
            <a:r>
              <a:rPr lang="en-US" altLang="zh-CN" sz="1400" b="1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lang="zh-CN" altLang="en-US" sz="1400" b="1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多约束路线规划</a:t>
            </a:r>
            <a:endParaRPr lang="zh-CN" altLang="en-US" sz="1400" b="1">
              <a:solidFill>
                <a:srgbClr val="57382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812800" y="3258185"/>
            <a:ext cx="964565" cy="8890"/>
          </a:xfrm>
          <a:prstGeom prst="line">
            <a:avLst/>
          </a:prstGeom>
          <a:ln>
            <a:solidFill>
              <a:srgbClr val="570A0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片 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845" y="1047115"/>
            <a:ext cx="5993765" cy="5471795"/>
          </a:xfrm>
          <a:prstGeom prst="rect">
            <a:avLst/>
          </a:prstGeom>
        </p:spPr>
      </p:pic>
      <p:sp>
        <p:nvSpPr>
          <p:cNvPr id="67" name="任意多边形 66"/>
          <p:cNvSpPr/>
          <p:nvPr/>
        </p:nvSpPr>
        <p:spPr>
          <a:xfrm rot="5400000" flipV="1">
            <a:off x="1032510" y="4758055"/>
            <a:ext cx="2252345" cy="906780"/>
          </a:xfrm>
          <a:custGeom>
            <a:avLst/>
            <a:gdLst>
              <a:gd name="adj" fmla="val 25000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3583" h="1333">
                <a:moveTo>
                  <a:pt x="1928" y="0"/>
                </a:moveTo>
                <a:lnTo>
                  <a:pt x="3250" y="0"/>
                </a:lnTo>
                <a:lnTo>
                  <a:pt x="3583" y="1333"/>
                </a:lnTo>
                <a:lnTo>
                  <a:pt x="0" y="1333"/>
                </a:lnTo>
                <a:lnTo>
                  <a:pt x="284" y="196"/>
                </a:lnTo>
                <a:lnTo>
                  <a:pt x="1934" y="80"/>
                </a:lnTo>
                <a:lnTo>
                  <a:pt x="1928" y="0"/>
                </a:lnTo>
                <a:close/>
              </a:path>
            </a:pathLst>
          </a:custGeom>
          <a:gradFill>
            <a:gsLst>
              <a:gs pos="6000">
                <a:srgbClr val="DBA165"/>
              </a:gs>
              <a:gs pos="100000">
                <a:schemeClr val="bg1">
                  <a:alpha val="35000"/>
                </a:schemeClr>
              </a:gs>
            </a:gsLst>
            <a:lin ang="2004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547370" y="102870"/>
            <a:ext cx="3810000" cy="4438650"/>
          </a:xfrm>
          <a:prstGeom prst="rect">
            <a:avLst/>
          </a:prstGeom>
        </p:spPr>
      </p:pic>
      <p:sp>
        <p:nvSpPr>
          <p:cNvPr id="64" name="流程图: 手动输入 63"/>
          <p:cNvSpPr/>
          <p:nvPr/>
        </p:nvSpPr>
        <p:spPr>
          <a:xfrm rot="5400000" flipH="1">
            <a:off x="-1986915" y="2775585"/>
            <a:ext cx="5900420" cy="2265680"/>
          </a:xfrm>
          <a:prstGeom prst="flowChartManualInput">
            <a:avLst/>
          </a:prstGeom>
          <a:gradFill>
            <a:gsLst>
              <a:gs pos="56000">
                <a:schemeClr val="bg1">
                  <a:alpha val="29000"/>
                </a:schemeClr>
              </a:gs>
              <a:gs pos="0">
                <a:srgbClr val="DB6209">
                  <a:alpha val="43000"/>
                </a:srgbClr>
              </a:gs>
            </a:gsLst>
            <a:lin ang="1488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6761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468439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120" y="172085"/>
            <a:ext cx="1625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3190" y="102870"/>
            <a:ext cx="293560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项目背景</a:t>
            </a:r>
            <a:endParaRPr lang="zh-CN" altLang="en-US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1175" y="958215"/>
            <a:ext cx="10871835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 spc="120">
                <a:solidFill>
                  <a:schemeClr val="tx1"/>
                </a:solidFill>
                <a:uFillTx/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每一位游客都经历过</a:t>
            </a:r>
            <a:r>
              <a:rPr lang="en-US" altLang="zh-CN" sz="2400" b="1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</a:t>
            </a:r>
            <a:r>
              <a:rPr lang="zh-CN" altLang="en-US" sz="2400" b="1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——</a:t>
            </a:r>
            <a:r>
              <a:rPr lang="en-US" altLang="zh-CN" sz="2400" b="1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</a:t>
            </a:r>
            <a:r>
              <a:rPr lang="zh-CN" altLang="en-US" sz="2400" b="1" spc="12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在景区</a:t>
            </a:r>
            <a:r>
              <a:rPr lang="zh-CN" altLang="en-US" sz="2800" b="1" spc="120">
                <a:solidFill>
                  <a:srgbClr val="C00000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</a:rPr>
              <a:t>找</a:t>
            </a:r>
            <a:r>
              <a:rPr lang="zh-CN" altLang="en-US" sz="2800" b="1" spc="120">
                <a:solidFill>
                  <a:srgbClr val="C00000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</a:rPr>
              <a:t>不到</a:t>
            </a:r>
            <a:r>
              <a:rPr lang="zh-CN" altLang="en-US" sz="2400" b="1" spc="12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黑体" panose="02010609060101010101" charset="-122"/>
              </a:rPr>
              <a:t>路</a:t>
            </a:r>
            <a:r>
              <a:rPr lang="zh-CN" altLang="en-US" sz="2800" b="1" spc="12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zh-CN" altLang="en-US" sz="2800" b="1" spc="120">
                <a:solidFill>
                  <a:srgbClr val="C00000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</a:rPr>
              <a:t>问不清</a:t>
            </a:r>
            <a:r>
              <a:rPr lang="zh-CN" altLang="en-US" sz="2400" b="1" spc="12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黑体" panose="02010609060101010101" charset="-122"/>
              </a:rPr>
              <a:t>信息</a:t>
            </a:r>
            <a:r>
              <a:rPr lang="zh-CN" altLang="en-US" sz="2800" b="1" spc="12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zh-CN" altLang="en-US" sz="2800" b="1" spc="120">
                <a:solidFill>
                  <a:srgbClr val="C00000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</a:rPr>
              <a:t>走不通</a:t>
            </a:r>
            <a:r>
              <a:rPr lang="zh-CN" altLang="en-US" sz="2400" b="1" spc="12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黑体" panose="02010609060101010101" charset="-122"/>
              </a:rPr>
              <a:t>路线</a:t>
            </a:r>
            <a:endParaRPr lang="zh-CN" altLang="en-US" sz="2800" b="1" spc="120">
              <a:latin typeface="方正粗黑宋简体" panose="02000000000000000000" charset="-122"/>
              <a:ea typeface="方正粗黑宋简体" panose="02000000000000000000" charset="-122"/>
              <a:cs typeface="黑体" panose="02010609060101010101" charset="-122"/>
            </a:endParaRPr>
          </a:p>
          <a:p>
            <a:pPr algn="l"/>
            <a:endParaRPr lang="zh-CN" altLang="en-US" sz="2800" b="1" spc="120" dirty="0">
              <a:solidFill>
                <a:srgbClr val="6E492B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方正粗黑宋简体" panose="02000000000000000000" charset="-122"/>
              <a:ea typeface="方正粗黑宋简体" panose="02000000000000000000" charset="-122"/>
              <a:cs typeface="黑体" panose="02010609060101010101" charset="-122"/>
            </a:endParaRPr>
          </a:p>
        </p:txBody>
      </p:sp>
      <p:pic>
        <p:nvPicPr>
          <p:cNvPr id="42" name="图片 41" hidden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30605"/>
            <a:ext cx="12515215" cy="6584950"/>
          </a:xfrm>
          <a:prstGeom prst="rect">
            <a:avLst/>
          </a:prstGeom>
        </p:spPr>
      </p:pic>
      <p:sp>
        <p:nvSpPr>
          <p:cNvPr id="2" name="Rounded Rectangle 23"/>
          <p:cNvSpPr/>
          <p:nvPr/>
        </p:nvSpPr>
        <p:spPr>
          <a:xfrm>
            <a:off x="5346700" y="4928870"/>
            <a:ext cx="5604510" cy="1362710"/>
          </a:xfrm>
          <a:prstGeom prst="roundRect">
            <a:avLst>
              <a:gd name="adj" fmla="val 28098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29"/>
          <p:cNvSpPr txBox="1"/>
          <p:nvPr/>
        </p:nvSpPr>
        <p:spPr>
          <a:xfrm>
            <a:off x="5701030" y="5027295"/>
            <a:ext cx="4152265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大景区30+个景点，不知道从哪开始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官方推荐路线千篇一律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不知道哪条路线适合我的时间和体力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错过想看的景点才发现</a:t>
            </a:r>
            <a:endParaRPr sz="1600" dirty="0" err="1">
              <a:solidFill>
                <a:schemeClr val="tx1"/>
              </a:solidFill>
            </a:endParaRPr>
          </a:p>
        </p:txBody>
      </p:sp>
      <p:sp>
        <p:nvSpPr>
          <p:cNvPr id="13" name="Rounded Rectangle 9"/>
          <p:cNvSpPr/>
          <p:nvPr/>
        </p:nvSpPr>
        <p:spPr>
          <a:xfrm>
            <a:off x="5232400" y="1652905"/>
            <a:ext cx="5739765" cy="1325245"/>
          </a:xfrm>
          <a:prstGeom prst="roundRect">
            <a:avLst>
              <a:gd name="adj" fmla="val 31624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5"/>
          <p:cNvSpPr txBox="1"/>
          <p:nvPr/>
        </p:nvSpPr>
        <p:spPr>
          <a:xfrm>
            <a:off x="5578475" y="1739265"/>
            <a:ext cx="389128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景区信息分散在十几个平台</a:t>
            </a:r>
            <a:endParaRPr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查门票要一个APP，查路线要另一个</a:t>
            </a:r>
            <a:endParaRPr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到了景区反而'信息断联</a:t>
            </a:r>
            <a:r>
              <a:rPr sz="1600" dirty="0">
                <a:solidFill>
                  <a:schemeClr val="tx1"/>
                </a:solidFill>
              </a:rPr>
              <a:t>'</a:t>
            </a:r>
            <a:endParaRPr sz="16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老年人更无从下手</a:t>
            </a:r>
            <a:endParaRPr sz="1600" dirty="0" err="1">
              <a:solidFill>
                <a:schemeClr val="tx1"/>
              </a:solidFill>
            </a:endParaRPr>
          </a:p>
        </p:txBody>
      </p:sp>
      <p:sp>
        <p:nvSpPr>
          <p:cNvPr id="20" name="Rounded Rectangle 16"/>
          <p:cNvSpPr/>
          <p:nvPr/>
        </p:nvSpPr>
        <p:spPr>
          <a:xfrm>
            <a:off x="5624195" y="3282950"/>
            <a:ext cx="5671820" cy="1289685"/>
          </a:xfrm>
          <a:prstGeom prst="roundRect">
            <a:avLst>
              <a:gd name="adj" fmla="val 31708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2"/>
          <p:cNvSpPr txBox="1"/>
          <p:nvPr/>
        </p:nvSpPr>
        <p:spPr>
          <a:xfrm>
            <a:off x="5979795" y="3351530"/>
            <a:ext cx="497205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人工导游300元/次，旺季难约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电子讲解器内容固定、千人一面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我是佛教文化爱好者，他却在讲自然风光</a:t>
            </a:r>
            <a:endParaRPr sz="1600" dirty="0" err="1">
              <a:solidFill>
                <a:schemeClr val="tx1"/>
              </a:solidFill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u"/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600" dirty="0" err="1">
                <a:solidFill>
                  <a:schemeClr val="tx1"/>
                </a:solidFill>
              </a:rPr>
              <a:t>不会回答即兴问题</a:t>
            </a:r>
            <a:endParaRPr sz="1600" dirty="0" err="1">
              <a:solidFill>
                <a:schemeClr val="tx1"/>
              </a:solidFill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flipH="1">
            <a:off x="-77470" y="2694305"/>
            <a:ext cx="2413000" cy="3524885"/>
          </a:xfrm>
          <a:prstGeom prst="rect">
            <a:avLst/>
          </a:prstGeom>
        </p:spPr>
      </p:pic>
      <p:grpSp>
        <p:nvGrpSpPr>
          <p:cNvPr id="62" name="组合 61"/>
          <p:cNvGrpSpPr/>
          <p:nvPr/>
        </p:nvGrpSpPr>
        <p:grpSpPr>
          <a:xfrm rot="21420000">
            <a:off x="2200275" y="2766695"/>
            <a:ext cx="1001395" cy="2235835"/>
            <a:chOff x="3118" y="2947"/>
            <a:chExt cx="2502" cy="5968"/>
          </a:xfrm>
        </p:grpSpPr>
        <p:sp>
          <p:nvSpPr>
            <p:cNvPr id="55" name="任意多边形 54"/>
            <p:cNvSpPr/>
            <p:nvPr/>
          </p:nvSpPr>
          <p:spPr>
            <a:xfrm>
              <a:off x="3170" y="3144"/>
              <a:ext cx="1935" cy="245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35" h="2457">
                  <a:moveTo>
                    <a:pt x="0" y="0"/>
                  </a:moveTo>
                  <a:lnTo>
                    <a:pt x="22" y="8"/>
                  </a:lnTo>
                  <a:cubicBezTo>
                    <a:pt x="1043" y="382"/>
                    <a:pt x="1798" y="1305"/>
                    <a:pt x="1931" y="2419"/>
                  </a:cubicBezTo>
                  <a:lnTo>
                    <a:pt x="1935" y="2457"/>
                  </a:lnTo>
                  <a:lnTo>
                    <a:pt x="1846" y="2457"/>
                  </a:lnTo>
                  <a:lnTo>
                    <a:pt x="1844" y="2433"/>
                  </a:lnTo>
                  <a:cubicBezTo>
                    <a:pt x="1717" y="1363"/>
                    <a:pt x="999" y="474"/>
                    <a:pt x="24" y="103"/>
                  </a:cubicBezTo>
                  <a:lnTo>
                    <a:pt x="0" y="9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D6B784"/>
                </a:gs>
                <a:gs pos="50000">
                  <a:srgbClr val="E2AC7A">
                    <a:alpha val="100000"/>
                  </a:srgbClr>
                </a:gs>
                <a:gs pos="0">
                  <a:srgbClr val="A3683D"/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3445" y="6228"/>
              <a:ext cx="1661" cy="245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35" h="2457">
                  <a:moveTo>
                    <a:pt x="1846" y="0"/>
                  </a:moveTo>
                  <a:lnTo>
                    <a:pt x="1935" y="0"/>
                  </a:lnTo>
                  <a:lnTo>
                    <a:pt x="1931" y="38"/>
                  </a:lnTo>
                  <a:cubicBezTo>
                    <a:pt x="1798" y="1152"/>
                    <a:pt x="1043" y="2075"/>
                    <a:pt x="22" y="2449"/>
                  </a:cubicBezTo>
                  <a:lnTo>
                    <a:pt x="0" y="2457"/>
                  </a:lnTo>
                  <a:lnTo>
                    <a:pt x="0" y="2363"/>
                  </a:lnTo>
                  <a:lnTo>
                    <a:pt x="24" y="2354"/>
                  </a:lnTo>
                  <a:cubicBezTo>
                    <a:pt x="999" y="1983"/>
                    <a:pt x="1717" y="1094"/>
                    <a:pt x="1844" y="24"/>
                  </a:cubicBezTo>
                  <a:lnTo>
                    <a:pt x="1846" y="0"/>
                  </a:lnTo>
                  <a:close/>
                </a:path>
              </a:pathLst>
            </a:custGeom>
            <a:gradFill>
              <a:gsLst>
                <a:gs pos="50000">
                  <a:srgbClr val="E2AC7A"/>
                </a:gs>
                <a:gs pos="0">
                  <a:srgbClr val="D6B784"/>
                </a:gs>
                <a:gs pos="100000">
                  <a:srgbClr val="A3683D"/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784D30">
                  <a:tint val="45000"/>
                  <a:satMod val="400000"/>
                </a:srgbClr>
              </a:duotone>
              <a:lum bright="-18000" contrast="48000"/>
            </a:blip>
            <a:stretch>
              <a:fillRect/>
            </a:stretch>
          </p:blipFill>
          <p:spPr>
            <a:xfrm>
              <a:off x="4528" y="5376"/>
              <a:ext cx="1092" cy="1092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784D30">
                  <a:tint val="45000"/>
                  <a:satMod val="400000"/>
                </a:srgbClr>
              </a:duotone>
              <a:lum bright="-18000" contrast="48000"/>
            </a:blip>
            <a:stretch>
              <a:fillRect/>
            </a:stretch>
          </p:blipFill>
          <p:spPr>
            <a:xfrm>
              <a:off x="3118" y="2947"/>
              <a:ext cx="1092" cy="1092"/>
            </a:xfrm>
            <a:prstGeom prst="rect">
              <a:avLst/>
            </a:prstGeom>
          </p:spPr>
        </p:pic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rgbClr val="784D30">
                  <a:tint val="45000"/>
                  <a:satMod val="400000"/>
                </a:srgbClr>
              </a:duotone>
              <a:lum bright="-18000" contrast="48000"/>
            </a:blip>
            <a:stretch>
              <a:fillRect/>
            </a:stretch>
          </p:blipFill>
          <p:spPr>
            <a:xfrm>
              <a:off x="3118" y="7823"/>
              <a:ext cx="1092" cy="1092"/>
            </a:xfrm>
            <a:prstGeom prst="rect">
              <a:avLst/>
            </a:prstGeom>
          </p:spPr>
        </p:pic>
      </p:grpSp>
      <p:pic>
        <p:nvPicPr>
          <p:cNvPr id="73" name="图片 72"/>
          <p:cNvPicPr>
            <a:picLocks noChangeAspect="1"/>
          </p:cNvPicPr>
          <p:nvPr/>
        </p:nvPicPr>
        <p:blipFill>
          <a:blip r:embed="rId8">
            <a:alphaModFix amt="73000"/>
          </a:blip>
          <a:stretch>
            <a:fillRect/>
          </a:stretch>
        </p:blipFill>
        <p:spPr>
          <a:xfrm>
            <a:off x="1104265" y="2694940"/>
            <a:ext cx="1306830" cy="1276985"/>
          </a:xfrm>
          <a:prstGeom prst="rect">
            <a:avLst/>
          </a:prstGeom>
        </p:spPr>
      </p:pic>
      <p:sp>
        <p:nvSpPr>
          <p:cNvPr id="82" name="Rounded Rectangle 9"/>
          <p:cNvSpPr/>
          <p:nvPr/>
        </p:nvSpPr>
        <p:spPr>
          <a:xfrm>
            <a:off x="3204845" y="3552190"/>
            <a:ext cx="2153285" cy="583565"/>
          </a:xfrm>
          <a:prstGeom prst="roundRect">
            <a:avLst>
              <a:gd name="adj" fmla="val 35072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  <a:gs pos="8000">
                <a:schemeClr val="bg1">
                  <a:lumMod val="95000"/>
                </a:schemeClr>
              </a:gs>
              <a:gs pos="56000">
                <a:schemeClr val="bg1">
                  <a:alpha val="64000"/>
                </a:schemeClr>
              </a:gs>
            </a:gsLst>
            <a:lin ang="16200000" scaled="0"/>
          </a:gra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12"/>
          <p:cNvSpPr txBox="1"/>
          <p:nvPr/>
        </p:nvSpPr>
        <p:spPr>
          <a:xfrm>
            <a:off x="3262630" y="3560445"/>
            <a:ext cx="201549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2800" dirty="0" err="1"/>
              <a:t>问不清</a:t>
            </a:r>
            <a:endParaRPr sz="2800" dirty="0" err="1"/>
          </a:p>
        </p:txBody>
      </p:sp>
      <p:sp>
        <p:nvSpPr>
          <p:cNvPr id="85" name="Rounded Rectangle 9"/>
          <p:cNvSpPr/>
          <p:nvPr/>
        </p:nvSpPr>
        <p:spPr>
          <a:xfrm>
            <a:off x="2890520" y="4648835"/>
            <a:ext cx="2153285" cy="583565"/>
          </a:xfrm>
          <a:prstGeom prst="roundRect">
            <a:avLst>
              <a:gd name="adj" fmla="val 35072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  <a:gs pos="8000">
                <a:schemeClr val="bg1">
                  <a:lumMod val="95000"/>
                </a:schemeClr>
              </a:gs>
              <a:gs pos="56000">
                <a:schemeClr val="bg1">
                  <a:alpha val="64000"/>
                </a:schemeClr>
              </a:gs>
            </a:gsLst>
            <a:lin ang="16200000" scaled="0"/>
          </a:gra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12"/>
          <p:cNvSpPr txBox="1"/>
          <p:nvPr/>
        </p:nvSpPr>
        <p:spPr>
          <a:xfrm>
            <a:off x="2948305" y="4671060"/>
            <a:ext cx="2015490" cy="5308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2800" dirty="0" err="1"/>
              <a:t>走不通</a:t>
            </a:r>
            <a:endParaRPr sz="2800" dirty="0" err="1"/>
          </a:p>
        </p:txBody>
      </p:sp>
      <p:sp>
        <p:nvSpPr>
          <p:cNvPr id="16" name="TextBox 13"/>
          <p:cNvSpPr txBox="1"/>
          <p:nvPr/>
        </p:nvSpPr>
        <p:spPr>
          <a:xfrm>
            <a:off x="10454005" y="1448435"/>
            <a:ext cx="1062355" cy="1680210"/>
          </a:xfrm>
          <a:prstGeom prst="rect">
            <a:avLst/>
          </a:prstGeom>
          <a:noFill/>
        </p:spPr>
        <p:txBody>
          <a:bodyPr vert="mongolianVert" wrap="square">
            <a:no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sz="2800" dirty="0" err="1">
                <a:solidFill>
                  <a:srgbClr val="C00000"/>
                </a:solidFill>
                <a:latin typeface="潮字社混元简繁" panose="02020300000000000000" charset="-122"/>
                <a:ea typeface="潮字社混元简繁" panose="02020300000000000000" charset="-122"/>
              </a:rPr>
              <a:t>信息碎片化严重</a:t>
            </a:r>
            <a:endParaRPr sz="2800" dirty="0" err="1">
              <a:solidFill>
                <a:srgbClr val="C00000"/>
              </a:solidFill>
              <a:latin typeface="潮字社混元简繁" panose="02020300000000000000" charset="-122"/>
              <a:ea typeface="潮字社混元简繁" panose="02020300000000000000" charset="-122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10608945" y="2694940"/>
            <a:ext cx="907415" cy="2355215"/>
          </a:xfrm>
          <a:prstGeom prst="rect">
            <a:avLst/>
          </a:prstGeom>
          <a:noFill/>
        </p:spPr>
        <p:txBody>
          <a:bodyPr vert="mongolianVert" wrap="square">
            <a:no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sz="2800" dirty="0" err="1">
                <a:solidFill>
                  <a:srgbClr val="C00000"/>
                </a:solidFill>
                <a:latin typeface="潮字社混元简繁" panose="02020300000000000000" charset="-122"/>
                <a:ea typeface="潮字社混元简繁" panose="02020300000000000000" charset="-122"/>
              </a:rPr>
              <a:t>服务</a:t>
            </a:r>
            <a:endParaRPr sz="2800" dirty="0" err="1">
              <a:solidFill>
                <a:srgbClr val="C00000"/>
              </a:solidFill>
              <a:latin typeface="潮字社混元简繁" panose="02020300000000000000" charset="-122"/>
              <a:ea typeface="潮字社混元简繁" panose="02020300000000000000" charset="-122"/>
            </a:endParaRPr>
          </a:p>
          <a:p>
            <a:pPr algn="ctr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sz="2800" dirty="0" err="1">
                <a:solidFill>
                  <a:srgbClr val="C00000"/>
                </a:solidFill>
                <a:latin typeface="潮字社混元简繁" panose="02020300000000000000" charset="-122"/>
                <a:ea typeface="潮字社混元简繁" panose="02020300000000000000" charset="-122"/>
              </a:rPr>
              <a:t>千人一面</a:t>
            </a:r>
            <a:endParaRPr sz="2800" dirty="0" err="1">
              <a:solidFill>
                <a:srgbClr val="C00000"/>
              </a:solidFill>
              <a:latin typeface="潮字社混元简繁" panose="02020300000000000000" charset="-122"/>
              <a:ea typeface="潮字社混元简繁" panose="02020300000000000000" charset="-122"/>
            </a:endParaRPr>
          </a:p>
        </p:txBody>
      </p:sp>
      <p:sp>
        <p:nvSpPr>
          <p:cNvPr id="9" name="TextBox 27"/>
          <p:cNvSpPr txBox="1"/>
          <p:nvPr/>
        </p:nvSpPr>
        <p:spPr>
          <a:xfrm>
            <a:off x="10377805" y="5156835"/>
            <a:ext cx="772160" cy="1362075"/>
          </a:xfrm>
          <a:prstGeom prst="rect">
            <a:avLst/>
          </a:prstGeom>
          <a:noFill/>
        </p:spPr>
        <p:txBody>
          <a:bodyPr vert="mongolianVert" wrap="square">
            <a:no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sz="2800" spc="120" dirty="0" err="1">
                <a:solidFill>
                  <a:srgbClr val="C00000"/>
                </a:solidFill>
                <a:uFillTx/>
                <a:latin typeface="潮字社混元简繁" panose="02020300000000000000" charset="-122"/>
                <a:ea typeface="潮字社混元简繁" panose="02020300000000000000" charset="-122"/>
              </a:rPr>
              <a:t>游览路线盲目</a:t>
            </a:r>
            <a:endParaRPr sz="2800" spc="120" dirty="0" err="1">
              <a:solidFill>
                <a:srgbClr val="C00000"/>
              </a:solidFill>
              <a:uFillTx/>
              <a:latin typeface="潮字社混元简繁" panose="02020300000000000000" charset="-122"/>
              <a:ea typeface="潮字社混元简繁" panose="02020300000000000000" charset="-122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2810510" y="2463165"/>
            <a:ext cx="2153285" cy="583565"/>
          </a:xfrm>
          <a:prstGeom prst="roundRect">
            <a:avLst>
              <a:gd name="adj" fmla="val 35072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  <a:gs pos="8000">
                <a:schemeClr val="bg1">
                  <a:lumMod val="95000"/>
                </a:schemeClr>
              </a:gs>
              <a:gs pos="56000">
                <a:schemeClr val="bg1">
                  <a:alpha val="64000"/>
                </a:schemeClr>
              </a:gs>
            </a:gsLst>
            <a:lin ang="16200000" scaled="0"/>
          </a:gra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文本框 89"/>
          <p:cNvSpPr txBox="1"/>
          <p:nvPr/>
        </p:nvSpPr>
        <p:spPr>
          <a:xfrm>
            <a:off x="3249930" y="2486025"/>
            <a:ext cx="162306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2800" b="1" dirty="0" err="1">
                <a:solidFill>
                  <a:srgbClr val="1A1A2E"/>
                </a:solidFill>
              </a:rPr>
              <a:t>找不到</a:t>
            </a:r>
            <a:endParaRPr sz="2800" b="1" dirty="0" err="1">
              <a:solidFill>
                <a:srgbClr val="1A1A2E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4371975" y="1196340"/>
            <a:ext cx="2595245" cy="16643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62230" y="5781040"/>
            <a:ext cx="12348845" cy="13354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761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468439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9255" y="364490"/>
            <a:ext cx="1974215" cy="1974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120" y="172085"/>
            <a:ext cx="1625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3190" y="102870"/>
            <a:ext cx="293560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行业痛点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262255" y="2397125"/>
            <a:ext cx="5142230" cy="31515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73990" y="1030605"/>
            <a:ext cx="11823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6E492B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汉仪元隆黑-105W" panose="00020600040101010101" charset="-122"/>
                <a:ea typeface="汉仪元隆黑-105W" panose="00020600040101010101" charset="-122"/>
              </a:rPr>
              <a:t>文旅导览迈入生成式人工智能新阶段，时空可信决策能力仍属短板</a:t>
            </a:r>
            <a:endParaRPr lang="zh-CN" altLang="en-US" sz="2800" dirty="0">
              <a:solidFill>
                <a:srgbClr val="6E492B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汉仪元隆黑-105W" panose="00020600040101010101" charset="-122"/>
              <a:ea typeface="汉仪元隆黑-105W" panose="0002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2890" y="3029585"/>
            <a:ext cx="5142230" cy="2419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fontAlgn="auto"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讲解资源不足、信息更新滞后，难以满足游客</a:t>
            </a:r>
            <a:r>
              <a:rPr lang="zh-CN" altLang="en-US" sz="2200" b="1" spc="12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个性化与深度体验需求</a:t>
            </a:r>
            <a:endParaRPr lang="zh-CN" altLang="en-US" sz="2000" b="1" spc="120">
              <a:solidFill>
                <a:srgbClr val="573823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fontAlgn="auto"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现有方案如通用 </a:t>
            </a:r>
            <a:r>
              <a:rPr lang="en-US" altLang="zh-CN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RAG </a:t>
            </a: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、商用大模型 </a:t>
            </a:r>
            <a:r>
              <a:rPr lang="en-US" altLang="zh-CN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API</a:t>
            </a: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等仅擅长</a:t>
            </a:r>
            <a:r>
              <a:rPr lang="zh-CN" altLang="en-US" sz="2200" b="1" spc="12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静态、单点、无时空约束</a:t>
            </a: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的文化百科问答</a:t>
            </a:r>
            <a:endParaRPr lang="zh-CN" altLang="en-US" b="1" spc="12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fontAlgn="auto"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一旦面对现场复合型行程规划任务，频繁输出</a:t>
            </a:r>
            <a:r>
              <a:rPr lang="zh-CN" altLang="en-US" b="1" spc="120">
                <a:solidFill>
                  <a:srgbClr val="573823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200" b="1" spc="120">
                <a:solidFill>
                  <a:srgbClr val="C00000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"过时、越权、不可行"</a:t>
            </a:r>
            <a:r>
              <a:rPr lang="zh-CN" altLang="en-US" b="1" spc="120">
                <a:solidFill>
                  <a:srgbClr val="573823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的路线</a:t>
            </a:r>
            <a:endParaRPr lang="zh-CN" altLang="en-US" b="1" spc="12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142490" y="192405"/>
            <a:ext cx="1358900" cy="3896995"/>
          </a:xfrm>
          <a:prstGeom prst="rect">
            <a:avLst/>
          </a:prstGeom>
        </p:spPr>
      </p:pic>
      <p:pic>
        <p:nvPicPr>
          <p:cNvPr id="42" name="图片 41" hidden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30605"/>
            <a:ext cx="12515215" cy="658495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5110" y="761365"/>
            <a:ext cx="2838450" cy="379603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584960" y="1807845"/>
            <a:ext cx="3338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字魂逍遥行书" panose="00000500000000000000" charset="-122"/>
                <a:ea typeface="字魂逍遥行书" panose="00000500000000000000" charset="-122"/>
                <a:sym typeface="+mn-ea"/>
              </a:rPr>
              <a:t>场景应用维度</a:t>
            </a:r>
            <a:endParaRPr lang="zh-CN" altLang="en-US" sz="3600" b="1">
              <a:latin typeface="字魂逍遥行书" panose="00000500000000000000" charset="-122"/>
              <a:ea typeface="字魂逍遥行书" panose="00000500000000000000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581140" y="1461135"/>
            <a:ext cx="3977640" cy="1358900"/>
            <a:chOff x="10332" y="2301"/>
            <a:chExt cx="6264" cy="2140"/>
          </a:xfrm>
        </p:grpSpPr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11815" y="818"/>
              <a:ext cx="2140" cy="5106"/>
            </a:xfrm>
            <a:prstGeom prst="rect">
              <a:avLst/>
            </a:prstGeom>
          </p:spPr>
        </p:pic>
        <p:sp>
          <p:nvSpPr>
            <p:cNvPr id="48" name="文本框 47"/>
            <p:cNvSpPr txBox="1"/>
            <p:nvPr/>
          </p:nvSpPr>
          <p:spPr>
            <a:xfrm>
              <a:off x="10940" y="2847"/>
              <a:ext cx="565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>
                  <a:latin typeface="字魂逍遥行书" panose="00000500000000000000" charset="-122"/>
                  <a:ea typeface="字魂逍遥行书" panose="00000500000000000000" charset="-122"/>
                  <a:sym typeface="+mn-ea"/>
                </a:rPr>
                <a:t>AI 技术维度</a:t>
              </a:r>
              <a:endParaRPr lang="zh-CN" altLang="en-US" sz="3600" b="1">
                <a:latin typeface="字魂逍遥行书" panose="00000500000000000000" charset="-122"/>
                <a:ea typeface="字魂逍遥行书" panose="00000500000000000000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9906000" y="1896110"/>
            <a:ext cx="1550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致命痛点</a:t>
            </a:r>
            <a:endParaRPr lang="zh-CN" altLang="en-US" sz="2400" b="1" i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479405" y="2338705"/>
            <a:ext cx="2068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技术本质</a:t>
            </a:r>
            <a:endParaRPr lang="zh-CN" altLang="en-US" sz="2400" b="1" i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083300" y="2809240"/>
            <a:ext cx="7023735" cy="2595245"/>
            <a:chOff x="9420" y="4713"/>
            <a:chExt cx="11061" cy="4087"/>
          </a:xfrm>
        </p:grpSpPr>
        <p:sp>
          <p:nvSpPr>
            <p:cNvPr id="22" name="文本框 21"/>
            <p:cNvSpPr txBox="1"/>
            <p:nvPr/>
          </p:nvSpPr>
          <p:spPr>
            <a:xfrm>
              <a:off x="10013" y="6159"/>
              <a:ext cx="9187" cy="6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文道潮黑体" panose="02010600040101010101" charset="-122"/>
                  <a:ea typeface="文道潮黑体" panose="02010600040101010101" charset="-122"/>
                  <a:cs typeface="文道潮黑体" panose="02010600040101010101" charset="-122"/>
                </a:rPr>
                <a:t>物理常识盲区</a:t>
              </a:r>
              <a:r>
                <a:rPr lang="zh-CN" altLang="en-US" sz="2000">
                  <a:solidFill>
                    <a:srgbClr val="C00000"/>
                  </a:solidFill>
                  <a:latin typeface="文道潮黑体" panose="02010600040101010101" charset="-122"/>
                  <a:ea typeface="文道潮黑体" panose="02010600040101010101" charset="-122"/>
                  <a:cs typeface="文道潮黑体" panose="02010600040101010101" charset="-122"/>
                </a:rPr>
                <a:t> </a:t>
              </a:r>
              <a:endParaRPr lang="en-US" altLang="zh-CN" sz="1600" i="1">
                <a:solidFill>
                  <a:srgbClr val="C00000"/>
                </a:solidFill>
              </a:endParaRPr>
            </a:p>
            <a:p>
              <a:endParaRPr lang="en-US" altLang="zh-CN" sz="1600" i="1">
                <a:solidFill>
                  <a:srgbClr val="C00000"/>
                </a:solidFill>
              </a:endParaRPr>
            </a:p>
          </p:txBody>
        </p: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20" y="4761"/>
              <a:ext cx="593" cy="593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10072" y="8220"/>
              <a:ext cx="962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spc="120">
                  <a:solidFill>
                    <a:schemeClr val="tx1"/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基于词元概率自回归生成，无守恒真值校验</a:t>
              </a:r>
              <a:endPara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9967" y="4713"/>
              <a:ext cx="809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文道潮黑体" panose="02010600040101010101" charset="-122"/>
                  <a:ea typeface="文道潮黑体" panose="02010600040101010101" charset="-122"/>
                  <a:sym typeface="+mn-ea"/>
                </a:rPr>
                <a:t>事实性幻觉</a:t>
              </a:r>
              <a:r>
                <a:rPr lang="zh-CN" altLang="en-US" i="1">
                  <a:solidFill>
                    <a:srgbClr val="C00000"/>
                  </a:solidFill>
                  <a:sym typeface="+mn-ea"/>
                </a:rPr>
                <a:t> </a:t>
              </a:r>
              <a:endParaRPr lang="en-US" altLang="zh-CN" sz="1600" i="1">
                <a:solidFill>
                  <a:srgbClr val="C00000"/>
                </a:solidFill>
              </a:endParaRPr>
            </a:p>
            <a:p>
              <a:endParaRPr lang="en-US" altLang="zh-CN" sz="1600" i="1">
                <a:solidFill>
                  <a:srgbClr val="C00000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013" y="7587"/>
              <a:ext cx="8616" cy="6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>
                  <a:solidFill>
                    <a:srgbClr val="C00000"/>
                  </a:solidFill>
                  <a:latin typeface="文道潮黑体" panose="02010600040101010101" charset="-122"/>
                  <a:ea typeface="文道潮黑体" panose="02010600040101010101" charset="-122"/>
                  <a:sym typeface="+mn-ea"/>
                </a:rPr>
                <a:t>时效冲突</a:t>
              </a:r>
              <a:r>
                <a:rPr lang="zh-CN" altLang="en-US">
                  <a:sym typeface="+mn-ea"/>
                </a:rPr>
                <a:t> </a:t>
              </a:r>
              <a:endParaRPr lang="en-US" altLang="zh-CN" sz="1600" i="1">
                <a:solidFill>
                  <a:srgbClr val="573823"/>
                </a:solidFill>
              </a:endParaRPr>
            </a:p>
            <a:p>
              <a:endParaRPr lang="en-US" altLang="zh-CN" sz="1600" i="1">
                <a:solidFill>
                  <a:srgbClr val="573823"/>
                </a:solidFill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20" y="6228"/>
              <a:ext cx="593" cy="593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20" y="7695"/>
              <a:ext cx="593" cy="593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9967" y="5349"/>
              <a:ext cx="8988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 spc="120">
                  <a:solidFill>
                    <a:schemeClr val="tx1"/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大模型对坡度、台阶、轮椅可达性无真实认知</a:t>
              </a:r>
              <a:endPara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endParaRPr lang="zh-CN" altLang="en-US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9972" y="6817"/>
              <a:ext cx="10509" cy="65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120">
                  <a:solidFill>
                    <a:schemeClr val="tx1"/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只知演出开场时间，不知步行距离、安检排队、提前占座</a:t>
              </a:r>
              <a:endParaRPr lang="zh-CN" altLang="en-US" sz="1600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endParaRPr lang="zh-CN" altLang="en-US" sz="1600" b="1" spc="12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600075" y="5922010"/>
            <a:ext cx="110883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gradFill>
                  <a:gsLst>
                    <a:gs pos="50410">
                      <a:srgbClr val="FB9B36"/>
                    </a:gs>
                    <a:gs pos="0">
                      <a:srgbClr val="FE564D"/>
                    </a:gs>
                    <a:gs pos="100000">
                      <a:srgbClr val="F9CA26"/>
                    </a:gs>
                  </a:gsLst>
                  <a:lin ang="5400000" scaled="1"/>
                </a:gra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从 "回答事实" 升级为 "辅助游览决策"—— 需要在物理与时空双重约束下，给出</a:t>
            </a:r>
            <a:r>
              <a:rPr lang="zh-CN" altLang="en-US" sz="3200" b="1">
                <a:gradFill>
                  <a:gsLst>
                    <a:gs pos="50410">
                      <a:srgbClr val="FB9B36"/>
                    </a:gs>
                    <a:gs pos="0">
                      <a:srgbClr val="FE564D"/>
                    </a:gs>
                    <a:gs pos="100000">
                      <a:srgbClr val="F9CA26"/>
                    </a:gs>
                  </a:gsLst>
                  <a:lin ang="5400000" scaled="1"/>
                </a:gra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可执行、可核验、可拒绝</a:t>
            </a:r>
            <a:r>
              <a:rPr lang="zh-CN" altLang="en-US" sz="2400" b="1">
                <a:gradFill>
                  <a:gsLst>
                    <a:gs pos="50410">
                      <a:srgbClr val="FB9B36"/>
                    </a:gs>
                    <a:gs pos="0">
                      <a:srgbClr val="FE564D"/>
                    </a:gs>
                    <a:gs pos="100000">
                      <a:srgbClr val="F9CA26"/>
                    </a:gs>
                  </a:gsLst>
                  <a:lin ang="5400000" scaled="1"/>
                </a:gra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的路线方案。</a:t>
            </a:r>
            <a:endParaRPr lang="zh-CN" altLang="en-US" sz="2400" b="1">
              <a:gradFill>
                <a:gsLst>
                  <a:gs pos="50410">
                    <a:srgbClr val="FB9B36"/>
                  </a:gs>
                  <a:gs pos="0">
                    <a:srgbClr val="FE564D"/>
                  </a:gs>
                  <a:gs pos="100000">
                    <a:srgbClr val="F9CA26"/>
                  </a:gs>
                </a:gsLst>
                <a:lin ang="5400000" scaled="1"/>
              </a:gra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任意多边形: 形状 72"/>
          <p:cNvSpPr/>
          <p:nvPr/>
        </p:nvSpPr>
        <p:spPr>
          <a:xfrm>
            <a:off x="214628" y="3539491"/>
            <a:ext cx="5661338" cy="1051560"/>
          </a:xfrm>
          <a:custGeom>
            <a:avLst/>
            <a:gdLst>
              <a:gd name="csX0" fmla="*/ 0 w 5638568"/>
              <a:gd name="csY0" fmla="*/ 0 h 1051560"/>
              <a:gd name="csX1" fmla="*/ 5638568 w 5638568"/>
              <a:gd name="csY1" fmla="*/ 0 h 1051560"/>
              <a:gd name="csX2" fmla="*/ 5611017 w 5638568"/>
              <a:gd name="csY2" fmla="*/ 210258 h 1051560"/>
              <a:gd name="csX3" fmla="*/ 5584319 w 5638568"/>
              <a:gd name="csY3" fmla="*/ 708396 h 1051560"/>
              <a:gd name="csX4" fmla="*/ 5585656 w 5638568"/>
              <a:gd name="csY4" fmla="*/ 1048855 h 1051560"/>
              <a:gd name="csX5" fmla="*/ 0 w 5638568"/>
              <a:gd name="csY5" fmla="*/ 1051560 h 1051560"/>
              <a:gd name="csX6" fmla="*/ 0 w 5638568"/>
              <a:gd name="csY6" fmla="*/ 0 h 1051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38568" h="1051560">
                <a:moveTo>
                  <a:pt x="0" y="0"/>
                </a:moveTo>
                <a:lnTo>
                  <a:pt x="5638568" y="0"/>
                </a:lnTo>
                <a:cubicBezTo>
                  <a:pt x="5629384" y="70086"/>
                  <a:pt x="5620058" y="92192"/>
                  <a:pt x="5611017" y="210258"/>
                </a:cubicBezTo>
                <a:cubicBezTo>
                  <a:pt x="5601976" y="328324"/>
                  <a:pt x="5588546" y="568630"/>
                  <a:pt x="5584319" y="708396"/>
                </a:cubicBezTo>
                <a:cubicBezTo>
                  <a:pt x="5580092" y="848162"/>
                  <a:pt x="5576464" y="914559"/>
                  <a:pt x="5585656" y="1048855"/>
                </a:cubicBez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EEECE1"/>
              </a:gs>
              <a:gs pos="100000">
                <a:srgbClr val="FAFAFA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 flipH="1">
            <a:off x="8043545" y="1947545"/>
            <a:ext cx="3836670" cy="770255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6042" h="1213">
                <a:moveTo>
                  <a:pt x="0" y="0"/>
                </a:moveTo>
                <a:lnTo>
                  <a:pt x="639" y="0"/>
                </a:lnTo>
                <a:lnTo>
                  <a:pt x="639" y="176"/>
                </a:lnTo>
                <a:lnTo>
                  <a:pt x="6042" y="176"/>
                </a:lnTo>
                <a:lnTo>
                  <a:pt x="6042" y="1213"/>
                </a:lnTo>
                <a:lnTo>
                  <a:pt x="0" y="1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>
            <a:solidFill>
              <a:srgbClr val="573823"/>
            </a:solidFill>
            <a:prstDash val="soli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EEECE1"/>
              </a:solidFill>
            </a:endParaRPr>
          </a:p>
        </p:txBody>
      </p:sp>
      <p:sp>
        <p:nvSpPr>
          <p:cNvPr id="56" name="任意多边形: 形状 55"/>
          <p:cNvSpPr/>
          <p:nvPr/>
        </p:nvSpPr>
        <p:spPr>
          <a:xfrm>
            <a:off x="214630" y="2360930"/>
            <a:ext cx="5839143" cy="1051560"/>
          </a:xfrm>
          <a:custGeom>
            <a:avLst/>
            <a:gdLst>
              <a:gd name="csX0" fmla="*/ 0 w 5839143"/>
              <a:gd name="csY0" fmla="*/ 0 h 1051560"/>
              <a:gd name="csX1" fmla="*/ 5839143 w 5839143"/>
              <a:gd name="csY1" fmla="*/ 0 h 1051560"/>
              <a:gd name="csX2" fmla="*/ 5825048 w 5839143"/>
              <a:gd name="csY2" fmla="*/ 30259 h 1051560"/>
              <a:gd name="csX3" fmla="*/ 5722344 w 5839143"/>
              <a:gd name="csY3" fmla="*/ 342513 h 1051560"/>
              <a:gd name="csX4" fmla="*/ 5602453 w 5839143"/>
              <a:gd name="csY4" fmla="*/ 1003621 h 1051560"/>
              <a:gd name="csX5" fmla="*/ 5596254 w 5839143"/>
              <a:gd name="csY5" fmla="*/ 1051560 h 1051560"/>
              <a:gd name="csX6" fmla="*/ 0 w 5839143"/>
              <a:gd name="csY6" fmla="*/ 1051560 h 1051560"/>
              <a:gd name="csX7" fmla="*/ 0 w 5839143"/>
              <a:gd name="csY7" fmla="*/ 0 h 1051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39143" h="1051560">
                <a:moveTo>
                  <a:pt x="0" y="0"/>
                </a:moveTo>
                <a:lnTo>
                  <a:pt x="5839143" y="0"/>
                </a:lnTo>
                <a:lnTo>
                  <a:pt x="5825048" y="30259"/>
                </a:lnTo>
                <a:cubicBezTo>
                  <a:pt x="5786396" y="121920"/>
                  <a:pt x="5754370" y="231526"/>
                  <a:pt x="5722344" y="342513"/>
                </a:cubicBezTo>
                <a:cubicBezTo>
                  <a:pt x="5674305" y="508994"/>
                  <a:pt x="5628751" y="807168"/>
                  <a:pt x="5602453" y="1003621"/>
                </a:cubicBezTo>
                <a:lnTo>
                  <a:pt x="5596254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EEECE1"/>
              </a:gs>
              <a:gs pos="100000">
                <a:srgbClr val="FAFAFA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 rot="6556233">
            <a:off x="2928809" y="3103179"/>
            <a:ext cx="6315343" cy="942975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11336811" y="350872"/>
            <a:ext cx="740666" cy="769472"/>
            <a:chOff x="10915227" y="1812239"/>
            <a:chExt cx="713308" cy="701589"/>
          </a:xfrm>
        </p:grpSpPr>
        <p:sp>
          <p:nvSpPr>
            <p:cNvPr id="22" name="平行四边形 21"/>
            <p:cNvSpPr/>
            <p:nvPr/>
          </p:nvSpPr>
          <p:spPr>
            <a:xfrm>
              <a:off x="10915227" y="1812239"/>
              <a:ext cx="309127" cy="701589"/>
            </a:xfrm>
            <a:prstGeom prst="parallelogram">
              <a:avLst>
                <a:gd name="adj" fmla="val 30263"/>
              </a:avLst>
            </a:prstGeom>
            <a:gradFill flip="none" rotWithShape="1">
              <a:gsLst>
                <a:gs pos="100000">
                  <a:srgbClr val="2954A9">
                    <a:lumMod val="0"/>
                    <a:lumOff val="100000"/>
                    <a:alpha val="47000"/>
                  </a:srgbClr>
                </a:gs>
                <a:gs pos="3000">
                  <a:srgbClr val="2954A9">
                    <a:alpha val="0"/>
                    <a:lumMod val="0"/>
                    <a:lumOff val="100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梦源黑体 CN W15"/>
                <a:cs typeface="+mn-cs"/>
              </a:endParaRPr>
            </a:p>
          </p:txBody>
        </p:sp>
        <p:sp>
          <p:nvSpPr>
            <p:cNvPr id="25" name="平行四边形 24"/>
            <p:cNvSpPr/>
            <p:nvPr/>
          </p:nvSpPr>
          <p:spPr>
            <a:xfrm flipH="1" flipV="1">
              <a:off x="11319408" y="1812239"/>
              <a:ext cx="309127" cy="701589"/>
            </a:xfrm>
            <a:prstGeom prst="parallelogram">
              <a:avLst>
                <a:gd name="adj" fmla="val 30263"/>
              </a:avLst>
            </a:prstGeom>
            <a:gradFill flip="none" rotWithShape="1">
              <a:gsLst>
                <a:gs pos="100000">
                  <a:srgbClr val="2954A9">
                    <a:lumMod val="0"/>
                    <a:lumOff val="100000"/>
                    <a:alpha val="22000"/>
                  </a:srgbClr>
                </a:gs>
                <a:gs pos="3000">
                  <a:srgbClr val="2954A9">
                    <a:alpha val="0"/>
                    <a:lumMod val="0"/>
                    <a:lumOff val="100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梦源黑体 CN W15"/>
                <a:cs typeface="+mn-cs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761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468439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120" y="172085"/>
            <a:ext cx="1625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3190" y="102870"/>
            <a:ext cx="2216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需求调研</a:t>
            </a:r>
            <a:endParaRPr lang="zh-CN" altLang="en-US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0" y="5472430"/>
            <a:ext cx="12266295" cy="1651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25600" y="6153150"/>
            <a:ext cx="9219565" cy="368300"/>
          </a:xfrm>
          <a:prstGeom prst="rect">
            <a:avLst/>
          </a:prstGeom>
          <a:noFill/>
          <a:effectLst>
            <a:glow rad="546100">
              <a:srgbClr val="570A04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573823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洪荒之力简 中黑" panose="02010604000000000000" charset="-122"/>
                <a:ea typeface="锐字洪荒之力简 中黑" panose="02010604000000000000" charset="-122"/>
              </a:rPr>
              <a:t>传统景区导览难以处理复杂、动态、个性化的游客需求</a:t>
            </a:r>
            <a:endParaRPr lang="zh-CN" altLang="en-US" sz="2800" b="1" dirty="0">
              <a:solidFill>
                <a:srgbClr val="573823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洪荒之力简 中黑" panose="02010604000000000000" charset="-122"/>
              <a:ea typeface="锐字洪荒之力简 中黑" panose="02010604000000000000" charset="-122"/>
            </a:endParaRPr>
          </a:p>
          <a:p>
            <a:endParaRPr lang="zh-CN" altLang="en-US" sz="2800" b="1" dirty="0">
              <a:solidFill>
                <a:srgbClr val="573823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洪荒之力简 中黑" panose="02010604000000000000" charset="-122"/>
              <a:ea typeface="锐字洪荒之力简 中黑" panose="02010604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315" y="5802630"/>
            <a:ext cx="1718310" cy="133477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68300" y="5809615"/>
            <a:ext cx="1927225" cy="121475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">
            <a:alphaModFix amt="35000"/>
          </a:blip>
          <a:srcRect l="7476" t="-3664"/>
          <a:stretch>
            <a:fillRect/>
          </a:stretch>
        </p:blipFill>
        <p:spPr>
          <a:xfrm rot="6556233" flipH="1" flipV="1">
            <a:off x="3167646" y="3027419"/>
            <a:ext cx="5651869" cy="97752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1190" y="4355465"/>
            <a:ext cx="1335405" cy="1335405"/>
          </a:xfrm>
          <a:prstGeom prst="rect">
            <a:avLst/>
          </a:prstGeom>
        </p:spPr>
      </p:pic>
      <p:sp>
        <p:nvSpPr>
          <p:cNvPr id="37" name="任意多边形 36"/>
          <p:cNvSpPr/>
          <p:nvPr/>
        </p:nvSpPr>
        <p:spPr>
          <a:xfrm flipH="1">
            <a:off x="7383145" y="1233805"/>
            <a:ext cx="4083050" cy="815975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7593" h="1114">
                <a:moveTo>
                  <a:pt x="0" y="0"/>
                </a:moveTo>
                <a:lnTo>
                  <a:pt x="7014" y="0"/>
                </a:lnTo>
                <a:lnTo>
                  <a:pt x="7014" y="812"/>
                </a:lnTo>
                <a:lnTo>
                  <a:pt x="7593" y="1114"/>
                </a:lnTo>
                <a:lnTo>
                  <a:pt x="7014" y="1114"/>
                </a:lnTo>
                <a:lnTo>
                  <a:pt x="7003" y="1114"/>
                </a:lnTo>
                <a:lnTo>
                  <a:pt x="0" y="11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71000">
                <a:srgbClr val="E2B46D">
                  <a:alpha val="100000"/>
                </a:srgbClr>
              </a:gs>
              <a:gs pos="98000">
                <a:srgbClr val="DEB575">
                  <a:alpha val="81000"/>
                </a:srgbClr>
              </a:gs>
              <a:gs pos="0">
                <a:srgbClr val="D6B784">
                  <a:alpha val="40000"/>
                </a:srgbClr>
              </a:gs>
              <a:gs pos="48000">
                <a:srgbClr val="E5B265"/>
              </a:gs>
            </a:gsLst>
            <a:lin ang="0" scaled="0"/>
          </a:gradFill>
          <a:ln w="9525">
            <a:solidFill>
              <a:srgbClr val="573823"/>
            </a:solidFill>
            <a:prstDash val="soli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41615" y="1314450"/>
            <a:ext cx="35115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“我带着 70 岁的父母，限时 5 小时，怎么游览？”</a:t>
            </a:r>
            <a:endParaRPr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4" name="图片 13" descr="屏幕截图 2026-09-23 1723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1340" y="1442720"/>
            <a:ext cx="676275" cy="617220"/>
          </a:xfrm>
          <a:prstGeom prst="rect">
            <a:avLst/>
          </a:prstGeom>
        </p:spPr>
      </p:pic>
      <p:pic>
        <p:nvPicPr>
          <p:cNvPr id="43" name="图片 42" descr="屏幕截图 2026-09-23 1734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3850" y="3046095"/>
            <a:ext cx="608330" cy="61722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2615" y="4888230"/>
            <a:ext cx="435610" cy="43561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0810" y="4412615"/>
            <a:ext cx="436880" cy="43688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56390" y="4849495"/>
            <a:ext cx="460375" cy="46037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9305" y="4521835"/>
            <a:ext cx="327660" cy="327660"/>
          </a:xfrm>
          <a:prstGeom prst="rect">
            <a:avLst/>
          </a:prstGeom>
        </p:spPr>
      </p:pic>
      <p:sp>
        <p:nvSpPr>
          <p:cNvPr id="52" name="Text 10"/>
          <p:cNvSpPr/>
          <p:nvPr/>
        </p:nvSpPr>
        <p:spPr>
          <a:xfrm>
            <a:off x="8131810" y="2095500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sz="1400"/>
              <a:t>🚨【物理拓扑盲区】</a:t>
            </a:r>
            <a:endParaRPr sz="1400"/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/>
              <a:t>普通 FAQ 缺乏坡度与台阶模型，盲目推荐轮椅攀登 216 级长阶天梯！</a:t>
            </a:r>
            <a:endParaRPr sz="1200"/>
          </a:p>
        </p:txBody>
      </p:sp>
      <p:grpSp>
        <p:nvGrpSpPr>
          <p:cNvPr id="39" name="组合 38"/>
          <p:cNvGrpSpPr/>
          <p:nvPr/>
        </p:nvGrpSpPr>
        <p:grpSpPr>
          <a:xfrm rot="0">
            <a:off x="7152640" y="2847975"/>
            <a:ext cx="4029710" cy="1008380"/>
            <a:chOff x="11057" y="3666"/>
            <a:chExt cx="6346" cy="1588"/>
          </a:xfrm>
        </p:grpSpPr>
        <p:sp>
          <p:nvSpPr>
            <p:cNvPr id="48" name="任意多边形 47"/>
            <p:cNvSpPr/>
            <p:nvPr/>
          </p:nvSpPr>
          <p:spPr>
            <a:xfrm flipH="1">
              <a:off x="11057" y="3666"/>
              <a:ext cx="6347" cy="1284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7593" h="1114">
                  <a:moveTo>
                    <a:pt x="0" y="0"/>
                  </a:moveTo>
                  <a:lnTo>
                    <a:pt x="7014" y="0"/>
                  </a:lnTo>
                  <a:lnTo>
                    <a:pt x="7014" y="812"/>
                  </a:lnTo>
                  <a:lnTo>
                    <a:pt x="7593" y="1114"/>
                  </a:lnTo>
                  <a:lnTo>
                    <a:pt x="7014" y="1114"/>
                  </a:lnTo>
                  <a:lnTo>
                    <a:pt x="7003" y="1114"/>
                  </a:lnTo>
                  <a:lnTo>
                    <a:pt x="0" y="111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1000">
                  <a:srgbClr val="E2B46D">
                    <a:alpha val="100000"/>
                  </a:srgbClr>
                </a:gs>
                <a:gs pos="98000">
                  <a:srgbClr val="DEB575">
                    <a:alpha val="81000"/>
                  </a:srgbClr>
                </a:gs>
                <a:gs pos="0">
                  <a:srgbClr val="D6B784">
                    <a:alpha val="40000"/>
                  </a:srgbClr>
                </a:gs>
                <a:gs pos="48000">
                  <a:srgbClr val="E5B265"/>
                </a:gs>
              </a:gsLst>
              <a:lin ang="0" scaled="0"/>
            </a:gradFill>
            <a:ln w="9525">
              <a:solidFill>
                <a:srgbClr val="573823"/>
              </a:solidFill>
              <a:prstDash val="soli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722" y="3802"/>
              <a:ext cx="5529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“14:30 有演出，我现在在正门，怎么去梵宫？”</a:t>
              </a:r>
              <a:endPara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endPara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sp>
        <p:nvSpPr>
          <p:cNvPr id="61" name="任意多边形 60"/>
          <p:cNvSpPr/>
          <p:nvPr/>
        </p:nvSpPr>
        <p:spPr>
          <a:xfrm flipH="1">
            <a:off x="7759700" y="3557270"/>
            <a:ext cx="3836670" cy="770255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6042" h="1213">
                <a:moveTo>
                  <a:pt x="0" y="0"/>
                </a:moveTo>
                <a:lnTo>
                  <a:pt x="639" y="0"/>
                </a:lnTo>
                <a:lnTo>
                  <a:pt x="639" y="176"/>
                </a:lnTo>
                <a:lnTo>
                  <a:pt x="6042" y="176"/>
                </a:lnTo>
                <a:lnTo>
                  <a:pt x="6042" y="1213"/>
                </a:lnTo>
                <a:lnTo>
                  <a:pt x="0" y="1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>
            <a:solidFill>
              <a:srgbClr val="573823"/>
            </a:solidFill>
            <a:prstDash val="soli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EEECE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 rot="0">
            <a:off x="6186170" y="4461510"/>
            <a:ext cx="4199255" cy="1065530"/>
            <a:chOff x="10199" y="5317"/>
            <a:chExt cx="6613" cy="1678"/>
          </a:xfrm>
        </p:grpSpPr>
        <p:sp>
          <p:nvSpPr>
            <p:cNvPr id="49" name="任意多边形 48"/>
            <p:cNvSpPr/>
            <p:nvPr/>
          </p:nvSpPr>
          <p:spPr>
            <a:xfrm flipH="1">
              <a:off x="10199" y="5317"/>
              <a:ext cx="6499" cy="1284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7593" h="1114">
                  <a:moveTo>
                    <a:pt x="0" y="0"/>
                  </a:moveTo>
                  <a:lnTo>
                    <a:pt x="7014" y="0"/>
                  </a:lnTo>
                  <a:lnTo>
                    <a:pt x="7014" y="812"/>
                  </a:lnTo>
                  <a:lnTo>
                    <a:pt x="7593" y="1114"/>
                  </a:lnTo>
                  <a:lnTo>
                    <a:pt x="7014" y="1114"/>
                  </a:lnTo>
                  <a:lnTo>
                    <a:pt x="7003" y="1114"/>
                  </a:lnTo>
                  <a:lnTo>
                    <a:pt x="0" y="111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1000">
                  <a:srgbClr val="E2B46D">
                    <a:alpha val="100000"/>
                  </a:srgbClr>
                </a:gs>
                <a:gs pos="98000">
                  <a:srgbClr val="DEB575">
                    <a:alpha val="81000"/>
                  </a:srgbClr>
                </a:gs>
                <a:gs pos="0">
                  <a:srgbClr val="D6B784">
                    <a:alpha val="40000"/>
                  </a:srgbClr>
                </a:gs>
                <a:gs pos="48000">
                  <a:srgbClr val="E5B265"/>
                </a:gs>
              </a:gsLst>
              <a:lin ang="0" scaled="0"/>
            </a:gradFill>
            <a:ln w="9525">
              <a:solidFill>
                <a:srgbClr val="573823"/>
              </a:solidFill>
              <a:prstDash val="solid"/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000" y="5543"/>
              <a:ext cx="5812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“灵山大佛门票多少钱？20 分钟能游览完吗？”</a:t>
              </a:r>
              <a:endPara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endPara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sp>
        <p:nvSpPr>
          <p:cNvPr id="62" name="任意多边形 61"/>
          <p:cNvSpPr/>
          <p:nvPr/>
        </p:nvSpPr>
        <p:spPr>
          <a:xfrm flipH="1">
            <a:off x="6889115" y="5173980"/>
            <a:ext cx="3836670" cy="770255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6042" h="1213">
                <a:moveTo>
                  <a:pt x="0" y="0"/>
                </a:moveTo>
                <a:lnTo>
                  <a:pt x="639" y="0"/>
                </a:lnTo>
                <a:lnTo>
                  <a:pt x="639" y="176"/>
                </a:lnTo>
                <a:lnTo>
                  <a:pt x="6042" y="176"/>
                </a:lnTo>
                <a:lnTo>
                  <a:pt x="6042" y="1213"/>
                </a:lnTo>
                <a:lnTo>
                  <a:pt x="0" y="1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 w="9525">
            <a:solidFill>
              <a:srgbClr val="573823"/>
            </a:solidFill>
            <a:prstDash val="solid"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EEECE1"/>
              </a:solidFill>
            </a:endParaRPr>
          </a:p>
        </p:txBody>
      </p:sp>
      <p:sp>
        <p:nvSpPr>
          <p:cNvPr id="51" name="Text 10"/>
          <p:cNvSpPr/>
          <p:nvPr/>
        </p:nvSpPr>
        <p:spPr>
          <a:xfrm>
            <a:off x="7841615" y="3691255"/>
            <a:ext cx="3806190" cy="674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🚨【时空时效错配】</a:t>
            </a:r>
            <a:endParaRPr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正门至梵宫1.4km</a:t>
            </a:r>
            <a:r>
              <a:rPr 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</a:t>
            </a:r>
            <a:r>
              <a: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步行需22min</a:t>
            </a:r>
            <a:r>
              <a:rPr 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演出提前15min停检，盲目推荐导致游客狂奔依然扑空</a:t>
            </a:r>
            <a:r>
              <a:rPr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！</a:t>
            </a:r>
            <a:endParaRPr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7018655" y="5316855"/>
            <a:ext cx="3625850" cy="617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🚨【事实数值幻觉】</a:t>
            </a:r>
            <a:endParaRPr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200"/>
              <a:t>门票全票210元非50元</a:t>
            </a:r>
            <a:r>
              <a:rPr lang="zh-CN" sz="1200"/>
              <a:t>；</a:t>
            </a:r>
            <a:r>
              <a:rPr sz="1200"/>
              <a:t>20分钟根本无法游园，大模型过度谄媚强行编造！</a:t>
            </a:r>
            <a:endParaRPr sz="1200"/>
          </a:p>
        </p:txBody>
      </p:sp>
      <p:sp>
        <p:nvSpPr>
          <p:cNvPr id="18" name="任意多边形: 形状 17"/>
          <p:cNvSpPr/>
          <p:nvPr/>
        </p:nvSpPr>
        <p:spPr>
          <a:xfrm>
            <a:off x="214630" y="1182370"/>
            <a:ext cx="6511044" cy="1051560"/>
          </a:xfrm>
          <a:custGeom>
            <a:avLst/>
            <a:gdLst>
              <a:gd name="csX0" fmla="*/ 0 w 6511044"/>
              <a:gd name="csY0" fmla="*/ 0 h 1051560"/>
              <a:gd name="csX1" fmla="*/ 6511044 w 6511044"/>
              <a:gd name="csY1" fmla="*/ 0 h 1051560"/>
              <a:gd name="csX2" fmla="*/ 6478598 w 6511044"/>
              <a:gd name="csY2" fmla="*/ 27822 h 1051560"/>
              <a:gd name="csX3" fmla="*/ 6404831 w 6511044"/>
              <a:gd name="csY3" fmla="*/ 96464 h 1051560"/>
              <a:gd name="csX4" fmla="*/ 6192796 w 6511044"/>
              <a:gd name="csY4" fmla="*/ 361507 h 1051560"/>
              <a:gd name="csX5" fmla="*/ 6013892 w 6511044"/>
              <a:gd name="csY5" fmla="*/ 666307 h 1051560"/>
              <a:gd name="csX6" fmla="*/ 5885900 w 6511044"/>
              <a:gd name="csY6" fmla="*/ 1010100 h 1051560"/>
              <a:gd name="csX7" fmla="*/ 5876032 w 6511044"/>
              <a:gd name="csY7" fmla="*/ 1051560 h 1051560"/>
              <a:gd name="csX8" fmla="*/ 0 w 6511044"/>
              <a:gd name="csY8" fmla="*/ 1051560 h 1051560"/>
              <a:gd name="csX9" fmla="*/ 0 w 6511044"/>
              <a:gd name="csY9" fmla="*/ 0 h 1051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511044" h="1051560">
                <a:moveTo>
                  <a:pt x="0" y="0"/>
                </a:moveTo>
                <a:lnTo>
                  <a:pt x="6511044" y="0"/>
                </a:lnTo>
                <a:lnTo>
                  <a:pt x="6478598" y="27822"/>
                </a:lnTo>
                <a:cubicBezTo>
                  <a:pt x="6451973" y="51876"/>
                  <a:pt x="6426918" y="75482"/>
                  <a:pt x="6404831" y="96464"/>
                </a:cubicBezTo>
                <a:cubicBezTo>
                  <a:pt x="6316483" y="180394"/>
                  <a:pt x="6257952" y="266533"/>
                  <a:pt x="6192796" y="361507"/>
                </a:cubicBezTo>
                <a:cubicBezTo>
                  <a:pt x="6127640" y="456481"/>
                  <a:pt x="6068005" y="529368"/>
                  <a:pt x="6013892" y="666307"/>
                </a:cubicBezTo>
                <a:cubicBezTo>
                  <a:pt x="5980072" y="751894"/>
                  <a:pt x="5919074" y="891836"/>
                  <a:pt x="5885900" y="1010100"/>
                </a:cubicBezTo>
                <a:lnTo>
                  <a:pt x="5876032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6000">
                <a:srgbClr val="EEECE1"/>
              </a:gs>
              <a:gs pos="100000">
                <a:srgbClr val="FAFAFA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2510155" y="1301750"/>
            <a:ext cx="354393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b="1" dirty="0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82.0%</a:t>
            </a:r>
            <a:r>
              <a:rPr lang="zh-CN" altLang="zh-CN" sz="1600" dirty="0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的受访游客曾因步行耗时误判或未预留安检排队时间，错过既定场次演出</a:t>
            </a:r>
            <a:endParaRPr lang="zh-CN" altLang="zh-CN" sz="1600" dirty="0">
              <a:solidFill>
                <a:srgbClr val="57382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510155" y="2494915"/>
            <a:ext cx="336486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66.0%</a:t>
            </a:r>
            <a:r>
              <a:rPr lang="zh-CN" altLang="zh-CN" sz="1600" dirty="0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的受访游客曾被导览路线导入陡坡长阶，被迫折返；其中有老弱同行的样本中，该比例为93.3%</a:t>
            </a:r>
            <a:endParaRPr lang="zh-CN" altLang="zh-CN" sz="1600" dirty="0">
              <a:solidFill>
                <a:srgbClr val="57382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510155" y="3665220"/>
            <a:ext cx="323342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rgbClr val="CC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74.0%</a:t>
            </a:r>
            <a:r>
              <a:rPr lang="zh-CN" altLang="zh-CN" sz="1600" dirty="0">
                <a:solidFill>
                  <a:srgbClr val="57382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受访游客在使用市面通用AI导览时，遭遇票价与开放时间被概率性编造</a:t>
            </a:r>
            <a:endParaRPr lang="zh-CN" altLang="zh-CN" sz="1600" dirty="0">
              <a:solidFill>
                <a:srgbClr val="57382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68300" y="4849495"/>
            <a:ext cx="4910455" cy="988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zh-CN" sz="2000" dirty="0">
                <a:gradFill>
                  <a:gsLst>
                    <a:gs pos="37000">
                      <a:schemeClr val="accent2">
                        <a:lumMod val="75000"/>
                        <a:alpha val="100000"/>
                      </a:schemeClr>
                    </a:gs>
                    <a:gs pos="100000">
                      <a:srgbClr val="C48A88">
                        <a:alpha val="100000"/>
                      </a:srgbClr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印品酷黑体" panose="00000805000000000000" charset="-122"/>
                <a:ea typeface="印品酷黑体" panose="00000805000000000000" charset="-122"/>
                <a:cs typeface="印品酷黑体" panose="00000805000000000000" charset="-122"/>
              </a:rPr>
              <a:t>可信决策功能需求意愿</a:t>
            </a:r>
            <a:r>
              <a:rPr lang="zh-CN" altLang="en-US" sz="2000" dirty="0">
                <a:gradFill>
                  <a:gsLst>
                    <a:gs pos="37000">
                      <a:schemeClr val="accent2">
                        <a:lumMod val="75000"/>
                        <a:alpha val="100000"/>
                      </a:schemeClr>
                    </a:gs>
                    <a:gs pos="100000">
                      <a:srgbClr val="C48A88">
                        <a:alpha val="100000"/>
                      </a:srgbClr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印品酷黑体" panose="00000805000000000000" charset="-122"/>
                <a:ea typeface="印品酷黑体" panose="00000805000000000000" charset="-122"/>
                <a:cs typeface="印品酷黑体" panose="00000805000000000000" charset="-122"/>
              </a:rPr>
              <a:t>：</a:t>
            </a:r>
            <a:r>
              <a:rPr lang="zh-CN" altLang="zh-CN" sz="2000" dirty="0">
                <a:gradFill>
                  <a:gsLst>
                    <a:gs pos="37000">
                      <a:schemeClr val="accent2">
                        <a:lumMod val="75000"/>
                        <a:alpha val="100000"/>
                      </a:schemeClr>
                    </a:gs>
                    <a:gs pos="100000">
                      <a:srgbClr val="C48A88">
                        <a:alpha val="100000"/>
                      </a:srgbClr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印品酷黑体" panose="00000805000000000000" charset="-122"/>
                <a:ea typeface="印品酷黑体" panose="00000805000000000000" charset="-122"/>
                <a:cs typeface="印品酷黑体" panose="00000805000000000000" charset="-122"/>
              </a:rPr>
              <a:t>90.0%受访游客明确愿意使用可自动规避台阶、预留排队缓冲、超时动态重规划的智能导览</a:t>
            </a:r>
            <a:r>
              <a:rPr lang="zh-CN" altLang="en-US" dirty="0">
                <a:gradFill>
                  <a:gsLst>
                    <a:gs pos="37000">
                      <a:schemeClr val="accent2">
                        <a:lumMod val="75000"/>
                        <a:alpha val="100000"/>
                      </a:schemeClr>
                    </a:gs>
                    <a:gs pos="100000">
                      <a:srgbClr val="C48A88">
                        <a:alpha val="100000"/>
                      </a:srgbClr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</a:gsLst>
                  <a:lin ang="27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印品酷黑体" panose="00000805000000000000" charset="-122"/>
                <a:ea typeface="印品酷黑体" panose="00000805000000000000" charset="-122"/>
                <a:cs typeface="印品酷黑体" panose="00000805000000000000" charset="-122"/>
              </a:rPr>
              <a:t>！</a:t>
            </a:r>
            <a:endParaRPr lang="zh-CN" altLang="en-US" dirty="0">
              <a:gradFill>
                <a:gsLst>
                  <a:gs pos="37000">
                    <a:schemeClr val="accent2">
                      <a:lumMod val="75000"/>
                      <a:alpha val="100000"/>
                    </a:schemeClr>
                  </a:gs>
                  <a:gs pos="100000">
                    <a:srgbClr val="C48A88">
                      <a:alpha val="100000"/>
                    </a:srgbClr>
                  </a:gs>
                  <a:gs pos="0">
                    <a:schemeClr val="accent2">
                      <a:lumMod val="40000"/>
                      <a:lumOff val="60000"/>
                    </a:schemeClr>
                  </a:gs>
                </a:gsLst>
                <a:lin ang="270000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印品酷黑体" panose="00000805000000000000" charset="-122"/>
              <a:ea typeface="印品酷黑体" panose="00000805000000000000" charset="-122"/>
              <a:cs typeface="印品酷黑体" panose="00000805000000000000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0"/>
          <a:srcRect l="20851" t="9574" b="6642"/>
          <a:stretch>
            <a:fillRect/>
          </a:stretch>
        </p:blipFill>
        <p:spPr>
          <a:xfrm>
            <a:off x="382673" y="1132746"/>
            <a:ext cx="1758857" cy="1080000"/>
          </a:xfrm>
          <a:prstGeom prst="roundRect">
            <a:avLst>
              <a:gd name="adj" fmla="val 13689"/>
            </a:avLst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641" y="2330750"/>
            <a:ext cx="1758857" cy="1080000"/>
          </a:xfrm>
          <a:prstGeom prst="roundRect">
            <a:avLst>
              <a:gd name="adj" fmla="val 13689"/>
            </a:avLst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967" y="3513807"/>
            <a:ext cx="1758857" cy="1080000"/>
          </a:xfrm>
          <a:prstGeom prst="roundRect">
            <a:avLst>
              <a:gd name="adj" fmla="val 13689"/>
            </a:avLst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文本框 41"/>
          <p:cNvSpPr txBox="1"/>
          <p:nvPr/>
        </p:nvSpPr>
        <p:spPr>
          <a:xfrm>
            <a:off x="2318385" y="984250"/>
            <a:ext cx="1829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  <a:sym typeface="+mn-ea"/>
              </a:rPr>
              <a:t>演艺时间错配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造字工房格黑体" panose="020B0600000000000000" charset="-122"/>
              <a:ea typeface="造字工房格黑体" panose="020B0600000000000000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18385" y="2176145"/>
            <a:ext cx="1829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  <a:sym typeface="+mn-ea"/>
              </a:rPr>
              <a:t>无障碍路径阻断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造字工房格黑体" panose="020B0600000000000000" charset="-122"/>
              <a:ea typeface="造字工房格黑体" panose="020B0600000000000000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318385" y="3361055"/>
            <a:ext cx="1829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造字工房格黑体" panose="020B0600000000000000" charset="-122"/>
                <a:ea typeface="造字工房格黑体" panose="020B0600000000000000" charset="-122"/>
                <a:cs typeface="黑体" panose="02010609060101010101" charset="-122"/>
                <a:sym typeface="+mn-ea"/>
              </a:rPr>
              <a:t>事实性信息错误</a:t>
            </a:r>
            <a:endParaRPr lang="zh-CN" altLang="zh-CN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造字工房格黑体" panose="020B0600000000000000" charset="-122"/>
              <a:ea typeface="造字工房格黑体" panose="020B0600000000000000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数字人灵小禅立绘_透明底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8087995" y="4880610"/>
            <a:ext cx="1562735" cy="1562735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5245100"/>
            <a:ext cx="12202160" cy="1612900"/>
          </a:xfrm>
          <a:prstGeom prst="rect">
            <a:avLst/>
          </a:prstGeom>
        </p:spPr>
      </p:pic>
      <p:pic>
        <p:nvPicPr>
          <p:cNvPr id="144" name="图片 14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358505" y="1398270"/>
            <a:ext cx="3647440" cy="3931920"/>
          </a:xfrm>
          <a:prstGeom prst="rect">
            <a:avLst/>
          </a:prstGeom>
        </p:spPr>
      </p:pic>
      <p:sp>
        <p:nvSpPr>
          <p:cNvPr id="116" name="任意多边形 115"/>
          <p:cNvSpPr/>
          <p:nvPr/>
        </p:nvSpPr>
        <p:spPr>
          <a:xfrm rot="21060000">
            <a:off x="157916" y="445413"/>
            <a:ext cx="12056690" cy="176085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987" h="2773">
                <a:moveTo>
                  <a:pt x="1537" y="0"/>
                </a:moveTo>
                <a:lnTo>
                  <a:pt x="1509" y="11"/>
                </a:lnTo>
                <a:cubicBezTo>
                  <a:pt x="1197" y="135"/>
                  <a:pt x="1046" y="271"/>
                  <a:pt x="1084" y="415"/>
                </a:cubicBezTo>
                <a:cubicBezTo>
                  <a:pt x="1248" y="1046"/>
                  <a:pt x="4937" y="1637"/>
                  <a:pt x="9714" y="1852"/>
                </a:cubicBezTo>
                <a:lnTo>
                  <a:pt x="9829" y="1857"/>
                </a:lnTo>
                <a:lnTo>
                  <a:pt x="9989" y="1866"/>
                </a:lnTo>
                <a:cubicBezTo>
                  <a:pt x="10993" y="1917"/>
                  <a:pt x="12077" y="1952"/>
                  <a:pt x="13214" y="1968"/>
                </a:cubicBezTo>
                <a:lnTo>
                  <a:pt x="13284" y="1968"/>
                </a:lnTo>
                <a:lnTo>
                  <a:pt x="13286" y="1964"/>
                </a:lnTo>
                <a:lnTo>
                  <a:pt x="13316" y="1965"/>
                </a:lnTo>
                <a:lnTo>
                  <a:pt x="13329" y="1965"/>
                </a:lnTo>
                <a:lnTo>
                  <a:pt x="13329" y="1969"/>
                </a:lnTo>
                <a:lnTo>
                  <a:pt x="13494" y="1971"/>
                </a:lnTo>
                <a:cubicBezTo>
                  <a:pt x="13868" y="1975"/>
                  <a:pt x="14248" y="1977"/>
                  <a:pt x="14632" y="1977"/>
                </a:cubicBezTo>
                <a:cubicBezTo>
                  <a:pt x="16121" y="1977"/>
                  <a:pt x="17541" y="1945"/>
                  <a:pt x="18840" y="1886"/>
                </a:cubicBezTo>
                <a:lnTo>
                  <a:pt x="18958" y="1881"/>
                </a:lnTo>
                <a:lnTo>
                  <a:pt x="18987" y="1964"/>
                </a:lnTo>
                <a:lnTo>
                  <a:pt x="18860" y="2765"/>
                </a:lnTo>
                <a:lnTo>
                  <a:pt x="18770" y="2767"/>
                </a:lnTo>
                <a:cubicBezTo>
                  <a:pt x="16886" y="2793"/>
                  <a:pt x="14604" y="2738"/>
                  <a:pt x="12134" y="2590"/>
                </a:cubicBezTo>
                <a:cubicBezTo>
                  <a:pt x="5539" y="2194"/>
                  <a:pt x="107" y="1287"/>
                  <a:pt x="2" y="564"/>
                </a:cubicBezTo>
                <a:cubicBezTo>
                  <a:pt x="-33" y="326"/>
                  <a:pt x="510" y="138"/>
                  <a:pt x="1489" y="6"/>
                </a:cubicBezTo>
                <a:lnTo>
                  <a:pt x="1537" y="0"/>
                </a:lnTo>
                <a:close/>
              </a:path>
            </a:pathLst>
          </a:custGeom>
          <a:gradFill>
            <a:gsLst>
              <a:gs pos="44000">
                <a:srgbClr val="BC9063">
                  <a:alpha val="100000"/>
                </a:srgbClr>
              </a:gs>
              <a:gs pos="82000">
                <a:srgbClr val="A26841"/>
              </a:gs>
              <a:gs pos="0">
                <a:srgbClr val="D6B784">
                  <a:alpha val="61000"/>
                </a:srgbClr>
              </a:gs>
            </a:gsLst>
            <a:lin ang="10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3465" y="7256780"/>
            <a:ext cx="2125980" cy="212598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0140" y="7124700"/>
            <a:ext cx="2905125" cy="2126615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74930" y="1932305"/>
            <a:ext cx="4116705" cy="4004945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2382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619315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68085" y="160655"/>
            <a:ext cx="1674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3190" y="102870"/>
            <a:ext cx="2216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方案设计</a:t>
            </a:r>
            <a:endParaRPr lang="zh-CN" altLang="en-US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53045" y="796925"/>
            <a:ext cx="3474085" cy="47053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 algn="l">
              <a:defRPr sz="15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1800" i="1"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7×24小时在线的AI数字人导游 </a:t>
            </a:r>
            <a:endParaRPr lang="zh-CN" altLang="en-US" sz="1800" i="1" dirty="0"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57470" y="1177925"/>
            <a:ext cx="60960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algn="l">
              <a:defRPr sz="15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1800" i="1"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+mn-ea"/>
              </a:rPr>
              <a:t>覆盖游前→游中→游后全流程的完整服务闭环</a:t>
            </a:r>
            <a:endParaRPr sz="1800" i="1"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+mn-ea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3757295" y="1697355"/>
            <a:ext cx="5514340" cy="4318635"/>
            <a:chOff x="5917" y="2961"/>
            <a:chExt cx="8684" cy="6801"/>
          </a:xfrm>
        </p:grpSpPr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3">
              <a:alphaModFix amt="80000"/>
            </a:blip>
            <a:stretch>
              <a:fillRect/>
            </a:stretch>
          </p:blipFill>
          <p:spPr>
            <a:xfrm>
              <a:off x="5917" y="2961"/>
              <a:ext cx="7600" cy="6801"/>
            </a:xfrm>
            <a:prstGeom prst="rect">
              <a:avLst/>
            </a:prstGeom>
          </p:spPr>
        </p:pic>
        <p:sp>
          <p:nvSpPr>
            <p:cNvPr id="16" name="TextBox 23"/>
            <p:cNvSpPr txBox="1"/>
            <p:nvPr/>
          </p:nvSpPr>
          <p:spPr>
            <a:xfrm>
              <a:off x="7081" y="3909"/>
              <a:ext cx="5472" cy="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t>游中 · 景区内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08" y="4523"/>
              <a:ext cx="5437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200" b="1">
                  <a:solidFill>
                    <a:srgbClr val="1A1A2E"/>
                  </a:solidFill>
                  <a:latin typeface="微软雅黑" panose="020B0503020204020204" charset="-122"/>
                </a:defRPr>
              </a:pPr>
              <a:r>
                <a:rPr lang="en-US" sz="2400" dirty="0" err="1">
                  <a:solidFill>
                    <a:schemeClr val="accent2"/>
                  </a:solidFill>
                </a:rPr>
                <a:t>[ </a:t>
              </a:r>
              <a:r>
                <a:rPr sz="2400" dirty="0" err="1">
                  <a:solidFill>
                    <a:schemeClr val="accent2"/>
                  </a:solidFill>
                </a:rPr>
                <a:t>核心体验</a:t>
              </a:r>
              <a:r>
                <a:rPr lang="en-US" sz="2400" dirty="0" err="1">
                  <a:solidFill>
                    <a:schemeClr val="accent2"/>
                  </a:solidFill>
                </a:rPr>
                <a:t> ]</a:t>
              </a:r>
              <a:endParaRPr lang="en-US" sz="2400" dirty="0" err="1">
                <a:solidFill>
                  <a:schemeClr val="accent2"/>
                </a:solidFill>
              </a:endParaRPr>
            </a:p>
          </p:txBody>
        </p:sp>
        <p:grpSp>
          <p:nvGrpSpPr>
            <p:cNvPr id="145" name="组合 144"/>
            <p:cNvGrpSpPr/>
            <p:nvPr/>
          </p:nvGrpSpPr>
          <p:grpSpPr>
            <a:xfrm>
              <a:off x="6634" y="5360"/>
              <a:ext cx="7967" cy="3259"/>
              <a:chOff x="6698" y="5376"/>
              <a:chExt cx="7967" cy="3259"/>
            </a:xfrm>
          </p:grpSpPr>
          <p:sp>
            <p:nvSpPr>
              <p:cNvPr id="19" name="TextBox 26"/>
              <p:cNvSpPr txBox="1"/>
              <p:nvPr/>
            </p:nvSpPr>
            <p:spPr>
              <a:xfrm>
                <a:off x="6698" y="5376"/>
                <a:ext cx="7967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300" b="0">
                    <a:solidFill>
                      <a:srgbClr val="4A5568"/>
                    </a:solidFill>
                    <a:latin typeface="微软雅黑" panose="020B0503020204020204" charset="-122"/>
                  </a:defRPr>
                </a:pPr>
                <a:r>
                  <a:rPr sz="1800" b="1" dirty="0" err="1">
                    <a:solidFill>
                      <a:schemeClr val="tx1"/>
                    </a:solidFill>
                    <a:latin typeface="三极黑宋体 纤细" panose="00000300000000000000" charset="-122"/>
                    <a:ea typeface="三极黑宋体 纤细" panose="00000300000000000000" charset="-122"/>
                    <a:cs typeface="三极黑宋体 纤细" panose="00000300000000000000" charset="-122"/>
                  </a:rPr>
                  <a:t>◉ 实时问答：历史、文化、交通、餐饮</a:t>
                </a:r>
                <a:endParaRPr sz="1800" b="1" dirty="0" err="1">
                  <a:solidFill>
                    <a:schemeClr val="tx1"/>
                  </a:solidFill>
                  <a:latin typeface="三极黑宋体 纤细" panose="00000300000000000000" charset="-122"/>
                  <a:ea typeface="三极黑宋体 纤细" panose="00000300000000000000" charset="-122"/>
                  <a:cs typeface="三极黑宋体 纤细" panose="00000300000000000000" charset="-122"/>
                </a:endParaRPr>
              </a:p>
            </p:txBody>
          </p:sp>
          <p:sp>
            <p:nvSpPr>
              <p:cNvPr id="21" name="TextBox 28"/>
              <p:cNvSpPr txBox="1"/>
              <p:nvPr/>
            </p:nvSpPr>
            <p:spPr>
              <a:xfrm>
                <a:off x="6698" y="6267"/>
                <a:ext cx="593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300" b="0">
                    <a:solidFill>
                      <a:srgbClr val="4A5568"/>
                    </a:solidFill>
                    <a:latin typeface="微软雅黑" panose="020B0503020204020204" charset="-122"/>
                  </a:defRPr>
                </a:pPr>
                <a:r>
                  <a:rPr sz="1800" b="1" dirty="0" err="1">
                    <a:solidFill>
                      <a:schemeClr val="tx1"/>
                    </a:solidFill>
                    <a:latin typeface="三极黑宋体 纤细" panose="00000300000000000000" charset="-122"/>
                    <a:ea typeface="三极黑宋体 纤细" panose="00000300000000000000" charset="-122"/>
                    <a:cs typeface="三极黑宋体 纤细" panose="00000300000000000000" charset="-122"/>
                  </a:rPr>
                  <a:t>📍 GPS定位：附近景点+距离提示</a:t>
                </a:r>
                <a:endParaRPr sz="1800" b="1" dirty="0" err="1">
                  <a:solidFill>
                    <a:schemeClr val="tx1"/>
                  </a:solidFill>
                  <a:latin typeface="三极黑宋体 纤细" panose="00000300000000000000" charset="-122"/>
                  <a:ea typeface="三极黑宋体 纤细" panose="00000300000000000000" charset="-122"/>
                  <a:cs typeface="三极黑宋体 纤细" panose="00000300000000000000" charset="-122"/>
                </a:endParaRPr>
              </a:p>
            </p:txBody>
          </p:sp>
          <p:sp>
            <p:nvSpPr>
              <p:cNvPr id="37" name="TextBox 30"/>
              <p:cNvSpPr txBox="1"/>
              <p:nvPr/>
            </p:nvSpPr>
            <p:spPr>
              <a:xfrm>
                <a:off x="6698" y="7141"/>
                <a:ext cx="6453" cy="558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>
                  <a:defRPr sz="1300" b="0">
                    <a:solidFill>
                      <a:srgbClr val="4A5568"/>
                    </a:solidFill>
                    <a:latin typeface="微软雅黑" panose="020B0503020204020204" charset="-122"/>
                  </a:defRPr>
                </a:pPr>
                <a:r>
                  <a:rPr sz="1800" b="1" dirty="0" err="1">
                    <a:solidFill>
                      <a:schemeClr val="tx1"/>
                    </a:solidFill>
                    <a:latin typeface="三极黑宋体 纤细" panose="00000300000000000000" charset="-122"/>
                    <a:ea typeface="三极黑宋体 纤细" panose="00000300000000000000" charset="-122"/>
                    <a:cs typeface="三极黑宋体 纤细" panose="00000300000000000000" charset="-122"/>
                  </a:rPr>
                  <a:t>◗ 拍照识景：对准建筑→AI识别+讲解</a:t>
                </a:r>
                <a:endParaRPr sz="1800" b="1" dirty="0" err="1">
                  <a:solidFill>
                    <a:schemeClr val="tx1"/>
                  </a:solidFill>
                  <a:latin typeface="三极黑宋体 纤细" panose="00000300000000000000" charset="-122"/>
                  <a:ea typeface="三极黑宋体 纤细" panose="00000300000000000000" charset="-122"/>
                  <a:cs typeface="三极黑宋体 纤细" panose="00000300000000000000" charset="-122"/>
                </a:endParaRPr>
              </a:p>
            </p:txBody>
          </p:sp>
          <p:sp>
            <p:nvSpPr>
              <p:cNvPr id="41" name="TextBox 32"/>
              <p:cNvSpPr txBox="1"/>
              <p:nvPr/>
            </p:nvSpPr>
            <p:spPr>
              <a:xfrm>
                <a:off x="6698" y="7994"/>
                <a:ext cx="6688" cy="641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>
                  <a:defRPr sz="1300" b="0">
                    <a:solidFill>
                      <a:srgbClr val="4A5568"/>
                    </a:solidFill>
                    <a:latin typeface="微软雅黑" panose="020B0503020204020204" charset="-122"/>
                  </a:defRPr>
                </a:pPr>
                <a:r>
                  <a:rPr sz="1800" b="1" dirty="0" err="1">
                    <a:solidFill>
                      <a:schemeClr val="tx1"/>
                    </a:solidFill>
                    <a:latin typeface="三极黑宋体 纤细" panose="00000300000000000000" charset="-122"/>
                    <a:ea typeface="三极黑宋体 纤细" panose="00000300000000000000" charset="-122"/>
                    <a:cs typeface="三极黑宋体 纤细" panose="00000300000000000000" charset="-122"/>
                  </a:rPr>
                  <a:t>● 语音对话：免提连续对话，边走边说</a:t>
                </a:r>
                <a:endParaRPr sz="1800" b="1" dirty="0" err="1">
                  <a:solidFill>
                    <a:schemeClr val="tx1"/>
                  </a:solidFill>
                  <a:latin typeface="三极黑宋体 纤细" panose="00000300000000000000" charset="-122"/>
                  <a:ea typeface="三极黑宋体 纤细" panose="00000300000000000000" charset="-122"/>
                  <a:cs typeface="三极黑宋体 纤细" panose="00000300000000000000" charset="-122"/>
                </a:endParaRPr>
              </a:p>
            </p:txBody>
          </p:sp>
        </p:grpSp>
      </p:grpSp>
      <p:sp>
        <p:nvSpPr>
          <p:cNvPr id="13" name="TextBox 11"/>
          <p:cNvSpPr txBox="1"/>
          <p:nvPr/>
        </p:nvSpPr>
        <p:spPr>
          <a:xfrm>
            <a:off x="526415" y="2557780"/>
            <a:ext cx="31546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游前 · 出发前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96570" y="2956560"/>
            <a:ext cx="3154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en-US" sz="2400" b="1" dirty="0" err="1">
                <a:solidFill>
                  <a:schemeClr val="accent2"/>
                </a:solidFill>
              </a:rPr>
              <a:t>[ </a:t>
            </a:r>
            <a:r>
              <a:rPr sz="2400" b="1" dirty="0" err="1">
                <a:solidFill>
                  <a:schemeClr val="accent2"/>
                </a:solidFill>
              </a:rPr>
              <a:t>个性化路线规划</a:t>
            </a:r>
            <a:r>
              <a:rPr lang="en-US" sz="2400" b="1" dirty="0" err="1">
                <a:solidFill>
                  <a:schemeClr val="accent2"/>
                </a:solidFill>
              </a:rPr>
              <a:t> ]</a:t>
            </a:r>
            <a:endParaRPr lang="en-US" sz="2400" b="1" dirty="0" err="1">
              <a:solidFill>
                <a:schemeClr val="accent2"/>
              </a:solidFill>
            </a:endParaRPr>
          </a:p>
        </p:txBody>
      </p:sp>
      <p:sp>
        <p:nvSpPr>
          <p:cNvPr id="44" name="TextBox 14"/>
          <p:cNvSpPr txBox="1"/>
          <p:nvPr/>
        </p:nvSpPr>
        <p:spPr>
          <a:xfrm>
            <a:off x="573405" y="3484245"/>
            <a:ext cx="3638550" cy="425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◎ </a:t>
            </a:r>
            <a:r>
              <a:rPr lang="zh-CN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多模态输入</a:t>
            </a:r>
            <a:r>
              <a:rPr lang="en-US" altLang="zh-CN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:</a:t>
            </a:r>
            <a:r>
              <a:rPr lang="zh-CN" altLang="en-US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语音</a:t>
            </a:r>
            <a:r>
              <a:rPr lang="en-US" altLang="zh-CN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|</a:t>
            </a:r>
            <a:r>
              <a:rPr lang="zh-CN" altLang="en-US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文本</a:t>
            </a:r>
            <a:r>
              <a:rPr lang="en-US" altLang="zh-CN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|</a:t>
            </a:r>
            <a:r>
              <a:rPr lang="zh-CN" altLang="en-US"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图片</a:t>
            </a:r>
            <a:endParaRPr lang="en-US" altLang="zh-CN"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46" name="TextBox 16"/>
          <p:cNvSpPr txBox="1"/>
          <p:nvPr/>
        </p:nvSpPr>
        <p:spPr>
          <a:xfrm>
            <a:off x="573405" y="3949700"/>
            <a:ext cx="296481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◴13维状态解析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48" name="TextBox 18"/>
          <p:cNvSpPr txBox="1"/>
          <p:nvPr/>
        </p:nvSpPr>
        <p:spPr>
          <a:xfrm>
            <a:off x="573405" y="4415155"/>
            <a:ext cx="32550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▫ 获取个性化路线+游览建议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50" name="TextBox 20"/>
          <p:cNvSpPr txBox="1"/>
          <p:nvPr/>
        </p:nvSpPr>
        <p:spPr>
          <a:xfrm>
            <a:off x="573405" y="4880610"/>
            <a:ext cx="3308350" cy="364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◻ 扫码即用，无需下载App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53" name="TextBox 36"/>
          <p:cNvSpPr txBox="1"/>
          <p:nvPr/>
        </p:nvSpPr>
        <p:spPr>
          <a:xfrm>
            <a:off x="8552815" y="2291080"/>
            <a:ext cx="3474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en-US" sz="2400" b="1" dirty="0" err="1">
                <a:solidFill>
                  <a:schemeClr val="accent2"/>
                </a:solidFill>
              </a:rPr>
              <a:t>[ </a:t>
            </a:r>
            <a:r>
              <a:rPr sz="2400" b="1" dirty="0" err="1">
                <a:solidFill>
                  <a:schemeClr val="accent2"/>
                </a:solidFill>
              </a:rPr>
              <a:t>反馈闭环</a:t>
            </a:r>
            <a:r>
              <a:rPr lang="en-US" sz="2400" b="1" dirty="0" err="1">
                <a:solidFill>
                  <a:schemeClr val="accent2"/>
                </a:solidFill>
              </a:rPr>
              <a:t> ]</a:t>
            </a:r>
            <a:endParaRPr lang="en-US" sz="2400" b="1" dirty="0" err="1">
              <a:solidFill>
                <a:schemeClr val="accent2"/>
              </a:solidFill>
            </a:endParaRPr>
          </a:p>
        </p:txBody>
      </p:sp>
      <p:sp>
        <p:nvSpPr>
          <p:cNvPr id="55" name="TextBox 38"/>
          <p:cNvSpPr txBox="1"/>
          <p:nvPr/>
        </p:nvSpPr>
        <p:spPr>
          <a:xfrm>
            <a:off x="8759190" y="2773680"/>
            <a:ext cx="32658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★ 对话内即时满意度评分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62" name="TextBox 40"/>
          <p:cNvSpPr txBox="1"/>
          <p:nvPr/>
        </p:nvSpPr>
        <p:spPr>
          <a:xfrm>
            <a:off x="8759190" y="3342005"/>
            <a:ext cx="32658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■ 评价数据进入运营后台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65" name="TextBox 42"/>
          <p:cNvSpPr txBox="1"/>
          <p:nvPr/>
        </p:nvSpPr>
        <p:spPr>
          <a:xfrm>
            <a:off x="8759190" y="3910330"/>
            <a:ext cx="32658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800" b="1" dirty="0" err="1">
                <a:solidFill>
                  <a:schemeClr val="tx1"/>
                </a:solidFill>
                <a:latin typeface="三极黑宋体 纤细" panose="00000300000000000000" charset="-122"/>
                <a:ea typeface="三极黑宋体 纤细" panose="00000300000000000000" charset="-122"/>
                <a:cs typeface="三极黑宋体 纤细" panose="00000300000000000000" charset="-122"/>
              </a:rPr>
              <a:t>🔄 数据驱动服务持续优化</a:t>
            </a:r>
            <a:endParaRPr sz="1800" b="1" dirty="0" err="1">
              <a:solidFill>
                <a:schemeClr val="tx1"/>
              </a:solidFill>
              <a:latin typeface="三极黑宋体 纤细" panose="00000300000000000000" charset="-122"/>
              <a:ea typeface="三极黑宋体 纤细" panose="00000300000000000000" charset="-122"/>
              <a:cs typeface="三极黑宋体 纤细" panose="00000300000000000000" charset="-122"/>
            </a:endParaRPr>
          </a:p>
        </p:txBody>
      </p:sp>
      <p:sp>
        <p:nvSpPr>
          <p:cNvPr id="66" name="TextBox 35"/>
          <p:cNvSpPr txBox="1"/>
          <p:nvPr/>
        </p:nvSpPr>
        <p:spPr>
          <a:xfrm>
            <a:off x="8489315" y="193230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游后 · 离开后</a:t>
            </a:r>
          </a:p>
        </p:txBody>
      </p:sp>
      <p:grpSp>
        <p:nvGrpSpPr>
          <p:cNvPr id="151" name="组合 150"/>
          <p:cNvGrpSpPr/>
          <p:nvPr/>
        </p:nvGrpSpPr>
        <p:grpSpPr>
          <a:xfrm>
            <a:off x="-147320" y="5937250"/>
            <a:ext cx="1828800" cy="796290"/>
            <a:chOff x="16213" y="11675"/>
            <a:chExt cx="2880" cy="1254"/>
          </a:xfrm>
        </p:grpSpPr>
        <p:sp>
          <p:nvSpPr>
            <p:cNvPr id="68" name="TextBox 44"/>
            <p:cNvSpPr txBox="1"/>
            <p:nvPr/>
          </p:nvSpPr>
          <p:spPr>
            <a:xfrm>
              <a:off x="16213" y="11675"/>
              <a:ext cx="2880" cy="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dirty="0">
                  <a:solidFill>
                    <a:srgbClr val="A26841"/>
                  </a:solidFill>
                </a:rPr>
                <a:t>🏯</a:t>
              </a:r>
              <a:endParaRPr dirty="0">
                <a:solidFill>
                  <a:srgbClr val="A26841"/>
                </a:solidFill>
              </a:endParaRPr>
            </a:p>
          </p:txBody>
        </p:sp>
        <p:sp>
          <p:nvSpPr>
            <p:cNvPr id="69" name="TextBox 45"/>
            <p:cNvSpPr txBox="1"/>
            <p:nvPr/>
          </p:nvSpPr>
          <p:spPr>
            <a:xfrm>
              <a:off x="16791" y="12107"/>
              <a:ext cx="2059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>
                  <a:solidFill>
                    <a:srgbClr val="A26841"/>
                  </a:solidFill>
                </a:rPr>
                <a:t>22个核心景点知识</a:t>
              </a:r>
              <a:endParaRPr sz="1400" dirty="0">
                <a:solidFill>
                  <a:srgbClr val="A26841"/>
                </a:solidFill>
              </a:endParaRPr>
            </a:p>
          </p:txBody>
        </p:sp>
      </p:grpSp>
      <p:grpSp>
        <p:nvGrpSpPr>
          <p:cNvPr id="153" name="组合 152"/>
          <p:cNvGrpSpPr/>
          <p:nvPr/>
        </p:nvGrpSpPr>
        <p:grpSpPr>
          <a:xfrm>
            <a:off x="1363980" y="5572125"/>
            <a:ext cx="1828800" cy="580390"/>
            <a:chOff x="16186" y="13682"/>
            <a:chExt cx="2880" cy="914"/>
          </a:xfrm>
        </p:grpSpPr>
        <p:sp>
          <p:nvSpPr>
            <p:cNvPr id="70" name="TextBox 46"/>
            <p:cNvSpPr txBox="1"/>
            <p:nvPr/>
          </p:nvSpPr>
          <p:spPr>
            <a:xfrm>
              <a:off x="16186" y="13682"/>
              <a:ext cx="288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400" b="0" dirty="0" err="1">
                  <a:solidFill>
                    <a:schemeClr val="accent6"/>
                  </a:solidFill>
                </a:rPr>
                <a:t>☆</a:t>
              </a:r>
              <a:endParaRPr sz="1400" b="0" dirty="0" err="1">
                <a:solidFill>
                  <a:schemeClr val="accent6"/>
                </a:solidFill>
              </a:endParaRPr>
            </a:p>
          </p:txBody>
        </p:sp>
        <p:sp>
          <p:nvSpPr>
            <p:cNvPr id="71" name="TextBox 47"/>
            <p:cNvSpPr txBox="1"/>
            <p:nvPr/>
          </p:nvSpPr>
          <p:spPr>
            <a:xfrm>
              <a:off x="16357" y="14114"/>
              <a:ext cx="2537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 err="1">
                  <a:solidFill>
                    <a:schemeClr val="accent6"/>
                  </a:solidFill>
                </a:rPr>
                <a:t>GPS实时位置感知</a:t>
              </a:r>
              <a:endParaRPr sz="1400" dirty="0" err="1">
                <a:solidFill>
                  <a:schemeClr val="accent6"/>
                </a:solidFill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2851150" y="5970905"/>
            <a:ext cx="1828800" cy="777875"/>
            <a:chOff x="16057" y="15523"/>
            <a:chExt cx="2880" cy="1225"/>
          </a:xfrm>
        </p:grpSpPr>
        <p:sp>
          <p:nvSpPr>
            <p:cNvPr id="72" name="TextBox 48"/>
            <p:cNvSpPr txBox="1"/>
            <p:nvPr/>
          </p:nvSpPr>
          <p:spPr>
            <a:xfrm>
              <a:off x="16057" y="15523"/>
              <a:ext cx="288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400" b="0" dirty="0">
                  <a:solidFill>
                    <a:schemeClr val="accent5">
                      <a:lumMod val="75000"/>
                    </a:schemeClr>
                  </a:solidFill>
                </a:rPr>
                <a:t>△</a:t>
              </a:r>
              <a:endParaRPr sz="1400" b="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TextBox 49"/>
            <p:cNvSpPr txBox="1"/>
            <p:nvPr/>
          </p:nvSpPr>
          <p:spPr>
            <a:xfrm>
              <a:off x="16098" y="15926"/>
              <a:ext cx="2742" cy="8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>
                  <a:solidFill>
                    <a:schemeClr val="accent5">
                      <a:lumMod val="75000"/>
                    </a:schemeClr>
                  </a:solidFill>
                </a:rPr>
                <a:t>Live2D数字人渲染</a:t>
              </a:r>
              <a:endParaRPr sz="1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4582795" y="5572125"/>
            <a:ext cx="1469390" cy="783590"/>
            <a:chOff x="16016" y="17311"/>
            <a:chExt cx="2314" cy="1234"/>
          </a:xfrm>
        </p:grpSpPr>
        <p:sp>
          <p:nvSpPr>
            <p:cNvPr id="74" name="TextBox 50"/>
            <p:cNvSpPr txBox="1"/>
            <p:nvPr/>
          </p:nvSpPr>
          <p:spPr>
            <a:xfrm>
              <a:off x="16413" y="17311"/>
              <a:ext cx="1543" cy="5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400" b="0" dirty="0" err="1">
                  <a:solidFill>
                    <a:srgbClr val="C00000"/>
                  </a:solidFill>
                </a:rPr>
                <a:t>🗣</a:t>
              </a:r>
              <a:r>
                <a:rPr dirty="0"/>
                <a:t>️</a:t>
              </a:r>
              <a:endParaRPr dirty="0"/>
            </a:p>
          </p:txBody>
        </p:sp>
        <p:sp>
          <p:nvSpPr>
            <p:cNvPr id="75" name="TextBox 51"/>
            <p:cNvSpPr txBox="1"/>
            <p:nvPr/>
          </p:nvSpPr>
          <p:spPr>
            <a:xfrm>
              <a:off x="16016" y="17723"/>
              <a:ext cx="2314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 err="1">
                  <a:solidFill>
                    <a:srgbClr val="C00000"/>
                  </a:solidFill>
                </a:rPr>
                <a:t>多轮对话+语音闭环</a:t>
              </a:r>
              <a:endParaRPr sz="14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6052185" y="5878830"/>
            <a:ext cx="1828800" cy="828675"/>
            <a:chOff x="16780" y="19018"/>
            <a:chExt cx="2880" cy="1305"/>
          </a:xfrm>
        </p:grpSpPr>
        <p:sp>
          <p:nvSpPr>
            <p:cNvPr id="76" name="TextBox 52"/>
            <p:cNvSpPr txBox="1"/>
            <p:nvPr/>
          </p:nvSpPr>
          <p:spPr>
            <a:xfrm>
              <a:off x="16780" y="19018"/>
              <a:ext cx="288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 err="1">
                  <a:solidFill>
                    <a:schemeClr val="accent6">
                      <a:lumMod val="75000"/>
                    </a:schemeClr>
                  </a:solidFill>
                </a:rPr>
                <a:t>🔄</a:t>
              </a:r>
              <a:endParaRPr sz="1400" dirty="0" err="1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7" name="TextBox 53"/>
            <p:cNvSpPr txBox="1"/>
            <p:nvPr/>
          </p:nvSpPr>
          <p:spPr>
            <a:xfrm>
              <a:off x="17352" y="19501"/>
              <a:ext cx="2108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0">
                  <a:solidFill>
                    <a:srgbClr val="94A3B8"/>
                  </a:solidFill>
                  <a:latin typeface="微软雅黑" panose="020B0503020204020204" charset="-122"/>
                </a:defRPr>
              </a:pPr>
              <a:r>
                <a:rPr sz="1400" dirty="0" err="1">
                  <a:solidFill>
                    <a:schemeClr val="accent6">
                      <a:lumMod val="75000"/>
                    </a:schemeClr>
                  </a:solidFill>
                </a:rPr>
                <a:t>数据驱动持续优化</a:t>
              </a:r>
              <a:endParaRPr sz="1400" dirty="0" err="1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0053320" y="4880610"/>
            <a:ext cx="2218690" cy="52197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300000"/>
              </a:camera>
              <a:lightRig rig="threePt" dir="t"/>
            </a:scene3d>
          </a:bodyPr>
          <a:p>
            <a:pPr>
              <a:spcAft>
                <a:spcPts val="200"/>
              </a:spcAft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tx1"/>
                </a:solidFill>
                <a:latin typeface="汉仪行楷简" panose="02010600000101010101" charset="-122"/>
                <a:ea typeface="汉仪行楷简" panose="02010600000101010101" charset="-122"/>
              </a:rPr>
              <a:t>智能问答</a:t>
            </a:r>
            <a:endParaRPr lang="zh-CN" altLang="en-US" sz="2800" b="1" dirty="0">
              <a:solidFill>
                <a:schemeClr val="tx1"/>
              </a:solidFill>
              <a:latin typeface="汉仪行楷简" panose="02010600000101010101" charset="-122"/>
              <a:ea typeface="汉仪行楷简" panose="02010600000101010101" charset="-122"/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2560" y="7463790"/>
            <a:ext cx="1716405" cy="14478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2780" y="7142480"/>
            <a:ext cx="2125345" cy="2108835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5555" y="7011035"/>
            <a:ext cx="2371725" cy="2371725"/>
          </a:xfrm>
          <a:prstGeom prst="rect">
            <a:avLst/>
          </a:prstGeom>
        </p:spPr>
      </p:pic>
      <p:grpSp>
        <p:nvGrpSpPr>
          <p:cNvPr id="130" name="组合 129"/>
          <p:cNvGrpSpPr/>
          <p:nvPr/>
        </p:nvGrpSpPr>
        <p:grpSpPr>
          <a:xfrm>
            <a:off x="1784985" y="1972310"/>
            <a:ext cx="306070" cy="313055"/>
            <a:chOff x="1223" y="3208"/>
            <a:chExt cx="1840" cy="1874"/>
          </a:xfrm>
          <a:effectLst/>
        </p:grpSpPr>
        <p:sp>
          <p:nvSpPr>
            <p:cNvPr id="128" name="椭圆 127"/>
            <p:cNvSpPr/>
            <p:nvPr/>
          </p:nvSpPr>
          <p:spPr>
            <a:xfrm>
              <a:off x="1223" y="3208"/>
              <a:ext cx="1841" cy="1875"/>
            </a:xfrm>
            <a:prstGeom prst="ellipse">
              <a:avLst/>
            </a:prstGeom>
            <a:gradFill>
              <a:gsLst>
                <a:gs pos="87000">
                  <a:srgbClr val="A26841">
                    <a:alpha val="47000"/>
                  </a:srgbClr>
                </a:gs>
                <a:gs pos="15000">
                  <a:srgbClr val="A26841">
                    <a:alpha val="100000"/>
                  </a:srgbClr>
                </a:gs>
                <a:gs pos="43000">
                  <a:srgbClr val="EEECE1">
                    <a:alpha val="47000"/>
                  </a:srgbClr>
                </a:gs>
                <a:gs pos="68000">
                  <a:srgbClr val="EEECE1">
                    <a:alpha val="87000"/>
                  </a:srgbClr>
                </a:gs>
                <a:gs pos="54000">
                  <a:srgbClr val="EEECE1">
                    <a:alpha val="80000"/>
                  </a:srgbClr>
                </a:gs>
              </a:gsLst>
              <a:lin ang="7500000"/>
            </a:gradFill>
            <a:ln>
              <a:noFill/>
            </a:ln>
            <a:effectLst>
              <a:glow rad="76200">
                <a:schemeClr val="bg1"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1766" y="3761"/>
              <a:ext cx="755" cy="770"/>
            </a:xfrm>
            <a:prstGeom prst="ellipse">
              <a:avLst/>
            </a:prstGeom>
            <a:solidFill>
              <a:srgbClr val="A97450"/>
            </a:solidFill>
            <a:ln>
              <a:noFill/>
            </a:ln>
            <a:effectLst>
              <a:glow rad="101600">
                <a:srgbClr val="EEECE1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32560" y="1084580"/>
            <a:ext cx="3561080" cy="49149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p>
            <a:pPr algn="ctr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800">
                <a:sym typeface="+mn-ea"/>
              </a:rPr>
              <a:t>游客体验全流程</a:t>
            </a:r>
            <a:endParaRPr lang="zh-CN" altLang="en-US" sz="2800" dirty="0">
              <a:sym typeface="+mn-ea"/>
            </a:endParaRP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913765" y="629920"/>
            <a:ext cx="1447800" cy="1447800"/>
          </a:xfrm>
          <a:prstGeom prst="rect">
            <a:avLst/>
          </a:prstGeom>
        </p:spPr>
      </p:pic>
      <p:grpSp>
        <p:nvGrpSpPr>
          <p:cNvPr id="137" name="组合 136"/>
          <p:cNvGrpSpPr/>
          <p:nvPr/>
        </p:nvGrpSpPr>
        <p:grpSpPr>
          <a:xfrm>
            <a:off x="10005060" y="1398270"/>
            <a:ext cx="306070" cy="313055"/>
            <a:chOff x="1223" y="3208"/>
            <a:chExt cx="1840" cy="1874"/>
          </a:xfrm>
          <a:effectLst/>
        </p:grpSpPr>
        <p:sp>
          <p:nvSpPr>
            <p:cNvPr id="138" name="椭圆 137"/>
            <p:cNvSpPr/>
            <p:nvPr/>
          </p:nvSpPr>
          <p:spPr>
            <a:xfrm>
              <a:off x="1223" y="3208"/>
              <a:ext cx="1841" cy="1875"/>
            </a:xfrm>
            <a:prstGeom prst="ellipse">
              <a:avLst/>
            </a:prstGeom>
            <a:gradFill>
              <a:gsLst>
                <a:gs pos="87000">
                  <a:srgbClr val="A26841">
                    <a:alpha val="47000"/>
                  </a:srgbClr>
                </a:gs>
                <a:gs pos="15000">
                  <a:srgbClr val="A26841">
                    <a:alpha val="100000"/>
                  </a:srgbClr>
                </a:gs>
                <a:gs pos="43000">
                  <a:srgbClr val="EEECE1">
                    <a:alpha val="47000"/>
                  </a:srgbClr>
                </a:gs>
                <a:gs pos="68000">
                  <a:srgbClr val="EEECE1">
                    <a:alpha val="87000"/>
                  </a:srgbClr>
                </a:gs>
                <a:gs pos="54000">
                  <a:srgbClr val="EEECE1">
                    <a:alpha val="80000"/>
                  </a:srgbClr>
                </a:gs>
              </a:gsLst>
              <a:lin ang="7500000"/>
            </a:gradFill>
            <a:ln>
              <a:noFill/>
            </a:ln>
            <a:effectLst>
              <a:glow rad="76200">
                <a:schemeClr val="bg1"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766" y="3761"/>
              <a:ext cx="755" cy="770"/>
            </a:xfrm>
            <a:prstGeom prst="ellipse">
              <a:avLst/>
            </a:prstGeom>
            <a:solidFill>
              <a:srgbClr val="A97450"/>
            </a:solidFill>
            <a:ln>
              <a:noFill/>
            </a:ln>
            <a:effectLst>
              <a:glow rad="101600">
                <a:srgbClr val="EEECE1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6052185" y="1755775"/>
            <a:ext cx="306070" cy="313055"/>
            <a:chOff x="1223" y="3208"/>
            <a:chExt cx="1840" cy="1874"/>
          </a:xfrm>
          <a:effectLst/>
        </p:grpSpPr>
        <p:sp>
          <p:nvSpPr>
            <p:cNvPr id="141" name="椭圆 140"/>
            <p:cNvSpPr/>
            <p:nvPr/>
          </p:nvSpPr>
          <p:spPr>
            <a:xfrm>
              <a:off x="1223" y="3208"/>
              <a:ext cx="1841" cy="1875"/>
            </a:xfrm>
            <a:prstGeom prst="ellipse">
              <a:avLst/>
            </a:prstGeom>
            <a:gradFill>
              <a:gsLst>
                <a:gs pos="87000">
                  <a:srgbClr val="A26841">
                    <a:alpha val="47000"/>
                  </a:srgbClr>
                </a:gs>
                <a:gs pos="15000">
                  <a:srgbClr val="A26841">
                    <a:alpha val="100000"/>
                  </a:srgbClr>
                </a:gs>
                <a:gs pos="43000">
                  <a:srgbClr val="EEECE1">
                    <a:alpha val="47000"/>
                  </a:srgbClr>
                </a:gs>
                <a:gs pos="68000">
                  <a:srgbClr val="EEECE1">
                    <a:alpha val="87000"/>
                  </a:srgbClr>
                </a:gs>
                <a:gs pos="54000">
                  <a:srgbClr val="EEECE1">
                    <a:alpha val="80000"/>
                  </a:srgbClr>
                </a:gs>
              </a:gsLst>
              <a:lin ang="7500000"/>
            </a:gradFill>
            <a:ln>
              <a:noFill/>
            </a:ln>
            <a:effectLst>
              <a:glow rad="76200">
                <a:schemeClr val="bg1"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766" y="3761"/>
              <a:ext cx="755" cy="770"/>
            </a:xfrm>
            <a:prstGeom prst="ellipse">
              <a:avLst/>
            </a:prstGeom>
            <a:solidFill>
              <a:srgbClr val="A97450"/>
            </a:solidFill>
            <a:ln>
              <a:noFill/>
            </a:ln>
            <a:effectLst>
              <a:glow rad="101600">
                <a:srgbClr val="EEECE1">
                  <a:alpha val="40000"/>
                </a:srgb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pic>
        <p:nvPicPr>
          <p:cNvPr id="150" name="图片 14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4098925" y="604520"/>
            <a:ext cx="1447800" cy="1447800"/>
          </a:xfrm>
          <a:prstGeom prst="rect">
            <a:avLst/>
          </a:prstGeom>
        </p:spPr>
      </p:pic>
      <p:sp>
        <p:nvSpPr>
          <p:cNvPr id="157" name="文本框 156"/>
          <p:cNvSpPr txBox="1"/>
          <p:nvPr/>
        </p:nvSpPr>
        <p:spPr>
          <a:xfrm>
            <a:off x="9271635" y="5330825"/>
            <a:ext cx="2381250" cy="52197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300000"/>
              </a:camera>
              <a:lightRig rig="threePt" dir="t"/>
            </a:scene3d>
          </a:bodyPr>
          <a:p>
            <a:pPr>
              <a:spcAft>
                <a:spcPts val="200"/>
              </a:spcAft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tx1"/>
                </a:solidFill>
                <a:latin typeface="汉仪行楷简" panose="02010600000101010101" charset="-122"/>
                <a:ea typeface="汉仪行楷简" panose="02010600000101010101" charset="-122"/>
                <a:sym typeface="+mn-ea"/>
              </a:rPr>
              <a:t>多模态交互</a:t>
            </a:r>
            <a:endParaRPr lang="zh-CN" altLang="en-US" dirty="0"/>
          </a:p>
        </p:txBody>
      </p:sp>
      <p:sp>
        <p:nvSpPr>
          <p:cNvPr id="158" name="文本框 157"/>
          <p:cNvSpPr txBox="1"/>
          <p:nvPr/>
        </p:nvSpPr>
        <p:spPr>
          <a:xfrm>
            <a:off x="9921240" y="5775325"/>
            <a:ext cx="2042795" cy="52197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300000"/>
              </a:camera>
              <a:lightRig rig="threePt" dir="t"/>
            </a:scene3d>
          </a:bodyPr>
          <a:p>
            <a:pPr>
              <a:spcAft>
                <a:spcPts val="200"/>
              </a:spcAft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tx1"/>
                </a:solidFill>
                <a:latin typeface="汉仪行楷简" panose="02010600000101010101" charset="-122"/>
                <a:ea typeface="汉仪行楷简" panose="02010600000101010101" charset="-122"/>
                <a:sym typeface="+mn-ea"/>
              </a:rPr>
              <a:t>个性化推荐</a:t>
            </a:r>
            <a:endParaRPr lang="zh-CN" altLang="en-US" dirty="0"/>
          </a:p>
        </p:txBody>
      </p:sp>
      <p:sp>
        <p:nvSpPr>
          <p:cNvPr id="159" name="文本框 158"/>
          <p:cNvSpPr txBox="1"/>
          <p:nvPr/>
        </p:nvSpPr>
        <p:spPr>
          <a:xfrm>
            <a:off x="9260205" y="6226810"/>
            <a:ext cx="2846705" cy="52197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300000"/>
              </a:camera>
              <a:lightRig rig="threePt" dir="t"/>
            </a:scene3d>
          </a:bodyPr>
          <a:p>
            <a:pPr algn="l">
              <a:spcAft>
                <a:spcPts val="200"/>
              </a:spcAft>
              <a:defRPr sz="14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lang="zh-CN" altLang="en-US" sz="2800" b="1" dirty="0">
                <a:solidFill>
                  <a:schemeClr val="tx1"/>
                </a:solidFill>
                <a:latin typeface="汉仪行楷简" panose="02010600000101010101" charset="-122"/>
                <a:ea typeface="汉仪行楷简" panose="02010600000101010101" charset="-122"/>
                <a:sym typeface="+mn-ea"/>
              </a:rPr>
              <a:t>情感互动</a:t>
            </a:r>
            <a:endParaRPr lang="zh-CN" altLang="en-US" dirty="0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39"/>
          <p:cNvSpPr/>
          <p:nvPr/>
        </p:nvSpPr>
        <p:spPr>
          <a:xfrm>
            <a:off x="918210" y="2898140"/>
            <a:ext cx="10908030" cy="3850640"/>
          </a:xfrm>
          <a:prstGeom prst="rect">
            <a:avLst/>
          </a:prstGeom>
          <a:solidFill>
            <a:srgbClr val="FEF9F0">
              <a:alpha val="6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圆角矩形 180"/>
          <p:cNvSpPr/>
          <p:nvPr/>
        </p:nvSpPr>
        <p:spPr>
          <a:xfrm>
            <a:off x="2329815" y="3760470"/>
            <a:ext cx="9221470" cy="611505"/>
          </a:xfrm>
          <a:prstGeom prst="roundRect">
            <a:avLst/>
          </a:prstGeom>
          <a:solidFill>
            <a:schemeClr val="bg1"/>
          </a:solidFill>
          <a:ln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2" name="Rectangle 8"/>
          <p:cNvSpPr/>
          <p:nvPr/>
        </p:nvSpPr>
        <p:spPr>
          <a:xfrm>
            <a:off x="1117600" y="3752215"/>
            <a:ext cx="1306195" cy="6121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圆角矩形 181"/>
          <p:cNvSpPr/>
          <p:nvPr/>
        </p:nvSpPr>
        <p:spPr>
          <a:xfrm>
            <a:off x="2329815" y="4507230"/>
            <a:ext cx="9221470" cy="611505"/>
          </a:xfrm>
          <a:prstGeom prst="roundRect">
            <a:avLst/>
          </a:prstGeom>
          <a:solidFill>
            <a:schemeClr val="bg1"/>
          </a:solidFill>
          <a:ln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3" name="Rectangle 27"/>
          <p:cNvSpPr/>
          <p:nvPr/>
        </p:nvSpPr>
        <p:spPr>
          <a:xfrm>
            <a:off x="1117600" y="4499610"/>
            <a:ext cx="1306195" cy="6121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圆角矩形 183"/>
          <p:cNvSpPr/>
          <p:nvPr/>
        </p:nvSpPr>
        <p:spPr>
          <a:xfrm>
            <a:off x="2202815" y="6002020"/>
            <a:ext cx="9347835" cy="611505"/>
          </a:xfrm>
          <a:prstGeom prst="roundRect">
            <a:avLst/>
          </a:prstGeom>
          <a:solidFill>
            <a:schemeClr val="bg1"/>
          </a:solidFill>
          <a:ln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83" name="圆角矩形 182"/>
          <p:cNvSpPr/>
          <p:nvPr/>
        </p:nvSpPr>
        <p:spPr>
          <a:xfrm>
            <a:off x="2286635" y="5255260"/>
            <a:ext cx="9264015" cy="611505"/>
          </a:xfrm>
          <a:prstGeom prst="roundRect">
            <a:avLst/>
          </a:prstGeom>
          <a:solidFill>
            <a:schemeClr val="bg1"/>
          </a:solidFill>
          <a:ln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80" name="圆角矩形 179"/>
          <p:cNvSpPr/>
          <p:nvPr/>
        </p:nvSpPr>
        <p:spPr>
          <a:xfrm>
            <a:off x="2202815" y="3005455"/>
            <a:ext cx="9347835" cy="611505"/>
          </a:xfrm>
          <a:prstGeom prst="roundRect">
            <a:avLst/>
          </a:prstGeom>
          <a:solidFill>
            <a:schemeClr val="bg1"/>
          </a:solidFill>
          <a:ln>
            <a:solidFill>
              <a:srgbClr val="C9A9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4" name="Rectangle 46"/>
          <p:cNvSpPr/>
          <p:nvPr/>
        </p:nvSpPr>
        <p:spPr>
          <a:xfrm>
            <a:off x="1117600" y="5247005"/>
            <a:ext cx="1306195" cy="6121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65"/>
          <p:cNvSpPr/>
          <p:nvPr/>
        </p:nvSpPr>
        <p:spPr>
          <a:xfrm>
            <a:off x="1117600" y="5994400"/>
            <a:ext cx="1306195" cy="6121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0"/>
          <p:cNvSpPr/>
          <p:nvPr/>
        </p:nvSpPr>
        <p:spPr>
          <a:xfrm>
            <a:off x="1117600" y="3004820"/>
            <a:ext cx="1308100" cy="6121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文本框 114"/>
          <p:cNvSpPr txBox="1"/>
          <p:nvPr/>
        </p:nvSpPr>
        <p:spPr>
          <a:xfrm>
            <a:off x="1133475" y="3081020"/>
            <a:ext cx="1554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i="1">
                <a:solidFill>
                  <a:schemeClr val="bg1"/>
                </a:solidFill>
                <a:latin typeface="印品酷黑体" panose="00000805000000000000" charset="-122"/>
                <a:ea typeface="印品酷黑体" panose="00000805000000000000" charset="-122"/>
              </a:rPr>
              <a:t>表现层</a:t>
            </a:r>
            <a:endParaRPr lang="zh-CN" altLang="en-US" sz="2400" b="1" i="1">
              <a:solidFill>
                <a:schemeClr val="bg1"/>
              </a:solidFill>
              <a:latin typeface="印品酷黑体" panose="00000805000000000000" charset="-122"/>
              <a:ea typeface="印品酷黑体" panose="00000805000000000000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1133475" y="3828415"/>
            <a:ext cx="1465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i="1">
                <a:solidFill>
                  <a:schemeClr val="bg1"/>
                </a:solidFill>
                <a:latin typeface="印品酷黑体" panose="00000805000000000000" charset="-122"/>
                <a:ea typeface="印品酷黑体" panose="00000805000000000000" charset="-122"/>
              </a:rPr>
              <a:t>规划层</a:t>
            </a:r>
            <a:endParaRPr lang="zh-CN" altLang="en-US" sz="2400" b="1" i="1">
              <a:solidFill>
                <a:schemeClr val="bg1"/>
              </a:solidFill>
              <a:latin typeface="印品酷黑体" panose="00000805000000000000" charset="-122"/>
              <a:ea typeface="印品酷黑体" panose="00000805000000000000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1133475" y="4575810"/>
            <a:ext cx="1708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i="1">
                <a:solidFill>
                  <a:schemeClr val="bg1"/>
                </a:solidFill>
                <a:latin typeface="印品酷黑体" panose="00000805000000000000" charset="-122"/>
                <a:ea typeface="印品酷黑体" panose="00000805000000000000" charset="-122"/>
              </a:rPr>
              <a:t>知识层</a:t>
            </a:r>
            <a:endParaRPr lang="zh-CN" altLang="en-US" sz="2400" b="1" i="1">
              <a:solidFill>
                <a:schemeClr val="bg1"/>
              </a:solidFill>
              <a:latin typeface="印品酷黑体" panose="00000805000000000000" charset="-122"/>
              <a:ea typeface="印品酷黑体" panose="00000805000000000000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133475" y="5281930"/>
            <a:ext cx="1766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i="1">
                <a:solidFill>
                  <a:schemeClr val="bg1"/>
                </a:solidFill>
                <a:latin typeface="印品酷黑体" panose="00000805000000000000" charset="-122"/>
                <a:ea typeface="印品酷黑体" panose="00000805000000000000" charset="-122"/>
              </a:rPr>
              <a:t>状态层</a:t>
            </a:r>
            <a:endParaRPr lang="zh-CN" altLang="en-US" sz="2400" b="1" i="1">
              <a:solidFill>
                <a:schemeClr val="bg1"/>
              </a:solidFill>
              <a:latin typeface="印品酷黑体" panose="00000805000000000000" charset="-122"/>
              <a:ea typeface="印品酷黑体" panose="00000805000000000000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133475" y="6049010"/>
            <a:ext cx="1889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i="1">
                <a:solidFill>
                  <a:schemeClr val="bg1"/>
                </a:solidFill>
                <a:latin typeface="印品酷黑体" panose="00000805000000000000" charset="-122"/>
                <a:ea typeface="印品酷黑体" panose="00000805000000000000" charset="-122"/>
              </a:rPr>
              <a:t>底座层</a:t>
            </a:r>
            <a:endParaRPr lang="zh-CN" altLang="en-US" sz="2400" b="1" i="1">
              <a:solidFill>
                <a:schemeClr val="bg1"/>
              </a:solidFill>
              <a:latin typeface="印品酷黑体" panose="00000805000000000000" charset="-122"/>
              <a:ea typeface="印品酷黑体" panose="00000805000000000000" charset="-122"/>
            </a:endParaRPr>
          </a:p>
        </p:txBody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1">
            <a:biLevel thresh="25000"/>
          </a:blip>
          <a:stretch>
            <a:fillRect/>
          </a:stretch>
        </p:blipFill>
        <p:spPr>
          <a:xfrm>
            <a:off x="635" y="1341755"/>
            <a:ext cx="12484100" cy="187642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311640" y="1376680"/>
            <a:ext cx="84264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0">
                      <a:srgbClr val="D6B784">
                        <a:alpha val="82000"/>
                      </a:srgb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16200000" scaled="0"/>
                  <a:tileRect/>
                </a:gradFill>
                <a:effectLst/>
                <a:latin typeface="字魂方悦黑" panose="00000500000000000000" charset="-122"/>
                <a:ea typeface="字魂方悦黑" panose="00000500000000000000" charset="-122"/>
              </a:rPr>
              <a:t>05</a:t>
            </a:r>
            <a:endParaRPr lang="en-US" altLang="zh-CN" sz="3200" b="1">
              <a:gradFill>
                <a:gsLst>
                  <a:gs pos="0">
                    <a:srgbClr val="D6B784">
                      <a:alpha val="82000"/>
                    </a:srgb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6200000" scaled="0"/>
                <a:tileRect/>
              </a:gradFill>
              <a:effectLst/>
              <a:latin typeface="字魂方悦黑" panose="00000500000000000000" charset="-122"/>
              <a:ea typeface="字魂方悦黑" panose="000005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059930" y="1376680"/>
            <a:ext cx="84264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0">
                      <a:srgbClr val="D6B784">
                        <a:alpha val="82000"/>
                      </a:srgb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16200000" scaled="0"/>
                  <a:tileRect/>
                </a:gradFill>
                <a:effectLst/>
                <a:latin typeface="字魂方悦黑" panose="00000500000000000000" charset="-122"/>
                <a:ea typeface="字魂方悦黑" panose="00000500000000000000" charset="-122"/>
              </a:rPr>
              <a:t>04</a:t>
            </a:r>
            <a:endParaRPr lang="en-US" altLang="zh-CN" sz="3200" b="1">
              <a:gradFill>
                <a:gsLst>
                  <a:gs pos="0">
                    <a:srgbClr val="D6B784">
                      <a:alpha val="82000"/>
                    </a:srgb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6200000" scaled="0"/>
                <a:tileRect/>
              </a:gradFill>
              <a:effectLst/>
              <a:latin typeface="字魂方悦黑" panose="00000500000000000000" charset="-122"/>
              <a:ea typeface="字魂方悦黑" panose="00000500000000000000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29810" y="1376680"/>
            <a:ext cx="84264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0">
                      <a:srgbClr val="D6B784">
                        <a:alpha val="82000"/>
                      </a:srgb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16200000" scaled="0"/>
                  <a:tileRect/>
                </a:gradFill>
                <a:effectLst/>
                <a:latin typeface="字魂方悦黑" panose="00000500000000000000" charset="-122"/>
                <a:ea typeface="字魂方悦黑" panose="00000500000000000000" charset="-122"/>
              </a:rPr>
              <a:t>03</a:t>
            </a:r>
            <a:endParaRPr lang="en-US" altLang="zh-CN" sz="3200" b="1">
              <a:gradFill>
                <a:gsLst>
                  <a:gs pos="0">
                    <a:srgbClr val="D6B784">
                      <a:alpha val="82000"/>
                    </a:srgb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6200000" scaled="0"/>
                <a:tileRect/>
              </a:gradFill>
              <a:effectLst/>
              <a:latin typeface="字魂方悦黑" panose="00000500000000000000" charset="-122"/>
              <a:ea typeface="字魂方悦黑" panose="000005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536190" y="1351915"/>
            <a:ext cx="84264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0">
                      <a:srgbClr val="D6B784">
                        <a:alpha val="82000"/>
                      </a:srgb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16200000" scaled="0"/>
                  <a:tileRect/>
                </a:gradFill>
                <a:effectLst/>
                <a:latin typeface="字魂方悦黑" panose="00000500000000000000" charset="-122"/>
                <a:ea typeface="字魂方悦黑" panose="00000500000000000000" charset="-122"/>
              </a:rPr>
              <a:t>02</a:t>
            </a:r>
            <a:endParaRPr lang="en-US" altLang="zh-CN" sz="3200" b="1">
              <a:gradFill>
                <a:gsLst>
                  <a:gs pos="0">
                    <a:srgbClr val="D6B784">
                      <a:alpha val="82000"/>
                    </a:srgb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6200000" scaled="0"/>
                <a:tileRect/>
              </a:gradFill>
              <a:effectLst/>
              <a:latin typeface="字魂方悦黑" panose="00000500000000000000" charset="-122"/>
              <a:ea typeface="字魂方悦黑" panose="000005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" y="1816100"/>
            <a:ext cx="756920" cy="75692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2382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619315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68085" y="160655"/>
            <a:ext cx="1674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3190" y="102870"/>
            <a:ext cx="2216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技术架构</a:t>
            </a:r>
            <a:endParaRPr lang="zh-CN" altLang="en-US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484505" y="750570"/>
            <a:ext cx="10857865" cy="678180"/>
            <a:chOff x="763" y="1094"/>
            <a:chExt cx="17099" cy="106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" y="1094"/>
              <a:ext cx="1175" cy="1068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784" y="1306"/>
              <a:ext cx="1607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800" b="1" spc="130" dirty="0">
                  <a:solidFill>
                    <a:srgbClr val="242A2E"/>
                  </a:solidFill>
                  <a:uFillTx/>
                  <a:latin typeface="方正铭石体 简" panose="02000500000000000000" charset="-122"/>
                  <a:ea typeface="方正铭石体 简" panose="02000500000000000000" charset="-122"/>
                  <a:cs typeface="方正铭石体 简" panose="02000500000000000000" charset="-122"/>
                  <a:sym typeface="+mn-ea"/>
                </a:rPr>
                <a:t>构建覆盖「问—懂—查—规划—交互」的 AI 导游闭环</a:t>
              </a:r>
              <a:endParaRPr lang="en-US" altLang="en-US" sz="2800" b="1" spc="130" dirty="0">
                <a:solidFill>
                  <a:srgbClr val="242A2E"/>
                </a:solidFill>
                <a:uFillTx/>
                <a:latin typeface="方正铭石体 简" panose="02000500000000000000" charset="-122"/>
                <a:ea typeface="方正铭石体 简" panose="02000500000000000000" charset="-122"/>
                <a:cs typeface="方正铭石体 简" panose="02000500000000000000" charset="-122"/>
                <a:sym typeface="+mn-ea"/>
              </a:endParaRPr>
            </a:p>
          </p:txBody>
        </p:sp>
      </p:grpSp>
      <p:sp>
        <p:nvSpPr>
          <p:cNvPr id="13" name="剪去单角的矩形 12"/>
          <p:cNvSpPr/>
          <p:nvPr/>
        </p:nvSpPr>
        <p:spPr>
          <a:xfrm flipH="1">
            <a:off x="2908935" y="1602105"/>
            <a:ext cx="1764665" cy="900000"/>
          </a:xfrm>
          <a:prstGeom prst="snip1Rect">
            <a:avLst>
              <a:gd name="adj" fmla="val 26108"/>
            </a:avLst>
          </a:prstGeom>
          <a:solidFill>
            <a:srgbClr val="DDC399">
              <a:alpha val="98000"/>
            </a:srgbClr>
          </a:solidFill>
          <a:ln w="12700">
            <a:solidFill>
              <a:srgbClr val="9C643E"/>
            </a:solidFill>
          </a:ln>
          <a:effectLst>
            <a:glow rad="63500">
              <a:srgbClr val="A66A42">
                <a:alpha val="40000"/>
              </a:srgbClr>
            </a:glo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6" name="剪去单角的矩形 15"/>
          <p:cNvSpPr/>
          <p:nvPr/>
        </p:nvSpPr>
        <p:spPr>
          <a:xfrm flipH="1">
            <a:off x="5175885" y="1602105"/>
            <a:ext cx="1764665" cy="900000"/>
          </a:xfrm>
          <a:prstGeom prst="snip1Rect">
            <a:avLst>
              <a:gd name="adj" fmla="val 26108"/>
            </a:avLst>
          </a:prstGeom>
          <a:solidFill>
            <a:srgbClr val="DDC399">
              <a:alpha val="98000"/>
            </a:srgbClr>
          </a:solidFill>
          <a:ln w="12700">
            <a:solidFill>
              <a:srgbClr val="9C643E"/>
            </a:solidFill>
          </a:ln>
          <a:effectLst>
            <a:glow rad="63500">
              <a:srgbClr val="A66A42">
                <a:alpha val="40000"/>
              </a:srgbClr>
            </a:glo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8" name="剪去单角的矩形 17"/>
          <p:cNvSpPr/>
          <p:nvPr/>
        </p:nvSpPr>
        <p:spPr>
          <a:xfrm flipH="1">
            <a:off x="7442835" y="1602105"/>
            <a:ext cx="1764665" cy="900000"/>
          </a:xfrm>
          <a:prstGeom prst="snip1Rect">
            <a:avLst>
              <a:gd name="adj" fmla="val 26108"/>
            </a:avLst>
          </a:prstGeom>
          <a:solidFill>
            <a:srgbClr val="DDC399">
              <a:alpha val="98000"/>
            </a:srgbClr>
          </a:solidFill>
          <a:ln w="12700">
            <a:solidFill>
              <a:srgbClr val="9C643E"/>
            </a:solidFill>
          </a:ln>
          <a:effectLst>
            <a:glow rad="63500">
              <a:srgbClr val="A66A42">
                <a:alpha val="40000"/>
              </a:srgbClr>
            </a:glo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9" name="剪去单角的矩形 18"/>
          <p:cNvSpPr/>
          <p:nvPr/>
        </p:nvSpPr>
        <p:spPr>
          <a:xfrm flipH="1">
            <a:off x="9709785" y="1602105"/>
            <a:ext cx="1764665" cy="900000"/>
          </a:xfrm>
          <a:prstGeom prst="snip1Rect">
            <a:avLst>
              <a:gd name="adj" fmla="val 26108"/>
            </a:avLst>
          </a:prstGeom>
          <a:solidFill>
            <a:srgbClr val="DDC399">
              <a:alpha val="98000"/>
            </a:srgbClr>
          </a:solidFill>
          <a:ln w="12700">
            <a:solidFill>
              <a:srgbClr val="9C643E"/>
            </a:solidFill>
          </a:ln>
          <a:effectLst>
            <a:glow rad="63500">
              <a:srgbClr val="A66A42">
                <a:alpha val="40000"/>
              </a:srgbClr>
            </a:glo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0" y="1717040"/>
            <a:ext cx="756920" cy="75692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750" y="1717040"/>
            <a:ext cx="756920" cy="75692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700" y="1717040"/>
            <a:ext cx="756920" cy="75692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rcRect l="52597" t="52316"/>
          <a:stretch>
            <a:fillRect/>
          </a:stretch>
        </p:blipFill>
        <p:spPr>
          <a:xfrm>
            <a:off x="4518660" y="2360930"/>
            <a:ext cx="534035" cy="53721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095" y="2362835"/>
            <a:ext cx="504190" cy="5035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5605" y="1351915"/>
            <a:ext cx="84264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0">
                      <a:srgbClr val="D6B784">
                        <a:alpha val="82000"/>
                      </a:srgbClr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16200000" scaled="0"/>
                  <a:tileRect/>
                </a:gradFill>
                <a:effectLst/>
                <a:latin typeface="字魂方悦黑" panose="00000500000000000000" charset="-122"/>
                <a:ea typeface="字魂方悦黑" panose="00000500000000000000" charset="-122"/>
              </a:rPr>
              <a:t>01</a:t>
            </a:r>
            <a:endParaRPr lang="en-US" altLang="zh-CN" sz="3200" b="1">
              <a:gradFill>
                <a:gsLst>
                  <a:gs pos="0">
                    <a:srgbClr val="D6B784">
                      <a:alpha val="82000"/>
                    </a:srgbClr>
                  </a:gs>
                  <a:gs pos="100000">
                    <a:schemeClr val="accent6">
                      <a:lumMod val="50000"/>
                    </a:schemeClr>
                  </a:gs>
                </a:gsLst>
                <a:lin ang="16200000" scaled="0"/>
                <a:tileRect/>
              </a:gradFill>
              <a:effectLst/>
              <a:latin typeface="字魂方悦黑" panose="00000500000000000000" charset="-122"/>
              <a:ea typeface="字魂方悦黑" panose="00000500000000000000" charset="-122"/>
            </a:endParaRPr>
          </a:p>
        </p:txBody>
      </p:sp>
      <p:sp>
        <p:nvSpPr>
          <p:cNvPr id="10" name="剪去单角的矩形 9"/>
          <p:cNvSpPr/>
          <p:nvPr/>
        </p:nvSpPr>
        <p:spPr>
          <a:xfrm flipH="1">
            <a:off x="641985" y="1602105"/>
            <a:ext cx="1764665" cy="899795"/>
          </a:xfrm>
          <a:prstGeom prst="snip1Rect">
            <a:avLst>
              <a:gd name="adj" fmla="val 26108"/>
            </a:avLst>
          </a:prstGeom>
          <a:solidFill>
            <a:srgbClr val="DDC399">
              <a:alpha val="98000"/>
            </a:srgbClr>
          </a:solidFill>
          <a:ln w="12700">
            <a:solidFill>
              <a:srgbClr val="9C643E"/>
            </a:solidFill>
          </a:ln>
          <a:effectLst>
            <a:glow rad="63500">
              <a:srgbClr val="A66A42">
                <a:alpha val="40000"/>
              </a:srgbClr>
            </a:glo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635" y="2298700"/>
            <a:ext cx="429895" cy="50673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868045" y="1602105"/>
            <a:ext cx="608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游客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50570" y="1953260"/>
            <a:ext cx="18700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图片输入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7220" y="2198370"/>
            <a:ext cx="1978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React 19+Live2D游客端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024505" y="1633220"/>
            <a:ext cx="2137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意图与状态解析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301615" y="1633220"/>
            <a:ext cx="1823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spc="-9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三路RAG+约束规则</a:t>
            </a:r>
            <a:endParaRPr lang="zh-CN" altLang="en-US" sz="1600" spc="-9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698105" y="1633220"/>
            <a:ext cx="1383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有证据生成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800590" y="1633220"/>
            <a:ext cx="20256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spc="-90">
                <a:solidFill>
                  <a:schemeClr val="tx1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数字人多模态输出</a:t>
            </a:r>
            <a:endParaRPr lang="zh-CN" altLang="en-US" sz="1600" spc="-90">
              <a:solidFill>
                <a:schemeClr val="tx1"/>
              </a:solidFill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908935" y="1903730"/>
            <a:ext cx="1674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谁·在哪·还有多少时间·能否走台阶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238115" y="1899920"/>
            <a:ext cx="1675130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多路检索拿事实，图搜索算可执行路线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923145" y="1948180"/>
            <a:ext cx="18700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语音·地图·推荐·陪伴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464425" y="1899920"/>
            <a:ext cx="17430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基于检索证据组织回答，不绕过硬约束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851785" y="2198370"/>
            <a:ext cx="1978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scene-extractor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13</a:t>
            </a:r>
            <a:r>
              <a:rPr lang="zh-CN" altLang="en-US" sz="1200">
                <a:solidFill>
                  <a:schemeClr val="bg1"/>
                </a:solidFill>
              </a:rPr>
              <a:t>维槽位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095875" y="2198370"/>
            <a:ext cx="1978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retriever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planner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validator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512050" y="2198370"/>
            <a:ext cx="1978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llm-service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Zod 校验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681845" y="2198370"/>
            <a:ext cx="27031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WebSocket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TTS</a:t>
            </a:r>
            <a:r>
              <a:rPr lang="en-US" sz="1200" b="1">
                <a:solidFill>
                  <a:schemeClr val="bg1"/>
                </a:solidFill>
              </a:rPr>
              <a:t>·</a:t>
            </a:r>
            <a:r>
              <a:rPr lang="en-US" sz="1200">
                <a:solidFill>
                  <a:schemeClr val="bg1"/>
                </a:solidFill>
              </a:rPr>
              <a:t>Live2D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 t="50023" r="46935"/>
          <a:stretch>
            <a:fillRect/>
          </a:stretch>
        </p:blipFill>
        <p:spPr>
          <a:xfrm>
            <a:off x="8910955" y="2298700"/>
            <a:ext cx="608965" cy="57404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9"/>
          <a:srcRect l="46292" t="48617" b="13038"/>
          <a:stretch>
            <a:fillRect/>
          </a:stretch>
        </p:blipFill>
        <p:spPr>
          <a:xfrm>
            <a:off x="11316970" y="2251710"/>
            <a:ext cx="609600" cy="581025"/>
          </a:xfrm>
          <a:prstGeom prst="rect">
            <a:avLst/>
          </a:prstGeom>
        </p:spPr>
      </p:pic>
      <p:sp>
        <p:nvSpPr>
          <p:cNvPr id="102" name="文本框 101"/>
          <p:cNvSpPr txBox="1"/>
          <p:nvPr/>
        </p:nvSpPr>
        <p:spPr>
          <a:xfrm>
            <a:off x="118745" y="3731260"/>
            <a:ext cx="622300" cy="2426970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p>
            <a:r>
              <a:rPr lang="zh-CN" altLang="en-US" sz="2800" b="1" spc="160" dirty="0">
                <a:solidFill>
                  <a:srgbClr val="242A2E"/>
                </a:solidFill>
                <a:uFillTx/>
                <a:latin typeface="方正铭石体 简" panose="02000500000000000000" charset="-122"/>
                <a:ea typeface="方正铭石体 简" panose="02000500000000000000" charset="-122"/>
                <a:cs typeface="方正铭石体 简" panose="02000500000000000000" charset="-122"/>
                <a:sym typeface="+mn-ea"/>
              </a:rPr>
              <a:t>五层解耦架构</a:t>
            </a:r>
            <a:endParaRPr lang="zh-CN" altLang="en-US" sz="2800" b="1" spc="160" dirty="0">
              <a:solidFill>
                <a:srgbClr val="242A2E"/>
              </a:solidFill>
              <a:uFillTx/>
              <a:latin typeface="方正铭石体 简" panose="02000500000000000000" charset="-122"/>
              <a:ea typeface="方正铭石体 简" panose="02000500000000000000" charset="-122"/>
              <a:cs typeface="方正铭石体 简" panose="02000500000000000000" charset="-122"/>
              <a:sym typeface="+mn-ea"/>
            </a:endParaRPr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0955" y="3004820"/>
            <a:ext cx="939165" cy="1022350"/>
          </a:xfrm>
          <a:prstGeom prst="rect">
            <a:avLst/>
          </a:prstGeom>
        </p:spPr>
      </p:pic>
      <p:grpSp>
        <p:nvGrpSpPr>
          <p:cNvPr id="186" name="组合 185"/>
          <p:cNvGrpSpPr/>
          <p:nvPr/>
        </p:nvGrpSpPr>
        <p:grpSpPr>
          <a:xfrm>
            <a:off x="5379720" y="7708900"/>
            <a:ext cx="7451090" cy="2734945"/>
            <a:chOff x="8632" y="6145"/>
            <a:chExt cx="11734" cy="4307"/>
          </a:xfrm>
        </p:grpSpPr>
        <p:sp>
          <p:nvSpPr>
            <p:cNvPr id="116" name="文本框 115"/>
            <p:cNvSpPr txBox="1"/>
            <p:nvPr/>
          </p:nvSpPr>
          <p:spPr>
            <a:xfrm>
              <a:off x="8632" y="6145"/>
              <a:ext cx="1068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Live2D情绪驱动·QAPage/RecommendPage双屏·证据追溯</a:t>
              </a:r>
              <a:endParaRPr lang="zh-CN" altLang="en-US" sz="1400" b="1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8632" y="7077"/>
              <a:ext cx="9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Dijkstra无障碍子图过滤·24宽Beam Search·倒排时空推演</a:t>
              </a:r>
              <a:r>
                <a:rPr lang="en-US"/>
                <a:t> </a:t>
              </a:r>
              <a:endParaRPr lang="en-US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8632" y="8106"/>
              <a:ext cx="84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三路并行检索·RRF k=60·重排·官方兜底</a:t>
              </a:r>
              <a:endParaRPr lang="zh-CN" altLang="en-US" sz="1400" b="1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632" y="9038"/>
              <a:ext cx="1173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 b="1"/>
                <a:t>13</a:t>
              </a:r>
              <a:r>
                <a:rPr lang="zh-CN" altLang="en-US" sz="1400" b="1"/>
                <a:t>维场景状态抽取</a:t>
              </a:r>
              <a:r>
                <a:rPr lang="en-US" altLang="zh-CN" sz="1400" b="1"/>
                <a:t>·</a:t>
              </a:r>
              <a:r>
                <a:rPr lang="zh-CN" altLang="en-US" sz="1400" b="1"/>
                <a:t>置信度门禁</a:t>
              </a:r>
              <a:r>
                <a:rPr lang="en-US" altLang="zh-CN" sz="1400" b="1"/>
                <a:t>·FORBIDDEN_LLM_FIELDS</a:t>
              </a:r>
              <a:r>
                <a:rPr lang="zh-CN" altLang="en-US" sz="1400" b="1"/>
                <a:t>防越权</a:t>
              </a:r>
              <a:endParaRPr lang="zh-CN" altLang="en-US" sz="1400" b="1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8632" y="9970"/>
              <a:ext cx="1047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/>
                <a:t>23路线节点+30登记路道边·演出时刻合同·14</a:t>
              </a:r>
              <a:r>
                <a:rPr lang="zh-CN" altLang="en-US" sz="1400" b="1"/>
                <a:t>项形式化仲裁</a:t>
              </a:r>
              <a:endParaRPr lang="zh-CN" altLang="en-US" sz="1400" b="1"/>
            </a:p>
          </p:txBody>
        </p:sp>
      </p:grpSp>
      <p:grpSp>
        <p:nvGrpSpPr>
          <p:cNvPr id="189" name="组合 188"/>
          <p:cNvGrpSpPr/>
          <p:nvPr/>
        </p:nvGrpSpPr>
        <p:grpSpPr>
          <a:xfrm>
            <a:off x="2620645" y="3100705"/>
            <a:ext cx="8721725" cy="403860"/>
            <a:chOff x="4127" y="4883"/>
            <a:chExt cx="13735" cy="636"/>
          </a:xfrm>
        </p:grpSpPr>
        <p:sp>
          <p:nvSpPr>
            <p:cNvPr id="185" name="圆角矩形 184"/>
            <p:cNvSpPr/>
            <p:nvPr/>
          </p:nvSpPr>
          <p:spPr>
            <a:xfrm>
              <a:off x="4127" y="4883"/>
              <a:ext cx="4252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87" name="圆角矩形 186"/>
            <p:cNvSpPr/>
            <p:nvPr/>
          </p:nvSpPr>
          <p:spPr>
            <a:xfrm>
              <a:off x="8870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88" name="圆角矩形 187"/>
            <p:cNvSpPr/>
            <p:nvPr/>
          </p:nvSpPr>
          <p:spPr>
            <a:xfrm>
              <a:off x="13612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2620645" y="3846195"/>
            <a:ext cx="8721725" cy="403860"/>
            <a:chOff x="4127" y="4883"/>
            <a:chExt cx="13735" cy="636"/>
          </a:xfrm>
        </p:grpSpPr>
        <p:sp>
          <p:nvSpPr>
            <p:cNvPr id="191" name="圆角矩形 190"/>
            <p:cNvSpPr/>
            <p:nvPr/>
          </p:nvSpPr>
          <p:spPr>
            <a:xfrm>
              <a:off x="4127" y="4883"/>
              <a:ext cx="4252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92" name="圆角矩形 191"/>
            <p:cNvSpPr/>
            <p:nvPr/>
          </p:nvSpPr>
          <p:spPr>
            <a:xfrm>
              <a:off x="8870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93" name="圆角矩形 192"/>
            <p:cNvSpPr/>
            <p:nvPr/>
          </p:nvSpPr>
          <p:spPr>
            <a:xfrm>
              <a:off x="13612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2620645" y="4614545"/>
            <a:ext cx="8721725" cy="403860"/>
            <a:chOff x="4127" y="4883"/>
            <a:chExt cx="13735" cy="636"/>
          </a:xfrm>
        </p:grpSpPr>
        <p:sp>
          <p:nvSpPr>
            <p:cNvPr id="195" name="圆角矩形 194"/>
            <p:cNvSpPr/>
            <p:nvPr/>
          </p:nvSpPr>
          <p:spPr>
            <a:xfrm>
              <a:off x="4127" y="4883"/>
              <a:ext cx="4252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96" name="圆角矩形 195"/>
            <p:cNvSpPr/>
            <p:nvPr/>
          </p:nvSpPr>
          <p:spPr>
            <a:xfrm>
              <a:off x="8870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97" name="圆角矩形 196"/>
            <p:cNvSpPr/>
            <p:nvPr/>
          </p:nvSpPr>
          <p:spPr>
            <a:xfrm>
              <a:off x="13612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198" name="组合 197"/>
          <p:cNvGrpSpPr/>
          <p:nvPr/>
        </p:nvGrpSpPr>
        <p:grpSpPr>
          <a:xfrm>
            <a:off x="2620645" y="5352415"/>
            <a:ext cx="8721725" cy="403860"/>
            <a:chOff x="4127" y="4883"/>
            <a:chExt cx="13735" cy="636"/>
          </a:xfrm>
        </p:grpSpPr>
        <p:sp>
          <p:nvSpPr>
            <p:cNvPr id="199" name="圆角矩形 198"/>
            <p:cNvSpPr/>
            <p:nvPr/>
          </p:nvSpPr>
          <p:spPr>
            <a:xfrm>
              <a:off x="4127" y="4883"/>
              <a:ext cx="4252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0" name="圆角矩形 199"/>
            <p:cNvSpPr/>
            <p:nvPr/>
          </p:nvSpPr>
          <p:spPr>
            <a:xfrm>
              <a:off x="8870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13612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2620645" y="6105525"/>
            <a:ext cx="8721725" cy="403860"/>
            <a:chOff x="4127" y="4883"/>
            <a:chExt cx="13735" cy="636"/>
          </a:xfrm>
        </p:grpSpPr>
        <p:sp>
          <p:nvSpPr>
            <p:cNvPr id="203" name="圆角矩形 202"/>
            <p:cNvSpPr/>
            <p:nvPr/>
          </p:nvSpPr>
          <p:spPr>
            <a:xfrm>
              <a:off x="4127" y="4883"/>
              <a:ext cx="4252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4" name="圆角矩形 203"/>
            <p:cNvSpPr/>
            <p:nvPr/>
          </p:nvSpPr>
          <p:spPr>
            <a:xfrm>
              <a:off x="8870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205" name="圆角矩形 204"/>
            <p:cNvSpPr/>
            <p:nvPr/>
          </p:nvSpPr>
          <p:spPr>
            <a:xfrm>
              <a:off x="13612" y="4883"/>
              <a:ext cx="4251" cy="637"/>
            </a:xfrm>
            <a:prstGeom prst="roundRect">
              <a:avLst/>
            </a:prstGeom>
            <a:solidFill>
              <a:srgbClr val="E2CB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sp>
        <p:nvSpPr>
          <p:cNvPr id="206" name="文本框 205"/>
          <p:cNvSpPr txBox="1"/>
          <p:nvPr/>
        </p:nvSpPr>
        <p:spPr>
          <a:xfrm>
            <a:off x="2741295" y="313309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数字人拟真交互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2741295" y="387921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物理路网拓扑计算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2741295" y="465582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意图理解与改写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2741295" y="539432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自然语言属性抽取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2741295" y="616331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灵山胜境领域知识库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5734050" y="313309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移动端高亮动线地图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5734050" y="387921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演绎时空对齐引擎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5734050" y="465582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三路并行检索矩阵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5734050" y="539432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浏览边界条件锁定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734050" y="616331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全链路执行日志追踪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8744585" y="313309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智能多轮对话交互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744585" y="387921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防御性约束校验器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8744585" y="465582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排名融合与深度重排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744585" y="5394325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动态偏好状态建模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8744585" y="6163310"/>
            <a:ext cx="2496820" cy="34861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zh-CN" altLang="en-US" sz="1600" b="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基准评测与消融套件</a:t>
            </a:r>
            <a:endParaRPr lang="zh-CN" altLang="en-US" sz="1600" b="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pic>
        <p:nvPicPr>
          <p:cNvPr id="169" name="图片 168"/>
          <p:cNvPicPr>
            <a:picLocks noChangeAspect="1"/>
          </p:cNvPicPr>
          <p:nvPr/>
        </p:nvPicPr>
        <p:blipFill>
          <a:blip r:embed="rId11"/>
          <a:srcRect l="13340" t="10904" r="6942" b="21462"/>
          <a:stretch>
            <a:fillRect/>
          </a:stretch>
        </p:blipFill>
        <p:spPr>
          <a:xfrm>
            <a:off x="-551815" y="7200265"/>
            <a:ext cx="5727700" cy="2937510"/>
          </a:xfrm>
          <a:prstGeom prst="rect">
            <a:avLst/>
          </a:prstGeom>
        </p:spPr>
      </p:pic>
      <p:sp>
        <p:nvSpPr>
          <p:cNvPr id="221" name="Down Arrow 71"/>
          <p:cNvSpPr/>
          <p:nvPr/>
        </p:nvSpPr>
        <p:spPr>
          <a:xfrm>
            <a:off x="6729095" y="3599815"/>
            <a:ext cx="457200" cy="228600"/>
          </a:xfrm>
          <a:prstGeom prst="downArrow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Down Arrow 71"/>
          <p:cNvSpPr/>
          <p:nvPr/>
        </p:nvSpPr>
        <p:spPr>
          <a:xfrm>
            <a:off x="6729095" y="4347210"/>
            <a:ext cx="457200" cy="228600"/>
          </a:xfrm>
          <a:prstGeom prst="downArrow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Down Arrow 71"/>
          <p:cNvSpPr/>
          <p:nvPr/>
        </p:nvSpPr>
        <p:spPr>
          <a:xfrm>
            <a:off x="6729095" y="5094605"/>
            <a:ext cx="457200" cy="228600"/>
          </a:xfrm>
          <a:prstGeom prst="downArrow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Down Arrow 71"/>
          <p:cNvSpPr/>
          <p:nvPr/>
        </p:nvSpPr>
        <p:spPr>
          <a:xfrm>
            <a:off x="6729095" y="5842000"/>
            <a:ext cx="457200" cy="228600"/>
          </a:xfrm>
          <a:prstGeom prst="downArrow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7842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762571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0645" y="171450"/>
            <a:ext cx="1576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创新技术</a:t>
            </a:r>
            <a:r>
              <a:rPr lang="en-US" alt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1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137795" y="1986915"/>
            <a:ext cx="3268980" cy="3010535"/>
            <a:chOff x="-335" y="2043"/>
            <a:chExt cx="8614" cy="694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35" y="2043"/>
              <a:ext cx="8615" cy="6941"/>
            </a:xfrm>
            <a:prstGeom prst="rect">
              <a:avLst/>
            </a:prstGeom>
          </p:spPr>
        </p:pic>
        <p:pic>
          <p:nvPicPr>
            <p:cNvPr id="9" name="图片 8" descr="屏幕截图 2026-09-22 2015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" y="3115"/>
              <a:ext cx="6767" cy="4852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368300" y="846455"/>
            <a:ext cx="10389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检索机制创新：</a:t>
            </a:r>
            <a:r>
              <a:rPr lang="en-US" altLang="zh-CN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Promise.all </a:t>
            </a:r>
            <a:r>
              <a:rPr lang="zh-CN" altLang="en-US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三路并行检索 + </a:t>
            </a:r>
            <a:r>
              <a:rPr lang="en-US" altLang="zh-CN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RRF </a:t>
            </a:r>
            <a:r>
              <a:rPr lang="zh-CN" altLang="en-US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融合与重排</a:t>
            </a:r>
            <a:endParaRPr lang="zh-CN" altLang="en-US" sz="2800" b="1" i="1">
              <a:gradFill>
                <a:gsLst>
                  <a:gs pos="69000">
                    <a:schemeClr val="accent2">
                      <a:lumMod val="75000"/>
                    </a:schemeClr>
                  </a:gs>
                  <a:gs pos="33000">
                    <a:srgbClr val="C48A88"/>
                  </a:gs>
                  <a:gs pos="0">
                    <a:schemeClr val="accent2">
                      <a:lumMod val="75000"/>
                    </a:schemeClr>
                  </a:gs>
                </a:gsLst>
                <a:lin ang="2700000" scaled="0"/>
                <a:tileRect/>
              </a:gradFill>
              <a:effectLst>
                <a:outerShdw blurRad="50800" dist="38100" dir="2700000" algn="tl" rotWithShape="0">
                  <a:srgbClr val="FFFF00">
                    <a:alpha val="40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 rot="0">
            <a:off x="7510780" y="4661535"/>
            <a:ext cx="388620" cy="1682750"/>
            <a:chOff x="9980" y="7269"/>
            <a:chExt cx="612" cy="265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0272" y="7459"/>
              <a:ext cx="32" cy="2238"/>
            </a:xfrm>
            <a:prstGeom prst="line">
              <a:avLst/>
            </a:prstGeom>
            <a:ln>
              <a:solidFill>
                <a:srgbClr val="FDE6A0"/>
              </a:solidFill>
            </a:ln>
            <a:effectLst>
              <a:glow rad="63500">
                <a:srgbClr val="FEEAAB">
                  <a:alpha val="40000"/>
                </a:srgb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/>
            <p:cNvGrpSpPr/>
            <p:nvPr/>
          </p:nvGrpSpPr>
          <p:grpSpPr>
            <a:xfrm rot="0">
              <a:off x="9980" y="7269"/>
              <a:ext cx="612" cy="2650"/>
              <a:chOff x="9093" y="7216"/>
              <a:chExt cx="612" cy="2650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93" y="7216"/>
                <a:ext cx="613" cy="617"/>
              </a:xfrm>
              <a:prstGeom prst="rect">
                <a:avLst/>
              </a:prstGeom>
            </p:spPr>
          </p:pic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93" y="8233"/>
                <a:ext cx="613" cy="617"/>
              </a:xfrm>
              <a:prstGeom prst="rect">
                <a:avLst/>
              </a:prstGeom>
            </p:spPr>
          </p:pic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93" y="9250"/>
                <a:ext cx="613" cy="617"/>
              </a:xfrm>
              <a:prstGeom prst="rect">
                <a:avLst/>
              </a:prstGeom>
            </p:spPr>
          </p:pic>
        </p:grpSp>
      </p:grpSp>
      <p:sp>
        <p:nvSpPr>
          <p:cNvPr id="41" name="文本框 40"/>
          <p:cNvSpPr txBox="1"/>
          <p:nvPr/>
        </p:nvSpPr>
        <p:spPr>
          <a:xfrm>
            <a:off x="7799070" y="4725035"/>
            <a:ext cx="4723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向量检索（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bge-large-zh-v1.5 </a:t>
            </a: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捕捉语义）</a:t>
            </a:r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99070" y="5330825"/>
            <a:ext cx="4723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结构化检索（2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景点 8 属性倒排）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799070" y="5936615"/>
            <a:ext cx="472313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关键词检索（Jieba 专名匹配）</a:t>
            </a:r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7678420" y="4032250"/>
            <a:ext cx="4303395" cy="646430"/>
            <a:chOff x="10820" y="6350"/>
            <a:chExt cx="6777" cy="1018"/>
          </a:xfrm>
        </p:grpSpPr>
        <p:sp>
          <p:nvSpPr>
            <p:cNvPr id="19" name="文本框 18"/>
            <p:cNvSpPr txBox="1"/>
            <p:nvPr/>
          </p:nvSpPr>
          <p:spPr>
            <a:xfrm>
              <a:off x="11461" y="6451"/>
              <a:ext cx="613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 b="1">
                  <a:solidFill>
                    <a:srgbClr val="784D30"/>
                  </a:solidFill>
                  <a:latin typeface="华文隶书" panose="02010800040101010101" charset="-122"/>
                  <a:ea typeface="华文隶书" panose="02010800040101010101" charset="-122"/>
                  <a:sym typeface="+mn-ea"/>
                </a:rPr>
                <a:t>三路并发与融合流水线</a:t>
              </a:r>
              <a:endParaRPr lang="zh-CN" altLang="en-US" sz="2400" b="1">
                <a:solidFill>
                  <a:srgbClr val="784D30"/>
                </a:solidFill>
                <a:latin typeface="华文隶书" panose="02010800040101010101" charset="-122"/>
                <a:ea typeface="华文隶书" panose="02010800040101010101" charset="-122"/>
                <a:sym typeface="+mn-ea"/>
              </a:endParaRPr>
            </a:p>
          </p:txBody>
        </p:sp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6"/>
            <a:srcRect l="6215" t="71345" r="5489" b="7534"/>
            <a:stretch>
              <a:fillRect/>
            </a:stretch>
          </p:blipFill>
          <p:spPr>
            <a:xfrm>
              <a:off x="10820" y="6350"/>
              <a:ext cx="6322" cy="1019"/>
            </a:xfrm>
            <a:prstGeom prst="rect">
              <a:avLst/>
            </a:prstGeom>
          </p:spPr>
        </p:pic>
      </p:grpSp>
      <p:grpSp>
        <p:nvGrpSpPr>
          <p:cNvPr id="77" name="组合 76"/>
          <p:cNvGrpSpPr/>
          <p:nvPr/>
        </p:nvGrpSpPr>
        <p:grpSpPr>
          <a:xfrm>
            <a:off x="7531100" y="1444625"/>
            <a:ext cx="4207510" cy="2335530"/>
            <a:chOff x="12028" y="2275"/>
            <a:chExt cx="6626" cy="3678"/>
          </a:xfrm>
        </p:grpSpPr>
        <p:pic>
          <p:nvPicPr>
            <p:cNvPr id="8" name="图片 7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2405" y="2461"/>
              <a:ext cx="5844" cy="33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8">
              <a:lum bright="70000" contrast="-22000"/>
            </a:blip>
            <a:stretch>
              <a:fillRect/>
            </a:stretch>
          </p:blipFill>
          <p:spPr>
            <a:xfrm>
              <a:off x="12028" y="2275"/>
              <a:ext cx="6626" cy="3678"/>
            </a:xfrm>
            <a:prstGeom prst="rect">
              <a:avLst/>
            </a:prstGeom>
          </p:spPr>
        </p:pic>
      </p:grpSp>
      <p:grpSp>
        <p:nvGrpSpPr>
          <p:cNvPr id="68" name="组合 67"/>
          <p:cNvGrpSpPr/>
          <p:nvPr/>
        </p:nvGrpSpPr>
        <p:grpSpPr>
          <a:xfrm rot="0">
            <a:off x="3947795" y="4530725"/>
            <a:ext cx="3414395" cy="548640"/>
            <a:chOff x="1296" y="14095"/>
            <a:chExt cx="7704" cy="864"/>
          </a:xfrm>
        </p:grpSpPr>
        <p:sp>
          <p:nvSpPr>
            <p:cNvPr id="66" name="Shape 20"/>
            <p:cNvSpPr/>
            <p:nvPr/>
          </p:nvSpPr>
          <p:spPr>
            <a:xfrm>
              <a:off x="1296" y="14095"/>
              <a:ext cx="7704" cy="864"/>
            </a:xfrm>
            <a:prstGeom prst="roundRect">
              <a:avLst>
                <a:gd name="adj" fmla="val 13333"/>
              </a:avLst>
            </a:prstGeom>
            <a:solidFill>
              <a:srgbClr val="F3EFE7"/>
            </a:solidFill>
          </p:spPr>
          <p:txBody>
            <a:bodyPr/>
            <a:p/>
          </p:txBody>
        </p:sp>
        <p:sp>
          <p:nvSpPr>
            <p:cNvPr id="57" name="Text 21"/>
            <p:cNvSpPr/>
            <p:nvPr/>
          </p:nvSpPr>
          <p:spPr>
            <a:xfrm>
              <a:off x="1584" y="14095"/>
              <a:ext cx="741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800">
                  <a:solidFill>
                    <a:srgbClr val="784D30"/>
                  </a:solidFill>
                </a:rPr>
                <a:t>Evidence</a:t>
              </a:r>
              <a:r>
                <a:rPr lang="zh-CN" altLang="en-US" sz="1800" b="1">
                  <a:solidFill>
                    <a:srgbClr val="784D30"/>
                  </a:solidFill>
                </a:rPr>
                <a:t> → </a:t>
              </a:r>
              <a:r>
                <a:rPr lang="zh-CN" altLang="en-US" sz="1800">
                  <a:solidFill>
                    <a:srgbClr val="784D30"/>
                  </a:solidFill>
                </a:rPr>
                <a:t>LLM</a:t>
              </a:r>
              <a:r>
                <a:rPr lang="zh-CN" altLang="en-US" sz="1800" b="1">
                  <a:solidFill>
                    <a:srgbClr val="784D30"/>
                  </a:solidFill>
                </a:rPr>
                <a:t> 生成</a:t>
              </a:r>
              <a:endParaRPr lang="zh-CN" altLang="en-US" sz="1800" b="1">
                <a:solidFill>
                  <a:srgbClr val="784D30"/>
                </a:solidFill>
              </a:endParaRPr>
            </a:p>
          </p:txBody>
        </p:sp>
        <p:sp>
          <p:nvSpPr>
            <p:cNvPr id="58" name="Text 22"/>
            <p:cNvSpPr/>
            <p:nvPr/>
          </p:nvSpPr>
          <p:spPr>
            <a:xfrm>
              <a:off x="1584" y="14542"/>
              <a:ext cx="7416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带证据的回答 + 完整 Trace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 rot="0">
            <a:off x="3947795" y="1802765"/>
            <a:ext cx="3501390" cy="548640"/>
            <a:chOff x="923" y="5486"/>
            <a:chExt cx="7935" cy="864"/>
          </a:xfrm>
        </p:grpSpPr>
        <p:sp>
          <p:nvSpPr>
            <p:cNvPr id="52" name="Shape 8"/>
            <p:cNvSpPr/>
            <p:nvPr/>
          </p:nvSpPr>
          <p:spPr>
            <a:xfrm>
              <a:off x="923" y="5486"/>
              <a:ext cx="7704" cy="864"/>
            </a:xfrm>
            <a:prstGeom prst="roundRect">
              <a:avLst>
                <a:gd name="adj" fmla="val 13333"/>
              </a:avLst>
            </a:prstGeom>
            <a:solidFill>
              <a:srgbClr val="F3EFE7"/>
            </a:solidFill>
          </p:spPr>
          <p:txBody>
            <a:bodyPr/>
            <a:p/>
          </p:txBody>
        </p:sp>
        <p:sp>
          <p:nvSpPr>
            <p:cNvPr id="59" name="文本框 58"/>
            <p:cNvSpPr txBox="1"/>
            <p:nvPr/>
          </p:nvSpPr>
          <p:spPr>
            <a:xfrm>
              <a:off x="1148" y="5632"/>
              <a:ext cx="26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784D30"/>
                  </a:solidFill>
                </a:rPr>
                <a:t>游客问题</a:t>
              </a:r>
              <a:endParaRPr lang="zh-CN" altLang="en-US" b="1">
                <a:solidFill>
                  <a:srgbClr val="784D30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799" y="5692"/>
              <a:ext cx="5059" cy="5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  <a:sym typeface="+mn-ea"/>
                </a:rPr>
                <a:t>口语化 | 多约束 | 混合表达</a:t>
              </a:r>
              <a:endParaRPr lang="en-US" sz="1200" dirty="0">
                <a:solidFill>
                  <a:schemeClr val="tx1"/>
                </a:solidFill>
              </a:endParaRPr>
            </a:p>
            <a:p>
              <a:endParaRPr lang="en-US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 rot="0">
            <a:off x="3947795" y="2531110"/>
            <a:ext cx="3689985" cy="548640"/>
            <a:chOff x="4415" y="4310"/>
            <a:chExt cx="5811" cy="864"/>
          </a:xfrm>
        </p:grpSpPr>
        <p:sp>
          <p:nvSpPr>
            <p:cNvPr id="61" name="Shape 11"/>
            <p:cNvSpPr/>
            <p:nvPr/>
          </p:nvSpPr>
          <p:spPr>
            <a:xfrm>
              <a:off x="4415" y="4310"/>
              <a:ext cx="5353" cy="864"/>
            </a:xfrm>
            <a:prstGeom prst="roundRect">
              <a:avLst>
                <a:gd name="adj" fmla="val 13333"/>
              </a:avLst>
            </a:prstGeom>
            <a:solidFill>
              <a:srgbClr val="F3EFE7"/>
            </a:solidFill>
          </p:spPr>
          <p:txBody>
            <a:bodyPr/>
            <a:p/>
          </p:txBody>
        </p:sp>
        <p:sp>
          <p:nvSpPr>
            <p:cNvPr id="53" name="Text 12"/>
            <p:cNvSpPr/>
            <p:nvPr/>
          </p:nvSpPr>
          <p:spPr>
            <a:xfrm>
              <a:off x="4639" y="4526"/>
              <a:ext cx="1868" cy="3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zh-CN" altLang="en-US" b="1">
                  <a:solidFill>
                    <a:srgbClr val="784D30"/>
                  </a:solidFill>
                </a:rPr>
                <a:t>问题分析</a:t>
              </a:r>
              <a:endParaRPr lang="zh-CN" altLang="en-US" b="1">
                <a:solidFill>
                  <a:srgbClr val="784D30"/>
                </a:solidFill>
              </a:endParaRPr>
            </a:p>
          </p:txBody>
        </p:sp>
        <p:sp>
          <p:nvSpPr>
            <p:cNvPr id="54" name="Text 13"/>
            <p:cNvSpPr/>
            <p:nvPr/>
          </p:nvSpPr>
          <p:spPr>
            <a:xfrm>
              <a:off x="6402" y="4429"/>
              <a:ext cx="3824" cy="6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sz="1600">
                  <a:solidFill>
                    <a:srgbClr val="C00000"/>
                  </a:solidFill>
                </a:rPr>
                <a:t>识别问题类型，仅用于 </a:t>
              </a:r>
              <a:endParaRPr sz="1600">
                <a:solidFill>
                  <a:srgbClr val="C00000"/>
                </a:solidFill>
              </a:endParaRPr>
            </a:p>
            <a:p>
              <a:r>
                <a:rPr sz="1600">
                  <a:solidFill>
                    <a:srgbClr val="C00000"/>
                  </a:solidFill>
                </a:rPr>
                <a:t>Trace 标注与结果解释</a:t>
              </a:r>
              <a:endParaRPr sz="1600">
                <a:solidFill>
                  <a:srgbClr val="C00000"/>
                </a:solidFill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 rot="0">
            <a:off x="3947795" y="3234690"/>
            <a:ext cx="3413760" cy="548640"/>
            <a:chOff x="635" y="8862"/>
            <a:chExt cx="7735" cy="864"/>
          </a:xfrm>
        </p:grpSpPr>
        <p:sp>
          <p:nvSpPr>
            <p:cNvPr id="55" name="Shape 14"/>
            <p:cNvSpPr/>
            <p:nvPr/>
          </p:nvSpPr>
          <p:spPr>
            <a:xfrm>
              <a:off x="635" y="8862"/>
              <a:ext cx="7704" cy="864"/>
            </a:xfrm>
            <a:prstGeom prst="roundRect">
              <a:avLst>
                <a:gd name="adj" fmla="val 13333"/>
              </a:avLst>
            </a:prstGeom>
            <a:solidFill>
              <a:srgbClr val="F1EAE0"/>
            </a:solidFill>
            <a:ln w="12700">
              <a:noFill/>
              <a:prstDash val="solid"/>
            </a:ln>
          </p:spPr>
          <p:txBody>
            <a:bodyPr/>
            <a:p/>
          </p:txBody>
        </p:sp>
        <p:sp>
          <p:nvSpPr>
            <p:cNvPr id="62" name="Text 15"/>
            <p:cNvSpPr/>
            <p:nvPr/>
          </p:nvSpPr>
          <p:spPr>
            <a:xfrm>
              <a:off x="954" y="8922"/>
              <a:ext cx="741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800" b="1">
                  <a:solidFill>
                    <a:srgbClr val="784D30"/>
                  </a:solidFill>
                </a:rPr>
                <a:t>三路并行检索</a:t>
              </a:r>
              <a:endParaRPr lang="zh-CN" altLang="en-US" sz="1800" b="1">
                <a:solidFill>
                  <a:srgbClr val="784D30"/>
                </a:solidFill>
              </a:endParaRPr>
            </a:p>
          </p:txBody>
        </p:sp>
        <p:sp>
          <p:nvSpPr>
            <p:cNvPr id="63" name="Text 16"/>
            <p:cNvSpPr/>
            <p:nvPr/>
          </p:nvSpPr>
          <p:spPr>
            <a:xfrm>
              <a:off x="886" y="9294"/>
              <a:ext cx="7416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Vector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语义召回</a:t>
              </a:r>
              <a:r>
                <a:rPr 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 · Keyword 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精确命中</a:t>
              </a:r>
              <a:r>
                <a:rPr 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· Structured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字段级</a:t>
              </a:r>
              <a:endPara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 rot="0">
            <a:off x="3947795" y="3861435"/>
            <a:ext cx="3435985" cy="548640"/>
            <a:chOff x="635" y="9956"/>
            <a:chExt cx="7755" cy="864"/>
          </a:xfrm>
        </p:grpSpPr>
        <p:sp>
          <p:nvSpPr>
            <p:cNvPr id="56" name="Shape 17"/>
            <p:cNvSpPr/>
            <p:nvPr/>
          </p:nvSpPr>
          <p:spPr>
            <a:xfrm>
              <a:off x="635" y="9956"/>
              <a:ext cx="7704" cy="864"/>
            </a:xfrm>
            <a:prstGeom prst="roundRect">
              <a:avLst>
                <a:gd name="adj" fmla="val 13333"/>
              </a:avLst>
            </a:prstGeom>
            <a:solidFill>
              <a:srgbClr val="F3EFE7"/>
            </a:solidFill>
          </p:spPr>
          <p:txBody>
            <a:bodyPr/>
            <a:p/>
          </p:txBody>
        </p:sp>
        <p:sp>
          <p:nvSpPr>
            <p:cNvPr id="64" name="Text 18"/>
            <p:cNvSpPr/>
            <p:nvPr/>
          </p:nvSpPr>
          <p:spPr>
            <a:xfrm>
              <a:off x="914" y="9992"/>
              <a:ext cx="741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800">
                  <a:solidFill>
                    <a:srgbClr val="784D30"/>
                  </a:solidFill>
                </a:rPr>
                <a:t>RRF </a:t>
              </a:r>
              <a:r>
                <a:rPr lang="zh-CN" altLang="en-US" sz="1800" b="1">
                  <a:solidFill>
                    <a:srgbClr val="784D30"/>
                  </a:solidFill>
                </a:rPr>
                <a:t>统一候选</a:t>
              </a:r>
              <a:r>
                <a:rPr lang="en-US" sz="1150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 </a:t>
              </a:r>
              <a:r>
                <a:rPr lang="zh-CN" altLang="en-US" sz="1800">
                  <a:solidFill>
                    <a:srgbClr val="784D30"/>
                  </a:solidFill>
                </a:rPr>
                <a:t>+ Rerank</a:t>
              </a:r>
              <a:endParaRPr lang="en-US" sz="1150" dirty="0"/>
            </a:p>
          </p:txBody>
        </p:sp>
        <p:sp>
          <p:nvSpPr>
            <p:cNvPr id="65" name="Text 19"/>
            <p:cNvSpPr/>
            <p:nvPr/>
          </p:nvSpPr>
          <p:spPr>
            <a:xfrm>
              <a:off x="974" y="10388"/>
              <a:ext cx="7416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k=60 融合，精排上下文</a:t>
              </a:r>
              <a:endPara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76" name="图片 75"/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 rot="16200000">
            <a:off x="848360" y="2743835"/>
            <a:ext cx="4708525" cy="1677035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0" y="5486400"/>
            <a:ext cx="7441565" cy="1198880"/>
          </a:xfrm>
          <a:prstGeom prst="rect">
            <a:avLst/>
          </a:prstGeom>
          <a:noFill/>
          <a:effectLst>
            <a:glow rad="101600">
              <a:schemeClr val="accent6">
                <a:alpha val="40000"/>
              </a:schemeClr>
            </a:glow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en-US" sz="2400" b="1" dirty="0">
                <a:solidFill>
                  <a:srgbClr val="784D30"/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+mn-ea"/>
              </a:rPr>
              <a:t>为不同类型的事实设计互补检索通道，并用 Trace 证明每路真实执行、召回了什么、如何影响最终回答</a:t>
            </a:r>
            <a:endParaRPr lang="en-US" sz="2400" dirty="0">
              <a:solidFill>
                <a:srgbClr val="784D30"/>
              </a:solidFill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pPr algn="ctr"/>
            <a:endParaRPr lang="en-US" altLang="en-US" sz="2400" dirty="0">
              <a:solidFill>
                <a:srgbClr val="784D30"/>
              </a:solidFill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>
            <p:custDataLst>
              <p:tags r:id="rId1"/>
            </p:custDataLst>
          </p:nvPr>
        </p:nvSpPr>
        <p:spPr>
          <a:xfrm>
            <a:off x="8889365" y="3527425"/>
            <a:ext cx="2746375" cy="67818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4" name="矩形 93"/>
          <p:cNvSpPr/>
          <p:nvPr>
            <p:custDataLst>
              <p:tags r:id="rId2"/>
            </p:custDataLst>
          </p:nvPr>
        </p:nvSpPr>
        <p:spPr>
          <a:xfrm>
            <a:off x="8912225" y="4964430"/>
            <a:ext cx="2746375" cy="678815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2" name="矩形 91"/>
          <p:cNvSpPr/>
          <p:nvPr>
            <p:custDataLst>
              <p:tags r:id="rId3"/>
            </p:custDataLst>
          </p:nvPr>
        </p:nvSpPr>
        <p:spPr>
          <a:xfrm>
            <a:off x="8889365" y="2144395"/>
            <a:ext cx="2746375" cy="66675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0" name="五边形 89"/>
          <p:cNvSpPr/>
          <p:nvPr>
            <p:custDataLst>
              <p:tags r:id="rId4"/>
            </p:custDataLst>
          </p:nvPr>
        </p:nvSpPr>
        <p:spPr>
          <a:xfrm>
            <a:off x="5142865" y="3526790"/>
            <a:ext cx="3278505" cy="679450"/>
          </a:xfrm>
          <a:prstGeom prst="homePlate">
            <a:avLst/>
          </a:prstGeom>
          <a:solidFill>
            <a:schemeClr val="bg1">
              <a:alpha val="3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1" name="五边形 90"/>
          <p:cNvSpPr/>
          <p:nvPr>
            <p:custDataLst>
              <p:tags r:id="rId5"/>
            </p:custDataLst>
          </p:nvPr>
        </p:nvSpPr>
        <p:spPr>
          <a:xfrm>
            <a:off x="5142865" y="4964430"/>
            <a:ext cx="3278505" cy="678815"/>
          </a:xfrm>
          <a:prstGeom prst="homePlate">
            <a:avLst/>
          </a:prstGeom>
          <a:solidFill>
            <a:schemeClr val="bg1">
              <a:alpha val="3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8" name="五边形 87"/>
          <p:cNvSpPr/>
          <p:nvPr>
            <p:custDataLst>
              <p:tags r:id="rId6"/>
            </p:custDataLst>
          </p:nvPr>
        </p:nvSpPr>
        <p:spPr>
          <a:xfrm>
            <a:off x="5142865" y="2136775"/>
            <a:ext cx="3278505" cy="674370"/>
          </a:xfrm>
          <a:prstGeom prst="homePlate">
            <a:avLst/>
          </a:prstGeom>
          <a:solidFill>
            <a:schemeClr val="bg1">
              <a:alpha val="3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510540" y="1445895"/>
            <a:ext cx="4170045" cy="441325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-223520" y="-111760"/>
            <a:ext cx="1778635" cy="264668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67842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762571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0645" y="171450"/>
            <a:ext cx="1576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 14"/>
          <p:cNvSpPr/>
          <p:nvPr>
            <p:custDataLst>
              <p:tags r:id="rId10"/>
            </p:custDataLst>
          </p:nvPr>
        </p:nvSpPr>
        <p:spPr>
          <a:xfrm>
            <a:off x="9279890" y="2366010"/>
            <a:ext cx="2072005" cy="410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Vector 语义召回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2" name="Text 23"/>
          <p:cNvSpPr/>
          <p:nvPr>
            <p:custDataLst>
              <p:tags r:id="rId11"/>
            </p:custDataLst>
          </p:nvPr>
        </p:nvSpPr>
        <p:spPr>
          <a:xfrm>
            <a:off x="9124315" y="3763645"/>
            <a:ext cx="2286000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Keyword 精确命中</a:t>
            </a:r>
            <a:endParaRPr 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1" name="Text 32"/>
          <p:cNvSpPr/>
          <p:nvPr>
            <p:custDataLst>
              <p:tags r:id="rId12"/>
            </p:custDataLst>
          </p:nvPr>
        </p:nvSpPr>
        <p:spPr>
          <a:xfrm>
            <a:off x="8941435" y="5207635"/>
            <a:ext cx="2871470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Structured 字段级保证</a:t>
            </a:r>
            <a:endParaRPr 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777240" y="6057900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84D30"/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多路检索的价值：为不同类型的事实设计互补通道，减少「看似相关、实则漏                              检」，让回答有证据可依。</a:t>
            </a:r>
            <a:endParaRPr lang="en-US" sz="2400" b="1" dirty="0">
              <a:solidFill>
                <a:srgbClr val="784D30"/>
              </a:solidFill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创新技术</a:t>
            </a:r>
            <a:r>
              <a:rPr lang="en-US" alt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1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77" name="矩形: 圆角 76"/>
          <p:cNvSpPr/>
          <p:nvPr>
            <p:custDataLst>
              <p:tags r:id="rId13"/>
            </p:custDataLst>
          </p:nvPr>
        </p:nvSpPr>
        <p:spPr>
          <a:xfrm>
            <a:off x="4812030" y="1621790"/>
            <a:ext cx="7059930" cy="1356360"/>
          </a:xfrm>
          <a:prstGeom prst="roundRect">
            <a:avLst>
              <a:gd name="adj" fmla="val 2803"/>
            </a:avLst>
          </a:prstGeom>
          <a:noFill/>
          <a:ln>
            <a:gradFill>
              <a:gsLst>
                <a:gs pos="0">
                  <a:srgbClr val="F28E0C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</a:gradFill>
          </a:ln>
          <a:effectLst>
            <a:outerShdw blurRad="139700" dist="38100" dir="5400000" algn="t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gradFill>
                <a:gsLst>
                  <a:gs pos="94000">
                    <a:schemeClr val="accent1">
                      <a:alpha val="0"/>
                    </a:schemeClr>
                  </a:gs>
                  <a:gs pos="0">
                    <a:schemeClr val="accent2"/>
                  </a:gs>
                  <a:gs pos="62000">
                    <a:schemeClr val="accent1"/>
                  </a:gs>
                </a:gsLst>
                <a:lin ang="5400000" scaled="1"/>
              </a:gradFill>
              <a:latin typeface="+mj-ea"/>
              <a:ea typeface="+mj-ea"/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076325" y="878332"/>
            <a:ext cx="11185855" cy="566928"/>
            <a:chOff x="1023" y="1383"/>
            <a:chExt cx="17616" cy="893"/>
          </a:xfrm>
        </p:grpSpPr>
        <p:sp>
          <p:nvSpPr>
            <p:cNvPr id="7" name="Text 2"/>
            <p:cNvSpPr/>
            <p:nvPr/>
          </p:nvSpPr>
          <p:spPr>
            <a:xfrm>
              <a:off x="1023" y="1383"/>
              <a:ext cx="17616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spc="140" dirty="0">
                  <a:gradFill>
                    <a:gsLst>
                      <a:gs pos="70000">
                        <a:schemeClr val="accent2"/>
                      </a:gs>
                      <a:gs pos="26000">
                        <a:schemeClr val="accent2">
                          <a:lumMod val="85000"/>
                        </a:schemeClr>
                      </a:gs>
                    </a:gsLst>
                    <a:lin ang="1380000" scaled="1"/>
                    <a:tileRect l="-100000" t="-100000"/>
                  </a:gradFill>
                  <a:latin typeface="汉仪综艺体简" panose="02010600000101010101" charset="-122"/>
                  <a:ea typeface="汉仪综艺体简" panose="02010600000101010101" charset="-122"/>
                  <a:cs typeface="微软雅黑" panose="020B0503020204020204" pitchFamily="34" charset="-120"/>
                </a:rPr>
                <a:t>单一向量检索存在盲区：不同问题需要不同的信息获取机制</a:t>
              </a:r>
              <a:endParaRPr lang="en-US" sz="2400" b="1" spc="140" dirty="0">
                <a:gradFill>
                  <a:gsLst>
                    <a:gs pos="70000">
                      <a:schemeClr val="accent2"/>
                    </a:gs>
                    <a:gs pos="26000">
                      <a:schemeClr val="accent2">
                        <a:lumMod val="85000"/>
                      </a:schemeClr>
                    </a:gs>
                  </a:gsLst>
                  <a:lin ang="1380000" scaled="1"/>
                  <a:tileRect l="-100000" t="-100000"/>
                </a:gradFill>
                <a:latin typeface="汉仪综艺体简" panose="02010600000101010101" charset="-122"/>
                <a:ea typeface="汉仪综艺体简" panose="02010600000101010101" charset="-122"/>
                <a:cs typeface="微软雅黑" panose="020B0503020204020204" pitchFamily="34" charset="-120"/>
              </a:endParaRPr>
            </a:p>
          </p:txBody>
        </p:sp>
        <p:sp>
          <p:nvSpPr>
            <p:cNvPr id="231" name="梯形 230"/>
            <p:cNvSpPr/>
            <p:nvPr>
              <p:custDataLst>
                <p:tags r:id="rId14"/>
              </p:custDataLst>
            </p:nvPr>
          </p:nvSpPr>
          <p:spPr>
            <a:xfrm>
              <a:off x="11811" y="2129"/>
              <a:ext cx="6436" cy="113"/>
            </a:xfrm>
            <a:prstGeom prst="trapezoid">
              <a:avLst>
                <a:gd name="adj" fmla="val 115714"/>
              </a:avLst>
            </a:prstGeom>
            <a:gradFill>
              <a:gsLst>
                <a:gs pos="85000">
                  <a:srgbClr val="AA403D">
                    <a:alpha val="0"/>
                  </a:srgbClr>
                </a:gs>
                <a:gs pos="30000">
                  <a:srgbClr val="C0504D"/>
                </a:gs>
                <a:gs pos="0">
                  <a:srgbClr val="A93F3C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梯形 56"/>
            <p:cNvSpPr/>
            <p:nvPr>
              <p:custDataLst>
                <p:tags r:id="rId15"/>
              </p:custDataLst>
            </p:nvPr>
          </p:nvSpPr>
          <p:spPr>
            <a:xfrm>
              <a:off x="14807" y="1784"/>
              <a:ext cx="3775" cy="102"/>
            </a:xfrm>
            <a:prstGeom prst="trapezoid">
              <a:avLst>
                <a:gd name="adj" fmla="val 115714"/>
              </a:avLst>
            </a:prstGeom>
            <a:gradFill>
              <a:gsLst>
                <a:gs pos="85000">
                  <a:srgbClr val="AA403D">
                    <a:alpha val="0"/>
                  </a:srgbClr>
                </a:gs>
                <a:gs pos="30000">
                  <a:srgbClr val="C0504D"/>
                </a:gs>
                <a:gs pos="0">
                  <a:srgbClr val="A93F3C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6" name="图片 6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985" y="4544695"/>
            <a:ext cx="3744595" cy="119443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985" y="3058795"/>
            <a:ext cx="3744595" cy="119443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17955" y="3226435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:“百子戏弥勒” 在哪个区域？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80540" y="3787140"/>
            <a:ext cx="150304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chemeClr val="accent2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精确专名</a:t>
            </a:r>
            <a:endParaRPr lang="en-US" b="1" dirty="0">
              <a:solidFill>
                <a:srgbClr val="8A6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1417955" y="46710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：《</a:t>
            </a:r>
            <a:r>
              <a:rPr lang="en-US" sz="13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吉祥颂》14:00 场次演出多长时间？</a:t>
            </a:r>
            <a:endParaRPr lang="en-US" sz="1350" dirty="0"/>
          </a:p>
        </p:txBody>
      </p:sp>
      <p:sp>
        <p:nvSpPr>
          <p:cNvPr id="45" name="Text 26"/>
          <p:cNvSpPr/>
          <p:nvPr/>
        </p:nvSpPr>
        <p:spPr>
          <a:xfrm>
            <a:off x="1605280" y="5222240"/>
            <a:ext cx="1560195" cy="29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chemeClr val="accent2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结构化事实</a:t>
            </a:r>
            <a:endParaRPr lang="en-US" b="1" u="sng" dirty="0">
              <a:solidFill>
                <a:schemeClr val="accent2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 rot="0">
            <a:off x="514985" y="1572895"/>
            <a:ext cx="4834890" cy="1193800"/>
            <a:chOff x="1351" y="2477"/>
            <a:chExt cx="7614" cy="1880"/>
          </a:xfrm>
        </p:grpSpPr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51" y="2477"/>
              <a:ext cx="5897" cy="1881"/>
            </a:xfrm>
            <a:prstGeom prst="rect">
              <a:avLst/>
            </a:prstGeom>
          </p:spPr>
        </p:pic>
        <p:sp>
          <p:nvSpPr>
            <p:cNvPr id="9" name="Text 7"/>
            <p:cNvSpPr/>
            <p:nvPr/>
          </p:nvSpPr>
          <p:spPr>
            <a:xfrm>
              <a:off x="2773" y="2705"/>
              <a:ext cx="6192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:“灵山大佛有多高？”</a:t>
              </a:r>
              <a:endParaRPr lang="en-US" sz="14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636" y="3608"/>
              <a:ext cx="3583" cy="3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u="sng" dirty="0">
                  <a:solidFill>
                    <a:schemeClr val="accent2"/>
                  </a:solidFill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语义 · 常见问答</a:t>
              </a:r>
              <a:endParaRPr lang="en-US" b="1" u="sng" dirty="0">
                <a:solidFill>
                  <a:schemeClr val="accent2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60" y="2791"/>
              <a:ext cx="574" cy="574"/>
            </a:xfrm>
            <a:prstGeom prst="rect">
              <a:avLst/>
            </a:prstGeom>
          </p:spPr>
        </p:pic>
      </p:grpSp>
      <p:pic>
        <p:nvPicPr>
          <p:cNvPr id="62" name="图片 6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" y="3281045"/>
            <a:ext cx="364490" cy="36449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" y="4697095"/>
            <a:ext cx="364490" cy="364490"/>
          </a:xfrm>
          <a:prstGeom prst="rect">
            <a:avLst/>
          </a:prstGeom>
        </p:spPr>
      </p:pic>
      <p:sp>
        <p:nvSpPr>
          <p:cNvPr id="69" name="矩形: 圆角 76"/>
          <p:cNvSpPr/>
          <p:nvPr>
            <p:custDataLst>
              <p:tags r:id="rId18"/>
            </p:custDataLst>
          </p:nvPr>
        </p:nvSpPr>
        <p:spPr>
          <a:xfrm flipH="1">
            <a:off x="4812030" y="2977515"/>
            <a:ext cx="7059930" cy="1437640"/>
          </a:xfrm>
          <a:prstGeom prst="roundRect">
            <a:avLst>
              <a:gd name="adj" fmla="val 2803"/>
            </a:avLst>
          </a:prstGeom>
          <a:noFill/>
          <a:ln>
            <a:gradFill>
              <a:gsLst>
                <a:gs pos="0">
                  <a:srgbClr val="F28E0C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</a:gradFill>
          </a:ln>
          <a:effectLst>
            <a:outerShdw blurRad="139700" dist="38100" dir="5400000" algn="t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gradFill>
                <a:gsLst>
                  <a:gs pos="94000">
                    <a:schemeClr val="accent1">
                      <a:alpha val="0"/>
                    </a:schemeClr>
                  </a:gs>
                  <a:gs pos="0">
                    <a:schemeClr val="accent2"/>
                  </a:gs>
                  <a:gs pos="62000">
                    <a:schemeClr val="accent1"/>
                  </a:gs>
                </a:gsLst>
                <a:lin ang="5400000" scaled="1"/>
              </a:gradFill>
              <a:latin typeface="+mj-ea"/>
              <a:ea typeface="+mj-ea"/>
              <a:sym typeface="+mn-ea"/>
            </a:endParaRPr>
          </a:p>
        </p:txBody>
      </p:sp>
      <p:sp>
        <p:nvSpPr>
          <p:cNvPr id="70" name="矩形: 圆角 76"/>
          <p:cNvSpPr/>
          <p:nvPr>
            <p:custDataLst>
              <p:tags r:id="rId19"/>
            </p:custDataLst>
          </p:nvPr>
        </p:nvSpPr>
        <p:spPr>
          <a:xfrm>
            <a:off x="4812030" y="4415155"/>
            <a:ext cx="7059930" cy="1356360"/>
          </a:xfrm>
          <a:prstGeom prst="roundRect">
            <a:avLst>
              <a:gd name="adj" fmla="val 2803"/>
            </a:avLst>
          </a:prstGeom>
          <a:noFill/>
          <a:ln>
            <a:gradFill>
              <a:gsLst>
                <a:gs pos="0">
                  <a:srgbClr val="F28E0C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</a:gradFill>
          </a:ln>
          <a:effectLst>
            <a:outerShdw blurRad="139700" dist="38100" dir="5400000" algn="t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gradFill>
                <a:gsLst>
                  <a:gs pos="94000">
                    <a:schemeClr val="accent1">
                      <a:alpha val="0"/>
                    </a:schemeClr>
                  </a:gs>
                  <a:gs pos="0">
                    <a:schemeClr val="accent2"/>
                  </a:gs>
                  <a:gs pos="62000">
                    <a:schemeClr val="accent1"/>
                  </a:gs>
                </a:gsLst>
                <a:lin ang="5400000" scaled="1"/>
              </a:gradFill>
              <a:latin typeface="+mj-ea"/>
              <a:ea typeface="+mj-ea"/>
              <a:sym typeface="+mn-ea"/>
            </a:endParaRPr>
          </a:p>
        </p:txBody>
      </p:sp>
      <p:grpSp>
        <p:nvGrpSpPr>
          <p:cNvPr id="95" name="组合 94"/>
          <p:cNvGrpSpPr/>
          <p:nvPr>
            <p:custDataLst>
              <p:tags r:id="rId20"/>
            </p:custDataLst>
          </p:nvPr>
        </p:nvGrpSpPr>
        <p:grpSpPr>
          <a:xfrm>
            <a:off x="4940935" y="1720215"/>
            <a:ext cx="6393180" cy="370840"/>
            <a:chOff x="7781" y="2865"/>
            <a:chExt cx="10068" cy="584"/>
          </a:xfrm>
        </p:grpSpPr>
        <p:sp>
          <p:nvSpPr>
            <p:cNvPr id="13" name="Text 10"/>
            <p:cNvSpPr/>
            <p:nvPr>
              <p:custDataLst>
                <p:tags r:id="rId21"/>
              </p:custDataLst>
            </p:nvPr>
          </p:nvSpPr>
          <p:spPr>
            <a:xfrm>
              <a:off x="8364" y="2978"/>
              <a:ext cx="345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单一向量检索的盲区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grpSp>
          <p:nvGrpSpPr>
            <p:cNvPr id="78" name="组合 77"/>
            <p:cNvGrpSpPr/>
            <p:nvPr>
              <p:custDataLst>
                <p:tags r:id="rId22"/>
              </p:custDataLst>
            </p:nvPr>
          </p:nvGrpSpPr>
          <p:grpSpPr>
            <a:xfrm>
              <a:off x="13721" y="2931"/>
              <a:ext cx="4128" cy="421"/>
              <a:chOff x="14081" y="2931"/>
              <a:chExt cx="4128" cy="421"/>
            </a:xfrm>
          </p:grpSpPr>
          <p:sp>
            <p:nvSpPr>
              <p:cNvPr id="17" name="Text 13"/>
              <p:cNvSpPr/>
              <p:nvPr>
                <p:custDataLst>
                  <p:tags r:id="rId23"/>
                </p:custDataLst>
              </p:nvPr>
            </p:nvSpPr>
            <p:spPr>
              <a:xfrm>
                <a:off x="14609" y="2950"/>
                <a:ext cx="360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对应通道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：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25">
                <a:alphaModFix amt="80000"/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tretch>
                <a:fillRect/>
              </a:stretch>
            </p:blipFill>
            <p:spPr>
              <a:xfrm>
                <a:off x="14081" y="2931"/>
                <a:ext cx="410" cy="411"/>
              </a:xfrm>
              <a:prstGeom prst="rect">
                <a:avLst/>
              </a:prstGeom>
            </p:spPr>
          </p:pic>
        </p:grpSp>
        <p:pic>
          <p:nvPicPr>
            <p:cNvPr id="81" name="图片 80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7">
              <a:alphaModFix amt="60000"/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781" y="2865"/>
              <a:ext cx="584" cy="584"/>
            </a:xfrm>
            <a:prstGeom prst="rect">
              <a:avLst/>
            </a:prstGeom>
          </p:spPr>
        </p:pic>
      </p:grpSp>
      <p:grpSp>
        <p:nvGrpSpPr>
          <p:cNvPr id="96" name="组合 95"/>
          <p:cNvGrpSpPr/>
          <p:nvPr>
            <p:custDataLst>
              <p:tags r:id="rId28"/>
            </p:custDataLst>
          </p:nvPr>
        </p:nvGrpSpPr>
        <p:grpSpPr>
          <a:xfrm>
            <a:off x="4940935" y="3082925"/>
            <a:ext cx="6393180" cy="370840"/>
            <a:chOff x="7781" y="5167"/>
            <a:chExt cx="10068" cy="584"/>
          </a:xfrm>
        </p:grpSpPr>
        <p:sp>
          <p:nvSpPr>
            <p:cNvPr id="25" name="Text 19"/>
            <p:cNvSpPr/>
            <p:nvPr>
              <p:custDataLst>
                <p:tags r:id="rId29"/>
              </p:custDataLst>
            </p:nvPr>
          </p:nvSpPr>
          <p:spPr>
            <a:xfrm>
              <a:off x="8364" y="5254"/>
              <a:ext cx="345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单一向量检索的盲区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grpSp>
          <p:nvGrpSpPr>
            <p:cNvPr id="79" name="组合 78"/>
            <p:cNvGrpSpPr/>
            <p:nvPr>
              <p:custDataLst>
                <p:tags r:id="rId30"/>
              </p:custDataLst>
            </p:nvPr>
          </p:nvGrpSpPr>
          <p:grpSpPr>
            <a:xfrm>
              <a:off x="13721" y="5217"/>
              <a:ext cx="4128" cy="410"/>
              <a:chOff x="14081" y="5217"/>
              <a:chExt cx="4128" cy="410"/>
            </a:xfrm>
          </p:grpSpPr>
          <p:sp>
            <p:nvSpPr>
              <p:cNvPr id="41" name="Text 22"/>
              <p:cNvSpPr/>
              <p:nvPr>
                <p:custDataLst>
                  <p:tags r:id="rId31"/>
                </p:custDataLst>
              </p:nvPr>
            </p:nvSpPr>
            <p:spPr>
              <a:xfrm>
                <a:off x="14609" y="5225"/>
                <a:ext cx="360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对应通道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：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pic>
            <p:nvPicPr>
              <p:cNvPr id="75" name="图片 74"/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25">
                <a:alphaModFix amt="80000"/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tretch>
                <a:fillRect/>
              </a:stretch>
            </p:blipFill>
            <p:spPr>
              <a:xfrm>
                <a:off x="14081" y="5217"/>
                <a:ext cx="410" cy="411"/>
              </a:xfrm>
              <a:prstGeom prst="rect">
                <a:avLst/>
              </a:prstGeom>
            </p:spPr>
          </p:pic>
        </p:grpSp>
        <p:pic>
          <p:nvPicPr>
            <p:cNvPr id="82" name="图片 8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27">
              <a:alphaModFix amt="60000"/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7781" y="5167"/>
              <a:ext cx="584" cy="584"/>
            </a:xfrm>
            <a:prstGeom prst="rect">
              <a:avLst/>
            </a:prstGeom>
          </p:spPr>
        </p:pic>
      </p:grpSp>
      <p:grpSp>
        <p:nvGrpSpPr>
          <p:cNvPr id="97" name="组合 96"/>
          <p:cNvGrpSpPr/>
          <p:nvPr>
            <p:custDataLst>
              <p:tags r:id="rId34"/>
            </p:custDataLst>
          </p:nvPr>
        </p:nvGrpSpPr>
        <p:grpSpPr>
          <a:xfrm>
            <a:off x="4940935" y="4521835"/>
            <a:ext cx="6393180" cy="370840"/>
            <a:chOff x="7781" y="7409"/>
            <a:chExt cx="10068" cy="584"/>
          </a:xfrm>
        </p:grpSpPr>
        <p:sp>
          <p:nvSpPr>
            <p:cNvPr id="47" name="Text 28"/>
            <p:cNvSpPr/>
            <p:nvPr>
              <p:custDataLst>
                <p:tags r:id="rId35"/>
              </p:custDataLst>
            </p:nvPr>
          </p:nvSpPr>
          <p:spPr>
            <a:xfrm>
              <a:off x="8364" y="7529"/>
              <a:ext cx="345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单一向量检索的盲区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：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grpSp>
          <p:nvGrpSpPr>
            <p:cNvPr id="80" name="组合 79"/>
            <p:cNvGrpSpPr/>
            <p:nvPr>
              <p:custDataLst>
                <p:tags r:id="rId36"/>
              </p:custDataLst>
            </p:nvPr>
          </p:nvGrpSpPr>
          <p:grpSpPr>
            <a:xfrm>
              <a:off x="13721" y="7500"/>
              <a:ext cx="4128" cy="413"/>
              <a:chOff x="14081" y="7500"/>
              <a:chExt cx="4128" cy="413"/>
            </a:xfrm>
          </p:grpSpPr>
          <p:sp>
            <p:nvSpPr>
              <p:cNvPr id="50" name="Text 31"/>
              <p:cNvSpPr/>
              <p:nvPr>
                <p:custDataLst>
                  <p:tags r:id="rId37"/>
                </p:custDataLst>
              </p:nvPr>
            </p:nvSpPr>
            <p:spPr>
              <a:xfrm>
                <a:off x="14609" y="7500"/>
                <a:ext cx="360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8A6B3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 </a:t>
                </a:r>
                <a:r>
                  <a:rPr 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对应通道</a:t>
                </a: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：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pic>
            <p:nvPicPr>
              <p:cNvPr id="76" name="图片 75"/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25">
                <a:alphaModFix amt="80000"/>
                <a:duotone>
                  <a:prstClr val="black"/>
                  <a:srgbClr val="D9C3A5">
                    <a:tint val="50000"/>
                    <a:satMod val="180000"/>
                  </a:srgbClr>
                </a:duotone>
              </a:blip>
              <a:stretch>
                <a:fillRect/>
              </a:stretch>
            </p:blipFill>
            <p:spPr>
              <a:xfrm>
                <a:off x="14081" y="7503"/>
                <a:ext cx="410" cy="411"/>
              </a:xfrm>
              <a:prstGeom prst="rect">
                <a:avLst/>
              </a:prstGeom>
            </p:spPr>
          </p:pic>
        </p:grpSp>
        <p:pic>
          <p:nvPicPr>
            <p:cNvPr id="83" name="图片 82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27">
              <a:alphaModFix amt="60000"/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p:blipFill>
          <p:spPr>
            <a:xfrm>
              <a:off x="7781" y="7409"/>
              <a:ext cx="584" cy="584"/>
            </a:xfrm>
            <a:prstGeom prst="rect">
              <a:avLst/>
            </a:prstGeom>
          </p:spPr>
        </p:pic>
      </p:grpSp>
      <p:sp>
        <p:nvSpPr>
          <p:cNvPr id="84" name="文本框 83"/>
          <p:cNvSpPr txBox="1"/>
          <p:nvPr>
            <p:custDataLst>
              <p:tags r:id="rId40"/>
            </p:custDataLst>
          </p:nvPr>
        </p:nvSpPr>
        <p:spPr>
          <a:xfrm>
            <a:off x="5240020" y="2144395"/>
            <a:ext cx="2771140" cy="51943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en-US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向量可召回相似问法，但缺少精确事实对齐</a:t>
            </a:r>
            <a:endParaRPr lang="en-US" altLang="en-US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41"/>
            </p:custDataLst>
          </p:nvPr>
        </p:nvSpPr>
        <p:spPr>
          <a:xfrm>
            <a:off x="5240020" y="3531235"/>
            <a:ext cx="2771140" cy="8864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近义词干扰下，向量可能被语义带偏</a:t>
            </a:r>
            <a:endParaRPr lang="en-US" sz="18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algn="ctr">
              <a:spcAft>
                <a:spcPts val="200"/>
              </a:spcAft>
            </a:pPr>
            <a:endParaRPr lang="zh-CN" altLang="en-US" sz="1400" b="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42"/>
            </p:custDataLst>
          </p:nvPr>
        </p:nvSpPr>
        <p:spPr>
          <a:xfrm>
            <a:off x="5240020" y="4986655"/>
            <a:ext cx="2871470" cy="7715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向量难以稳定对齐时刻 、时长字段</a:t>
            </a:r>
            <a:endParaRPr lang="en-US" sz="18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</p:spTree>
    <p:custDataLst>
      <p:tags r:id="rId4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07440" y="3747770"/>
            <a:ext cx="13542645" cy="323596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67842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762571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0645" y="171450"/>
            <a:ext cx="1576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217170" y="3907155"/>
            <a:ext cx="11787505" cy="282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fontAlgn="auto">
              <a:spcAft>
                <a:spcPts val="600"/>
              </a:spcAft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向量、结构化、关键词单路检索各有短板，三者并行融合能够弥补单通道的固有缺陷。</a:t>
            </a:r>
            <a:endParaRPr lang="zh-CN" altLang="en-US" sz="2200" b="1" dirty="0">
              <a:solidFill>
                <a:srgbClr val="784D30"/>
              </a:solidFill>
              <a:latin typeface="方正颜宋体" panose="02010600010101010101" charset="-122"/>
              <a:ea typeface="方正颜宋体" panose="02010600010101010101" charset="-122"/>
              <a:cs typeface="方正颜宋体" panose="02010600010101010101" charset="-122"/>
            </a:endParaRPr>
          </a:p>
          <a:p>
            <a:pPr marL="342900" indent="-342900" fontAlgn="auto">
              <a:spcAft>
                <a:spcPts val="600"/>
              </a:spcAft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在本组受控实验条件下，移除 </a:t>
            </a:r>
            <a:r>
              <a:rPr lang="en-US" altLang="zh-CN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Cross-Encoder </a:t>
            </a: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重排后准确率下降 8 个百分点，仅为本轮观测现象，不代表普遍因果规律。</a:t>
            </a:r>
            <a:endParaRPr lang="zh-CN" altLang="en-US" sz="2200" b="1" dirty="0">
              <a:solidFill>
                <a:srgbClr val="784D30"/>
              </a:solidFill>
              <a:latin typeface="方正颜宋体" panose="02010600010101010101" charset="-122"/>
              <a:ea typeface="方正颜宋体" panose="02010600010101010101" charset="-122"/>
              <a:cs typeface="方正颜宋体" panose="02010600010101010101" charset="-122"/>
            </a:endParaRPr>
          </a:p>
          <a:p>
            <a:pPr marL="342900" indent="-342900" fontAlgn="auto">
              <a:spcAft>
                <a:spcPts val="600"/>
              </a:spcAft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关闭 </a:t>
            </a:r>
            <a:r>
              <a:rPr lang="en-US" altLang="zh-CN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Query </a:t>
            </a: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改写模块依旧取得同等高精度，本组实验无法证实改写对准确率存在正向贡献。</a:t>
            </a:r>
            <a:endParaRPr lang="zh-CN" altLang="en-US" sz="2200" b="1" dirty="0">
              <a:solidFill>
                <a:srgbClr val="784D30"/>
              </a:solidFill>
              <a:latin typeface="方正颜宋体" panose="02010600010101010101" charset="-122"/>
              <a:ea typeface="方正颜宋体" panose="02010600010101010101" charset="-122"/>
              <a:cs typeface="方正颜宋体" panose="02010600010101010101" charset="-122"/>
            </a:endParaRPr>
          </a:p>
          <a:p>
            <a:pPr marL="342900" indent="-342900" fontAlgn="auto">
              <a:spcAft>
                <a:spcPts val="600"/>
              </a:spcAft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784D30"/>
                </a:solidFill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完整三路检索方案取得本组最优指标；该 98.0% 准确率仅为特定轮次受控观察值，不能等价于开放场景全域准确率。</a:t>
            </a:r>
            <a:endParaRPr lang="zh-CN" altLang="en-US" sz="2200" b="1" dirty="0">
              <a:solidFill>
                <a:srgbClr val="784D30"/>
              </a:solidFill>
              <a:latin typeface="方正颜宋体" panose="02010600010101010101" charset="-122"/>
              <a:ea typeface="方正颜宋体" panose="02010600010101010101" charset="-122"/>
              <a:cs typeface="方正颜宋体" panose="0201060001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创新技术</a:t>
            </a:r>
            <a:r>
              <a:rPr lang="en-US" alt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1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pic>
        <p:nvPicPr>
          <p:cNvPr id="52" name="图片 51"/>
          <p:cNvPicPr/>
          <p:nvPr/>
        </p:nvPicPr>
        <p:blipFill>
          <a:blip r:embed="rId4"/>
          <a:stretch>
            <a:fillRect/>
          </a:stretch>
        </p:blipFill>
        <p:spPr>
          <a:xfrm>
            <a:off x="3651250" y="953770"/>
            <a:ext cx="8025130" cy="301625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922020" y="1136650"/>
            <a:ext cx="2143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i="1">
                <a:latin typeface="汉仪力量黑简" panose="00020600040101010101" charset="-122"/>
                <a:ea typeface="汉仪力量黑简" panose="00020600040101010101" charset="-122"/>
              </a:rPr>
              <a:t>消融实证</a:t>
            </a:r>
            <a:endParaRPr lang="zh-CN" altLang="en-US" sz="3200" i="1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97840" y="2113915"/>
            <a:ext cx="2658110" cy="1012190"/>
            <a:chOff x="784" y="3857"/>
            <a:chExt cx="4186" cy="1594"/>
          </a:xfrm>
        </p:grpSpPr>
        <p:sp>
          <p:nvSpPr>
            <p:cNvPr id="58" name="文本框 57"/>
            <p:cNvSpPr txBox="1"/>
            <p:nvPr/>
          </p:nvSpPr>
          <p:spPr>
            <a:xfrm>
              <a:off x="1452" y="3897"/>
              <a:ext cx="2857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zh-CN" altLang="en-US" i="1" u="sng">
                  <a:latin typeface="黑体" panose="02010609060101010101" charset="-122"/>
                  <a:ea typeface="黑体" panose="02010609060101010101" charset="-122"/>
                </a:rPr>
                <a:t>权威基线与受控消融实验实证</a:t>
              </a:r>
              <a:endParaRPr lang="zh-CN" altLang="en-US" i="1" u="sng">
                <a:latin typeface="黑体" panose="02010609060101010101" charset="-122"/>
                <a:ea typeface="黑体" panose="02010609060101010101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88" y="3857"/>
              <a:ext cx="882" cy="159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84" y="3857"/>
              <a:ext cx="882" cy="1594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91480" y="479425"/>
            <a:ext cx="6847205" cy="618807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0" y="295275"/>
            <a:ext cx="12192000" cy="65627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0" y="1189990"/>
            <a:ext cx="5982335" cy="17595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3340" y="2913380"/>
            <a:ext cx="5623560" cy="27343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-95885" y="5163185"/>
            <a:ext cx="12362180" cy="225044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67842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762571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0645" y="171450"/>
            <a:ext cx="1576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创新技术</a:t>
            </a:r>
            <a:r>
              <a:rPr lang="en-US" alt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2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8290" y="890270"/>
            <a:ext cx="11466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zh-CN" altLang="en-US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+mn-ea"/>
              </a:rPr>
              <a:t>场景状态理解 ——让 AI 理解「游客是谁、想去哪、还有多少时间」</a:t>
            </a:r>
            <a:endParaRPr lang="zh-CN" altLang="en-US" sz="2800" b="1" i="1">
              <a:gradFill>
                <a:gsLst>
                  <a:gs pos="69000">
                    <a:schemeClr val="accent2">
                      <a:lumMod val="75000"/>
                    </a:schemeClr>
                  </a:gs>
                  <a:gs pos="33000">
                    <a:srgbClr val="C48A88"/>
                  </a:gs>
                  <a:gs pos="0">
                    <a:schemeClr val="accent2">
                      <a:lumMod val="75000"/>
                    </a:schemeClr>
                  </a:gs>
                </a:gsLst>
                <a:lin ang="2700000" scaled="0"/>
                <a:tileRect/>
              </a:gradFill>
              <a:effectLst>
                <a:outerShdw blurRad="50800" dist="38100" dir="2700000" algn="tl" rotWithShape="0">
                  <a:srgbClr val="FFFF00">
                    <a:alpha val="40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>
            <a:lum bright="70000" contrast="-88000"/>
          </a:blip>
          <a:stretch>
            <a:fillRect/>
          </a:stretch>
        </p:blipFill>
        <p:spPr>
          <a:xfrm>
            <a:off x="6150610" y="95885"/>
            <a:ext cx="5347970" cy="4088130"/>
          </a:xfrm>
          <a:prstGeom prst="rect">
            <a:avLst/>
          </a:prstGeom>
        </p:spPr>
      </p:pic>
      <p:sp>
        <p:nvSpPr>
          <p:cNvPr id="51" name="Text 11"/>
          <p:cNvSpPr/>
          <p:nvPr/>
        </p:nvSpPr>
        <p:spPr>
          <a:xfrm>
            <a:off x="6725285" y="1819910"/>
            <a:ext cx="5715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A2E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系统解析出的 Scene State（结构化游客状态</a:t>
            </a:r>
            <a:r>
              <a:rPr lang="en-US" sz="1600" b="1" dirty="0">
                <a:solidFill>
                  <a:srgbClr val="242A2E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）</a:t>
            </a:r>
            <a:endParaRPr lang="en-US" sz="16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043930" y="2372360"/>
            <a:ext cx="5715000" cy="3235960"/>
            <a:chOff x="9422" y="3736"/>
            <a:chExt cx="9000" cy="5096"/>
          </a:xfrm>
        </p:grpSpPr>
        <p:sp>
          <p:nvSpPr>
            <p:cNvPr id="54" name="Shape 12"/>
            <p:cNvSpPr/>
            <p:nvPr>
              <p:custDataLst>
                <p:tags r:id="rId9"/>
              </p:custDataLst>
            </p:nvPr>
          </p:nvSpPr>
          <p:spPr>
            <a:xfrm>
              <a:off x="9422" y="3736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59" name="Text 13"/>
            <p:cNvSpPr/>
            <p:nvPr>
              <p:custDataLst>
                <p:tags r:id="rId10"/>
              </p:custDataLst>
            </p:nvPr>
          </p:nvSpPr>
          <p:spPr>
            <a:xfrm>
              <a:off x="9739" y="3880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当前地点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1" name="Text 14"/>
            <p:cNvSpPr/>
            <p:nvPr>
              <p:custDataLst>
                <p:tags r:id="rId11"/>
              </p:custDataLst>
            </p:nvPr>
          </p:nvSpPr>
          <p:spPr>
            <a:xfrm>
              <a:off x="9739" y="4254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南门入口</a:t>
              </a:r>
              <a:endParaRPr lang="en-US" sz="1100" dirty="0"/>
            </a:p>
          </p:txBody>
        </p:sp>
        <p:sp>
          <p:nvSpPr>
            <p:cNvPr id="62" name="Shape 15"/>
            <p:cNvSpPr/>
            <p:nvPr>
              <p:custDataLst>
                <p:tags r:id="rId12"/>
              </p:custDataLst>
            </p:nvPr>
          </p:nvSpPr>
          <p:spPr>
            <a:xfrm>
              <a:off x="14210" y="3736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63" name="Text 16"/>
            <p:cNvSpPr/>
            <p:nvPr>
              <p:custDataLst>
                <p:tags r:id="rId13"/>
              </p:custDataLst>
            </p:nvPr>
          </p:nvSpPr>
          <p:spPr>
            <a:xfrm>
              <a:off x="14527" y="3880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当前时间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4" name="Text 17"/>
            <p:cNvSpPr/>
            <p:nvPr>
              <p:custDataLst>
                <p:tags r:id="rId14"/>
              </p:custDataLst>
            </p:nvPr>
          </p:nvSpPr>
          <p:spPr>
            <a:xfrm>
              <a:off x="14527" y="4254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>
                <a:defRPr sz="1400" b="1"/>
              </a:pPr>
              <a:r>
                <a:rPr lang="en-US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11:00</a:t>
              </a:r>
              <a:endParaRPr lang="en-US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5" name="Shape 18"/>
            <p:cNvSpPr/>
            <p:nvPr>
              <p:custDataLst>
                <p:tags r:id="rId15"/>
              </p:custDataLst>
            </p:nvPr>
          </p:nvSpPr>
          <p:spPr>
            <a:xfrm>
              <a:off x="9422" y="5061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66" name="Text 19"/>
            <p:cNvSpPr/>
            <p:nvPr>
              <p:custDataLst>
                <p:tags r:id="rId16"/>
              </p:custDataLst>
            </p:nvPr>
          </p:nvSpPr>
          <p:spPr>
            <a:xfrm>
              <a:off x="9739" y="5205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剩余时间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7" name="Text 20"/>
            <p:cNvSpPr/>
            <p:nvPr>
              <p:custDataLst>
                <p:tags r:id="rId17"/>
              </p:custDataLst>
            </p:nvPr>
          </p:nvSpPr>
          <p:spPr>
            <a:xfrm>
              <a:off x="9739" y="5579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>
                <a:defRPr sz="1300" b="1"/>
              </a:pPr>
              <a:r>
                <a:rPr lang="en-US" sz="1400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300 分 (5小时)</a:t>
              </a:r>
              <a:endParaRPr lang="en-US" sz="1400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8" name="Shape 21"/>
            <p:cNvSpPr/>
            <p:nvPr>
              <p:custDataLst>
                <p:tags r:id="rId18"/>
              </p:custDataLst>
            </p:nvPr>
          </p:nvSpPr>
          <p:spPr>
            <a:xfrm>
              <a:off x="14210" y="5061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69" name="Text 22"/>
            <p:cNvSpPr/>
            <p:nvPr>
              <p:custDataLst>
                <p:tags r:id="rId19"/>
              </p:custDataLst>
            </p:nvPr>
          </p:nvSpPr>
          <p:spPr>
            <a:xfrm>
              <a:off x="14527" y="5205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同行人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0" name="Text 23"/>
            <p:cNvSpPr/>
            <p:nvPr>
              <p:custDataLst>
                <p:tags r:id="rId20"/>
              </p:custDataLst>
            </p:nvPr>
          </p:nvSpPr>
          <p:spPr>
            <a:xfrm>
              <a:off x="14527" y="5579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老人</a:t>
              </a:r>
              <a:endParaRPr lang="en-US" sz="1100" dirty="0"/>
            </a:p>
          </p:txBody>
        </p:sp>
        <p:sp>
          <p:nvSpPr>
            <p:cNvPr id="71" name="Shape 24"/>
            <p:cNvSpPr/>
            <p:nvPr>
              <p:custDataLst>
                <p:tags r:id="rId21"/>
              </p:custDataLst>
            </p:nvPr>
          </p:nvSpPr>
          <p:spPr>
            <a:xfrm>
              <a:off x="9422" y="6386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72" name="Text 25"/>
            <p:cNvSpPr/>
            <p:nvPr>
              <p:custDataLst>
                <p:tags r:id="rId22"/>
              </p:custDataLst>
            </p:nvPr>
          </p:nvSpPr>
          <p:spPr>
            <a:xfrm>
              <a:off x="9739" y="6530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行动能力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3" name="Text 26"/>
            <p:cNvSpPr/>
            <p:nvPr>
              <p:custDataLst>
                <p:tags r:id="rId23"/>
              </p:custDataLst>
            </p:nvPr>
          </p:nvSpPr>
          <p:spPr>
            <a:xfrm>
              <a:off x="9739" y="6904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行动受限</a:t>
              </a:r>
              <a:endParaRPr lang="en-US" sz="1100" dirty="0"/>
            </a:p>
          </p:txBody>
        </p:sp>
        <p:sp>
          <p:nvSpPr>
            <p:cNvPr id="74" name="Shape 27"/>
            <p:cNvSpPr/>
            <p:nvPr>
              <p:custDataLst>
                <p:tags r:id="rId24"/>
              </p:custDataLst>
            </p:nvPr>
          </p:nvSpPr>
          <p:spPr>
            <a:xfrm>
              <a:off x="14210" y="6386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75" name="Text 28"/>
            <p:cNvSpPr/>
            <p:nvPr>
              <p:custDataLst>
                <p:tags r:id="rId25"/>
              </p:custDataLst>
            </p:nvPr>
          </p:nvSpPr>
          <p:spPr>
            <a:xfrm>
              <a:off x="14527" y="6530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演艺偏好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6" name="Text 29"/>
            <p:cNvSpPr/>
            <p:nvPr>
              <p:custDataLst>
                <p:tags r:id="rId26"/>
              </p:custDataLst>
            </p:nvPr>
          </p:nvSpPr>
          <p:spPr>
            <a:xfrm>
              <a:off x="14527" y="6904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《灵山吉祥颂》14:00</a:t>
              </a:r>
              <a:endParaRPr lang="en-US" sz="14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7" name="Shape 30"/>
            <p:cNvSpPr/>
            <p:nvPr>
              <p:custDataLst>
                <p:tags r:id="rId27"/>
              </p:custDataLst>
            </p:nvPr>
          </p:nvSpPr>
          <p:spPr>
            <a:xfrm>
              <a:off x="9422" y="7710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78" name="Text 31"/>
            <p:cNvSpPr/>
            <p:nvPr>
              <p:custDataLst>
                <p:tags r:id="rId28"/>
              </p:custDataLst>
            </p:nvPr>
          </p:nvSpPr>
          <p:spPr>
            <a:xfrm>
              <a:off x="9739" y="7854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必去 / 已游景点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9" name="Text 32"/>
            <p:cNvSpPr/>
            <p:nvPr>
              <p:custDataLst>
                <p:tags r:id="rId29"/>
              </p:custDataLst>
            </p:nvPr>
          </p:nvSpPr>
          <p:spPr>
            <a:xfrm>
              <a:off x="9739" y="8229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由需求与路线引擎共同维护</a:t>
              </a:r>
              <a:endParaRPr lang="en-US" sz="14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80" name="Shape 33"/>
            <p:cNvSpPr/>
            <p:nvPr>
              <p:custDataLst>
                <p:tags r:id="rId30"/>
              </p:custDataLst>
            </p:nvPr>
          </p:nvSpPr>
          <p:spPr>
            <a:xfrm>
              <a:off x="14210" y="7710"/>
              <a:ext cx="4212" cy="1123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4DED4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81" name="Text 34"/>
            <p:cNvSpPr/>
            <p:nvPr>
              <p:custDataLst>
                <p:tags r:id="rId31"/>
              </p:custDataLst>
            </p:nvPr>
          </p:nvSpPr>
          <p:spPr>
            <a:xfrm>
              <a:off x="14527" y="7854"/>
              <a:ext cx="3578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缺失关键字段</a:t>
              </a:r>
              <a:endParaRPr lang="en-US" sz="12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82" name="Text 35"/>
            <p:cNvSpPr/>
            <p:nvPr>
              <p:custDataLst>
                <p:tags r:id="rId32"/>
              </p:custDataLst>
            </p:nvPr>
          </p:nvSpPr>
          <p:spPr>
            <a:xfrm>
              <a:off x="14527" y="8229"/>
              <a:ext cx="3578" cy="46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无 —— 若缺失则主动追问</a:t>
              </a:r>
              <a:endParaRPr lang="en-US" sz="1100" dirty="0"/>
            </a:p>
          </p:txBody>
        </p:sp>
      </p:grpSp>
      <p:sp>
        <p:nvSpPr>
          <p:cNvPr id="87" name="Text 10"/>
          <p:cNvSpPr/>
          <p:nvPr/>
        </p:nvSpPr>
        <p:spPr>
          <a:xfrm>
            <a:off x="555625" y="1671955"/>
            <a:ext cx="5067935" cy="928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573823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一段自然语言里同时包含：同行人、行动能力、当前时间、时间预算、演艺偏好、当前位置——这正是真实游客的说话方式。</a:t>
            </a:r>
            <a:endParaRPr lang="en-US" sz="1600" b="1" dirty="0">
              <a:solidFill>
                <a:srgbClr val="573823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327150" y="5893435"/>
            <a:ext cx="9537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rgbClr val="573823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洪荒之力简 中黑" panose="02010604000000000000" charset="-122"/>
                <a:ea typeface="锐字洪荒之力简 中黑" panose="02010604000000000000" charset="-122"/>
                <a:sym typeface="+mn-ea"/>
              </a:rPr>
              <a:t>系统形成可复用的「游客状态」，而不是只做一次性问答；信息不足时用自然语言追问，不猜不编</a:t>
            </a:r>
            <a:endParaRPr lang="zh-CN" altLang="en-US" sz="2400" b="1" dirty="0">
              <a:solidFill>
                <a:srgbClr val="573823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洪荒之力简 中黑" panose="02010604000000000000" charset="-122"/>
              <a:ea typeface="锐字洪荒之力简 中黑" panose="02010604000000000000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1650" y="3282315"/>
            <a:ext cx="4563110" cy="1772920"/>
            <a:chOff x="874" y="5169"/>
            <a:chExt cx="7186" cy="2792"/>
          </a:xfrm>
        </p:grpSpPr>
        <p:sp>
          <p:nvSpPr>
            <p:cNvPr id="83" name="Shape 6"/>
            <p:cNvSpPr/>
            <p:nvPr/>
          </p:nvSpPr>
          <p:spPr>
            <a:xfrm>
              <a:off x="874" y="5169"/>
              <a:ext cx="7187" cy="2792"/>
            </a:xfrm>
            <a:prstGeom prst="roundRect">
              <a:avLst>
                <a:gd name="adj" fmla="val 1023"/>
              </a:avLst>
            </a:prstGeom>
            <a:solidFill>
              <a:srgbClr val="FFFFFF"/>
            </a:solidFill>
            <a:ln w="9525">
              <a:noFill/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p/>
          </p:txBody>
        </p:sp>
        <p:sp>
          <p:nvSpPr>
            <p:cNvPr id="84" name="Text 7"/>
            <p:cNvSpPr/>
            <p:nvPr/>
          </p:nvSpPr>
          <p:spPr>
            <a:xfrm>
              <a:off x="1260" y="5181"/>
              <a:ext cx="4320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真实游客输入</a:t>
              </a:r>
              <a:endParaRPr lang="en-US" sz="1200" dirty="0"/>
            </a:p>
          </p:txBody>
        </p:sp>
        <p:sp>
          <p:nvSpPr>
            <p:cNvPr id="85" name="Shape 8"/>
            <p:cNvSpPr/>
            <p:nvPr/>
          </p:nvSpPr>
          <p:spPr>
            <a:xfrm>
              <a:off x="1021" y="5807"/>
              <a:ext cx="6869" cy="1931"/>
            </a:xfrm>
            <a:prstGeom prst="roundRect">
              <a:avLst>
                <a:gd name="adj" fmla="val 2857"/>
              </a:avLst>
            </a:prstGeom>
            <a:solidFill>
              <a:srgbClr val="F3EFE7"/>
            </a:solidFill>
          </p:spPr>
          <p:txBody>
            <a:bodyPr/>
            <a:p/>
          </p:txBody>
        </p:sp>
        <p:sp>
          <p:nvSpPr>
            <p:cNvPr id="86" name="Text 9"/>
            <p:cNvSpPr/>
            <p:nvPr/>
          </p:nvSpPr>
          <p:spPr>
            <a:xfrm>
              <a:off x="1420" y="5251"/>
              <a:ext cx="6329" cy="24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indent="0" algn="l" fontAlgn="auto">
                <a:lnSpc>
                  <a:spcPct val="120000"/>
                </a:lnSpc>
                <a:defRPr sz="1100"/>
              </a:pPr>
              <a:r>
                <a:rPr lang="en-US" sz="1600"/>
                <a:t>      </a:t>
              </a:r>
              <a:r>
                <a:rPr lang="en-US" sz="3200"/>
                <a:t>  </a:t>
              </a:r>
              <a:r>
                <a:rPr sz="1400"/>
                <a:t>我带腿脚不方便的妈妈，现在在正门</a:t>
              </a:r>
              <a:r>
                <a:rPr lang="zh-CN" sz="1400"/>
                <a:t>，</a:t>
              </a:r>
              <a:r>
                <a:rPr sz="1400"/>
                <a:t>预计下午四点前返程（限时5小时），还想看两点的《吉祥颂》，怎么走？</a:t>
              </a:r>
              <a:r>
                <a:rPr lang="en-US" sz="1600"/>
                <a:t> </a:t>
              </a:r>
              <a:endParaRPr lang="en-US" sz="3200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169" y="5868"/>
              <a:ext cx="589" cy="58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3558" y="6783"/>
              <a:ext cx="775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defRPr sz="1100"/>
              </a:pPr>
              <a:r>
                <a:rPr lang="en-US" sz="3200">
                  <a:sym typeface="+mn-ea"/>
                </a:rPr>
                <a:t>”</a:t>
              </a:r>
              <a:endParaRPr lang="zh-CN" altLang="en-US" sz="1400" b="0">
                <a:solidFill>
                  <a:srgbClr val="4A5568"/>
                </a:solidFill>
                <a:latin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800" y="5783"/>
              <a:ext cx="912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>
                <a:spcAft>
                  <a:spcPts val="200"/>
                </a:spcAft>
              </a:pPr>
              <a:r>
                <a:rPr lang="en-US" sz="3200">
                  <a:sym typeface="+mn-ea"/>
                </a:rPr>
                <a:t>“</a:t>
              </a:r>
              <a:endParaRPr lang="zh-CN" altLang="en-US" sz="1400" b="0">
                <a:solidFill>
                  <a:srgbClr val="4A5568"/>
                </a:solidFill>
                <a:latin typeface="微软雅黑" panose="020B0503020204020204" charset="-122"/>
              </a:endParaRPr>
            </a:p>
          </p:txBody>
        </p:sp>
      </p:grpSp>
    </p:spTree>
    <p:custDataLst>
      <p:tags r:id="rId3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7842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762571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00645" y="171450"/>
            <a:ext cx="1576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altLang="en-US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创新技术</a:t>
            </a:r>
            <a:r>
              <a:rPr lang="en-US" alt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3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111" name="任意多边形 110"/>
          <p:cNvSpPr/>
          <p:nvPr/>
        </p:nvSpPr>
        <p:spPr>
          <a:xfrm>
            <a:off x="6000750" y="1414145"/>
            <a:ext cx="5982335" cy="440182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113" h="6588">
                <a:moveTo>
                  <a:pt x="582" y="0"/>
                </a:moveTo>
                <a:lnTo>
                  <a:pt x="8603" y="0"/>
                </a:lnTo>
                <a:lnTo>
                  <a:pt x="8605" y="20"/>
                </a:lnTo>
                <a:cubicBezTo>
                  <a:pt x="8632" y="285"/>
                  <a:pt x="8842" y="495"/>
                  <a:pt x="9107" y="522"/>
                </a:cubicBezTo>
                <a:lnTo>
                  <a:pt x="9113" y="523"/>
                </a:lnTo>
                <a:lnTo>
                  <a:pt x="9113" y="6013"/>
                </a:lnTo>
                <a:lnTo>
                  <a:pt x="9107" y="6014"/>
                </a:lnTo>
                <a:cubicBezTo>
                  <a:pt x="8823" y="6043"/>
                  <a:pt x="8602" y="6282"/>
                  <a:pt x="8602" y="6574"/>
                </a:cubicBezTo>
                <a:lnTo>
                  <a:pt x="8602" y="6588"/>
                </a:lnTo>
                <a:lnTo>
                  <a:pt x="583" y="6588"/>
                </a:lnTo>
                <a:lnTo>
                  <a:pt x="583" y="6574"/>
                </a:lnTo>
                <a:cubicBezTo>
                  <a:pt x="583" y="6263"/>
                  <a:pt x="331" y="6011"/>
                  <a:pt x="21" y="6011"/>
                </a:cubicBezTo>
                <a:lnTo>
                  <a:pt x="0" y="6012"/>
                </a:lnTo>
                <a:lnTo>
                  <a:pt x="0" y="524"/>
                </a:lnTo>
                <a:lnTo>
                  <a:pt x="21" y="525"/>
                </a:lnTo>
                <a:cubicBezTo>
                  <a:pt x="312" y="525"/>
                  <a:pt x="551" y="304"/>
                  <a:pt x="580" y="20"/>
                </a:cubicBezTo>
                <a:lnTo>
                  <a:pt x="582" y="0"/>
                </a:lnTo>
                <a:close/>
              </a:path>
            </a:pathLst>
          </a:custGeom>
          <a:solidFill>
            <a:schemeClr val="bg2"/>
          </a:solidFill>
          <a:ln w="9525" cap="flat" cmpd="sng" algn="ctr">
            <a:noFill/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2" name="Text 2"/>
          <p:cNvSpPr/>
          <p:nvPr/>
        </p:nvSpPr>
        <p:spPr>
          <a:xfrm>
            <a:off x="502920" y="792607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i="1">
                <a:gradFill>
                  <a:gsLst>
                    <a:gs pos="69000">
                      <a:schemeClr val="accent2">
                        <a:lumMod val="75000"/>
                      </a:schemeClr>
                    </a:gs>
                    <a:gs pos="33000">
                      <a:srgbClr val="C48A88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0"/>
                  <a:tileRect/>
                </a:gradFill>
                <a:effectLst>
                  <a:outerShdw blurRad="50800" dist="38100" dir="2700000" algn="tl" rotWithShape="0">
                    <a:srgbClr val="FFFF00">
                      <a:alpha val="4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多约束路线规划——路线生成由真实约束驱动，而不是模型随口推荐</a:t>
            </a:r>
            <a:endParaRPr lang="en-US" sz="2100" dirty="0"/>
          </a:p>
        </p:txBody>
      </p:sp>
      <p:sp>
        <p:nvSpPr>
          <p:cNvPr id="113" name="Shape 6"/>
          <p:cNvSpPr/>
          <p:nvPr/>
        </p:nvSpPr>
        <p:spPr>
          <a:xfrm>
            <a:off x="297180" y="1517650"/>
            <a:ext cx="5577840" cy="4876165"/>
          </a:xfrm>
          <a:prstGeom prst="roundRect">
            <a:avLst>
              <a:gd name="adj" fmla="val 957"/>
            </a:avLst>
          </a:prstGeom>
          <a:solidFill>
            <a:schemeClr val="bg2">
              <a:alpha val="24000"/>
            </a:schemeClr>
          </a:solidFill>
          <a:ln w="9525">
            <a:noFill/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4" name="Text 7"/>
          <p:cNvSpPr/>
          <p:nvPr/>
        </p:nvSpPr>
        <p:spPr>
          <a:xfrm>
            <a:off x="625475" y="165315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约束输入 → 确定性规划</a:t>
            </a:r>
            <a:endParaRPr lang="en-US" sz="1250" dirty="0"/>
          </a:p>
        </p:txBody>
      </p:sp>
      <p:sp>
        <p:nvSpPr>
          <p:cNvPr id="115" name="Shape 10"/>
          <p:cNvSpPr/>
          <p:nvPr/>
        </p:nvSpPr>
        <p:spPr>
          <a:xfrm>
            <a:off x="2234184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/>
        </p:txBody>
      </p:sp>
      <p:sp>
        <p:nvSpPr>
          <p:cNvPr id="116" name="Shape 12"/>
          <p:cNvSpPr/>
          <p:nvPr/>
        </p:nvSpPr>
        <p:spPr>
          <a:xfrm>
            <a:off x="3942588" y="2084832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>
            <a:pPr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7" name="Shape 16"/>
          <p:cNvSpPr/>
          <p:nvPr/>
        </p:nvSpPr>
        <p:spPr>
          <a:xfrm>
            <a:off x="2241804" y="2505456"/>
            <a:ext cx="1572768" cy="347472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/>
        </p:txBody>
      </p:sp>
      <p:sp>
        <p:nvSpPr>
          <p:cNvPr id="118" name="Shape 8"/>
          <p:cNvSpPr/>
          <p:nvPr/>
        </p:nvSpPr>
        <p:spPr>
          <a:xfrm>
            <a:off x="518160" y="2084705"/>
            <a:ext cx="1572895" cy="347345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/>
        </p:txBody>
      </p:sp>
      <p:sp>
        <p:nvSpPr>
          <p:cNvPr id="119" name="Text 9"/>
          <p:cNvSpPr/>
          <p:nvPr/>
        </p:nvSpPr>
        <p:spPr>
          <a:xfrm>
            <a:off x="518160" y="2075815"/>
            <a:ext cx="1572895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必去景点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2218690" y="2075815"/>
            <a:ext cx="1572895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时间预算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3919855" y="2075815"/>
            <a:ext cx="1572895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当前位置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518160" y="2505710"/>
            <a:ext cx="1572895" cy="347345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/>
        </p:txBody>
      </p:sp>
      <p:sp>
        <p:nvSpPr>
          <p:cNvPr id="123" name="Text 15"/>
          <p:cNvSpPr/>
          <p:nvPr/>
        </p:nvSpPr>
        <p:spPr>
          <a:xfrm>
            <a:off x="518160" y="2496185"/>
            <a:ext cx="1572895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行动能力 / 无障碍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2218690" y="2496185"/>
            <a:ext cx="1572895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演艺场次与时长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919855" y="2505710"/>
            <a:ext cx="1572895" cy="347345"/>
          </a:xfrm>
          <a:prstGeom prst="roundRect">
            <a:avLst>
              <a:gd name="adj" fmla="val 131579"/>
            </a:avLst>
          </a:prstGeom>
          <a:solidFill>
            <a:srgbClr val="F1EAE0"/>
          </a:solidFill>
        </p:spPr>
        <p:txBody>
          <a:bodyPr/>
          <a:p/>
        </p:txBody>
      </p:sp>
      <p:sp>
        <p:nvSpPr>
          <p:cNvPr id="126" name="Text 19"/>
          <p:cNvSpPr/>
          <p:nvPr/>
        </p:nvSpPr>
        <p:spPr>
          <a:xfrm>
            <a:off x="3912108" y="2496312"/>
            <a:ext cx="1572768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已游景点 · 开放窗口</a:t>
            </a:r>
            <a:endParaRPr lang="en-US" sz="105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517525" y="2995930"/>
            <a:ext cx="5176520" cy="825500"/>
          </a:xfrm>
          <a:prstGeom prst="roundRect">
            <a:avLst>
              <a:gd name="adj" fmla="val 12903"/>
            </a:avLst>
          </a:prstGeom>
          <a:solidFill>
            <a:schemeClr val="accent6">
              <a:lumMod val="75000"/>
              <a:alpha val="24000"/>
            </a:schemeClr>
          </a:solidFill>
        </p:spPr>
        <p:txBody>
          <a:bodyPr/>
          <a:p/>
        </p:txBody>
      </p:sp>
      <p:sp>
        <p:nvSpPr>
          <p:cNvPr id="128" name="Text 21"/>
          <p:cNvSpPr/>
          <p:nvPr/>
        </p:nvSpPr>
        <p:spPr>
          <a:xfrm>
            <a:off x="670560" y="3144520"/>
            <a:ext cx="489394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sz="1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运筹规划内核：Dijkstra 空间过滤 + 24 宽 Beam Search + 14 项 Route Validator</a:t>
            </a:r>
            <a:endParaRPr sz="16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9" name="Text 22" descr="7b0a2020202022776f7264617274223a2022220a7d0a"/>
          <p:cNvSpPr/>
          <p:nvPr/>
        </p:nvSpPr>
        <p:spPr>
          <a:xfrm>
            <a:off x="822960" y="40157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000">
                <a:solidFill>
                  <a:srgbClr val="64748B"/>
                </a:solidFill>
              </a:defRPr>
            </a:pPr>
            <a:r>
              <a:rPr lang="en-US" sz="1600" b="1" dirty="0">
                <a:solidFill>
                  <a:srgbClr val="C00000"/>
                </a:solidFill>
                <a:latin typeface="汉仪综艺体简" panose="02010600000101010101" charset="-122"/>
                <a:ea typeface="汉仪综艺体简" panose="02010600000101010101" charset="-122"/>
                <a:cs typeface="汉仪综艺体简" panose="02010600000101010101" charset="-122"/>
              </a:rPr>
              <a:t>LLM 负责理解与解释，但「路线可行」由算法裁决 —— 模型不能绕过硬约束宣布一条路线可行</a:t>
            </a:r>
            <a:endParaRPr lang="en-US" sz="1600" b="1" dirty="0">
              <a:solidFill>
                <a:srgbClr val="C00000"/>
              </a:solidFill>
              <a:latin typeface="汉仪综艺体简" panose="02010600000101010101" charset="-122"/>
              <a:ea typeface="汉仪综艺体简" panose="02010600000101010101" charset="-122"/>
              <a:cs typeface="汉仪综艺体简" panose="02010600000101010101" charset="-122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647700" y="4725670"/>
            <a:ext cx="4910455" cy="1408430"/>
            <a:chOff x="1368" y="6710"/>
            <a:chExt cx="7733" cy="2218"/>
          </a:xfrm>
        </p:grpSpPr>
        <p:sp>
          <p:nvSpPr>
            <p:cNvPr id="131" name="Shape 23"/>
            <p:cNvSpPr/>
            <p:nvPr/>
          </p:nvSpPr>
          <p:spPr>
            <a:xfrm>
              <a:off x="1368" y="6826"/>
              <a:ext cx="173" cy="173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132" name="Text 24"/>
            <p:cNvSpPr/>
            <p:nvPr/>
          </p:nvSpPr>
          <p:spPr>
            <a:xfrm>
              <a:off x="1685" y="6710"/>
              <a:ext cx="741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无障碍子图过滤 (坡度 &lt; 2.5° 剔除台阶)</a:t>
              </a:r>
              <a:endParaRPr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  <p:sp>
          <p:nvSpPr>
            <p:cNvPr id="133" name="Shape 25"/>
            <p:cNvSpPr/>
            <p:nvPr/>
          </p:nvSpPr>
          <p:spPr>
            <a:xfrm>
              <a:off x="1368" y="7402"/>
              <a:ext cx="173" cy="173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134" name="Text 26"/>
            <p:cNvSpPr/>
            <p:nvPr/>
          </p:nvSpPr>
          <p:spPr>
            <a:xfrm>
              <a:off x="1685" y="7286"/>
              <a:ext cx="741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buClrTx/>
                <a:buSzTx/>
                <a:buFontTx/>
              </a:pPr>
              <a:r>
                <a:rPr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演艺前置 15~20min 安检排队缓冲 + 倒排调度</a:t>
              </a:r>
              <a:endParaRPr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  <p:sp>
          <p:nvSpPr>
            <p:cNvPr id="135" name="Shape 27"/>
            <p:cNvSpPr/>
            <p:nvPr/>
          </p:nvSpPr>
          <p:spPr>
            <a:xfrm>
              <a:off x="1368" y="7978"/>
              <a:ext cx="173" cy="173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136" name="Text 28"/>
            <p:cNvSpPr/>
            <p:nvPr/>
          </p:nvSpPr>
          <p:spPr>
            <a:xfrm>
              <a:off x="1685" y="7862"/>
              <a:ext cx="741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l">
                <a:buClrTx/>
                <a:buSzTx/>
                <a:buFontTx/>
              </a:pPr>
              <a:r>
                <a:rPr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14 项形式化守恒仲裁器 (0 硬违规放行)</a:t>
              </a:r>
              <a:endParaRPr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  <p:sp>
          <p:nvSpPr>
            <p:cNvPr id="137" name="Shape 29"/>
            <p:cNvSpPr/>
            <p:nvPr/>
          </p:nvSpPr>
          <p:spPr>
            <a:xfrm>
              <a:off x="1368" y="8554"/>
              <a:ext cx="173" cy="173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138" name="Text 30"/>
            <p:cNvSpPr/>
            <p:nvPr/>
          </p:nvSpPr>
          <p:spPr>
            <a:xfrm>
              <a:off x="1685" y="8438"/>
              <a:ext cx="741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sz="1800"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不可行 → 拒绝并给替代方案</a:t>
              </a:r>
              <a:endParaRPr sz="1800"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</p:grpSp>
      <p:sp>
        <p:nvSpPr>
          <p:cNvPr id="139" name="Text 31"/>
          <p:cNvSpPr/>
          <p:nvPr/>
        </p:nvSpPr>
        <p:spPr>
          <a:xfrm>
            <a:off x="6499860" y="149961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42A2E"/>
                </a:solidFill>
                <a:latin typeface="方正粗黑宋简体" panose="02000000000000000000" charset="-122"/>
                <a:ea typeface="方正粗黑宋简体" panose="02000000000000000000" charset="-122"/>
                <a:cs typeface="微软雅黑" panose="020B0503020204020204" pitchFamily="34" charset="-120"/>
              </a:rPr>
              <a:t>真实路网与验证结果</a:t>
            </a:r>
            <a:r>
              <a:rPr lang="zh-CN" altLang="en-US" sz="1400" b="1" u="sng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endParaRPr lang="zh-CN" altLang="en-US" sz="1400" b="1" u="sng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140" name="Image 0" descr="D:/Dev/ppt-build/assets/fangong_w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01952"/>
            <a:ext cx="5303520" cy="1481328"/>
          </a:xfrm>
          <a:prstGeom prst="rect">
            <a:avLst/>
          </a:prstGeom>
        </p:spPr>
      </p:pic>
      <p:sp>
        <p:nvSpPr>
          <p:cNvPr id="141" name="Text 32"/>
          <p:cNvSpPr/>
          <p:nvPr/>
        </p:nvSpPr>
        <p:spPr>
          <a:xfrm>
            <a:off x="6355080" y="34015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灵山梵宫（《吉祥颂》演出地，LS-013）</a:t>
            </a:r>
            <a:endParaRPr lang="en-US" sz="800" i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6355080" y="369570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en-US" sz="16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23 个景点 POI</a:t>
            </a:r>
            <a:endParaRPr lang="en-US" sz="16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3" name="Text 34"/>
          <p:cNvSpPr/>
          <p:nvPr/>
        </p:nvSpPr>
        <p:spPr>
          <a:xfrm>
            <a:off x="9006840" y="3509645"/>
            <a:ext cx="2804160" cy="82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algn="l">
              <a:buClrTx/>
              <a:buSzTx/>
              <a:buFont typeface="Wingdings" panose="05000000000000000000" charset="0"/>
              <a:buChar char="u"/>
            </a:pPr>
            <a:r>
              <a:rPr lang="en-US" sz="16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30 条当前登记道路边（31 条目标口径待补齐核验）</a:t>
            </a:r>
            <a:endParaRPr lang="en-US" sz="16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6355080" y="419404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algn="l">
              <a:buClrTx/>
              <a:buSzTx/>
              <a:buFont typeface="Wingdings" panose="05000000000000000000" charset="0"/>
              <a:buChar char="u"/>
            </a:pPr>
            <a:r>
              <a:rPr lang="en-US" sz="16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场演艺（时刻·时长）</a:t>
            </a:r>
            <a:endParaRPr lang="en-US" sz="16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5" name="Text 36"/>
          <p:cNvSpPr/>
          <p:nvPr/>
        </p:nvSpPr>
        <p:spPr>
          <a:xfrm>
            <a:off x="9006840" y="420166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 algn="l">
              <a:buClrTx/>
              <a:buSzTx/>
              <a:buFont typeface="Wingdings" panose="05000000000000000000" charset="0"/>
              <a:buChar char="u"/>
            </a:pPr>
            <a:r>
              <a:rPr lang="en-US" sz="16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类设施</a:t>
            </a:r>
            <a:endParaRPr lang="en-US" sz="1600" b="1" dirty="0">
              <a:solidFill>
                <a:srgbClr val="242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6" name="Shape 37"/>
          <p:cNvSpPr/>
          <p:nvPr/>
        </p:nvSpPr>
        <p:spPr>
          <a:xfrm>
            <a:off x="6355080" y="4572635"/>
            <a:ext cx="5303520" cy="915670"/>
          </a:xfrm>
          <a:prstGeom prst="roundRect">
            <a:avLst>
              <a:gd name="adj" fmla="val 3516"/>
            </a:avLst>
          </a:prstGeom>
          <a:solidFill>
            <a:srgbClr val="9C643E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7" name="Text 38"/>
          <p:cNvSpPr/>
          <p:nvPr/>
        </p:nvSpPr>
        <p:spPr>
          <a:xfrm>
            <a:off x="6583680" y="4645152"/>
            <a:ext cx="15240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E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60/60</a:t>
            </a:r>
            <a:endParaRPr lang="en-US" sz="2100" dirty="0"/>
          </a:p>
        </p:txBody>
      </p:sp>
      <p:sp>
        <p:nvSpPr>
          <p:cNvPr id="148" name="Text 39"/>
          <p:cNvSpPr/>
          <p:nvPr/>
        </p:nvSpPr>
        <p:spPr>
          <a:xfrm>
            <a:off x="6583680" y="5147945"/>
            <a:ext cx="1524000" cy="255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C9C2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可行性分类正确</a:t>
            </a:r>
            <a:endParaRPr lang="en-US" sz="1200" dirty="0">
              <a:solidFill>
                <a:srgbClr val="C9C2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9" name="Text 40"/>
          <p:cNvSpPr/>
          <p:nvPr/>
        </p:nvSpPr>
        <p:spPr>
          <a:xfrm>
            <a:off x="8199120" y="4645152"/>
            <a:ext cx="15240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E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</a:t>
            </a:r>
            <a:endParaRPr lang="en-US" sz="2100" dirty="0"/>
          </a:p>
        </p:txBody>
      </p:sp>
      <p:sp>
        <p:nvSpPr>
          <p:cNvPr id="150" name="Text 41"/>
          <p:cNvSpPr/>
          <p:nvPr/>
        </p:nvSpPr>
        <p:spPr>
          <a:xfrm>
            <a:off x="8199120" y="5109845"/>
            <a:ext cx="1524000" cy="255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9C2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硬约束违规 </a:t>
            </a:r>
            <a:endParaRPr lang="en-US" sz="1200" dirty="0">
              <a:solidFill>
                <a:srgbClr val="C9C2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1" name="Text 42"/>
          <p:cNvSpPr/>
          <p:nvPr/>
        </p:nvSpPr>
        <p:spPr>
          <a:xfrm>
            <a:off x="9814560" y="4645152"/>
            <a:ext cx="15240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EA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1.0</a:t>
            </a:r>
            <a:endParaRPr lang="en-US" sz="2100" dirty="0"/>
          </a:p>
        </p:txBody>
      </p:sp>
      <p:sp>
        <p:nvSpPr>
          <p:cNvPr id="152" name="Text 43"/>
          <p:cNvSpPr/>
          <p:nvPr/>
        </p:nvSpPr>
        <p:spPr>
          <a:xfrm>
            <a:off x="9814560" y="5140452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C9C2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不可行 P / R / F1</a:t>
            </a:r>
            <a:endParaRPr lang="en-US" sz="1200" dirty="0">
              <a:solidFill>
                <a:srgbClr val="C9C2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53" name="Text 44"/>
          <p:cNvSpPr/>
          <p:nvPr/>
        </p:nvSpPr>
        <p:spPr>
          <a:xfrm>
            <a:off x="6499860" y="5937885"/>
            <a:ext cx="5062220" cy="727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950"/>
            </a:pPr>
            <a:r>
              <a:rPr sz="1200" b="1"/>
              <a:t>【23 个路线节点 + 30 条当前登记道路边（31 条目标口径待补齐核验）】：60 组边界案例测试 100% (60/60) 形式化合规，物理硬违规恒为 0！</a:t>
            </a:r>
            <a:endParaRPr sz="1200" b="1"/>
          </a:p>
          <a:p>
            <a:pPr>
              <a:defRPr sz="950"/>
            </a:pPr>
            <a:endParaRPr sz="1200" b="1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图片 105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rcRect r="1336" b="21521"/>
          <a:stretch>
            <a:fillRect/>
          </a:stretch>
        </p:blipFill>
        <p:spPr>
          <a:xfrm>
            <a:off x="0" y="3429000"/>
            <a:ext cx="12192000" cy="3545205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7288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908875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71940" y="168275"/>
            <a:ext cx="1719580" cy="46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实验验证</a:t>
            </a:r>
            <a:endParaRPr 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8" name="Shape 0"/>
          <p:cNvSpPr/>
          <p:nvPr/>
        </p:nvSpPr>
        <p:spPr>
          <a:xfrm>
            <a:off x="502920" y="826008"/>
            <a:ext cx="50292" cy="274320"/>
          </a:xfrm>
          <a:prstGeom prst="rect">
            <a:avLst/>
          </a:prstGeom>
          <a:solidFill>
            <a:srgbClr val="B08D57"/>
          </a:solidFill>
        </p:spPr>
        <p:txBody>
          <a:bodyPr/>
          <a:p/>
        </p:txBody>
      </p:sp>
      <p:sp>
        <p:nvSpPr>
          <p:cNvPr id="9" name="Text 1"/>
          <p:cNvSpPr/>
          <p:nvPr/>
        </p:nvSpPr>
        <p:spPr>
          <a:xfrm>
            <a:off x="630936" y="8077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rgbClr val="B08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实验验证 · 系统化评测</a:t>
            </a:r>
            <a:r>
              <a:rPr lang="en-US" sz="1050" b="1" kern="0" spc="150" dirty="0">
                <a:solidFill>
                  <a:srgbClr val="B08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Text 2"/>
          <p:cNvSpPr/>
          <p:nvPr/>
        </p:nvSpPr>
        <p:spPr>
          <a:xfrm>
            <a:off x="480060" y="1193292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n w="3175"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</a:rPr>
              <a:t>建立覆盖「知识—理解—决策」的系统化评测体系</a:t>
            </a:r>
            <a:endParaRPr lang="en-US" sz="2800" b="1" dirty="0">
              <a:ln w="3175"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</a:endParaRPr>
          </a:p>
        </p:txBody>
      </p:sp>
      <p:grpSp>
        <p:nvGrpSpPr>
          <p:cNvPr id="100" name="组合 99"/>
          <p:cNvGrpSpPr/>
          <p:nvPr/>
        </p:nvGrpSpPr>
        <p:grpSpPr>
          <a:xfrm rot="0">
            <a:off x="137795" y="1667510"/>
            <a:ext cx="3308985" cy="4057650"/>
            <a:chOff x="793" y="2566"/>
            <a:chExt cx="5211" cy="6390"/>
          </a:xfrm>
        </p:grpSpPr>
        <p:grpSp>
          <p:nvGrpSpPr>
            <p:cNvPr id="91" name="组合 90"/>
            <p:cNvGrpSpPr/>
            <p:nvPr/>
          </p:nvGrpSpPr>
          <p:grpSpPr>
            <a:xfrm rot="0">
              <a:off x="793" y="2566"/>
              <a:ext cx="4305" cy="6390"/>
              <a:chOff x="2516" y="2181"/>
              <a:chExt cx="6704" cy="6889"/>
            </a:xfrm>
          </p:grpSpPr>
          <p:pic>
            <p:nvPicPr>
              <p:cNvPr id="90" name="图片 8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" y="2181"/>
                <a:ext cx="6704" cy="6889"/>
              </a:xfrm>
              <a:prstGeom prst="rect">
                <a:avLst/>
              </a:prstGeom>
            </p:spPr>
          </p:pic>
          <p:sp>
            <p:nvSpPr>
              <p:cNvPr id="18" name="Text 8"/>
              <p:cNvSpPr/>
              <p:nvPr/>
            </p:nvSpPr>
            <p:spPr>
              <a:xfrm>
                <a:off x="3916" y="3180"/>
                <a:ext cx="4313" cy="40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RAG / Knowledge</a:t>
                </a:r>
                <a:endParaRPr 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</p:grpSp>
        <p:sp>
          <p:nvSpPr>
            <p:cNvPr id="19" name="Text 9"/>
            <p:cNvSpPr/>
            <p:nvPr/>
          </p:nvSpPr>
          <p:spPr>
            <a:xfrm>
              <a:off x="1224" y="4471"/>
              <a:ext cx="4781" cy="1037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96.0%</a:t>
              </a:r>
              <a:endParaRPr lang="en-US" sz="3200" dirty="0"/>
            </a:p>
          </p:txBody>
        </p:sp>
        <p:sp>
          <p:nvSpPr>
            <p:cNvPr id="20" name="Text 10"/>
            <p:cNvSpPr/>
            <p:nvPr/>
          </p:nvSpPr>
          <p:spPr>
            <a:xfrm>
              <a:off x="1224" y="5508"/>
              <a:ext cx="4781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A2684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48 / 50 通过</a:t>
              </a:r>
              <a:endParaRPr lang="en-US" sz="1400" b="1" dirty="0">
                <a:solidFill>
                  <a:srgbClr val="A268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21" name="Shape 11"/>
            <p:cNvSpPr/>
            <p:nvPr/>
          </p:nvSpPr>
          <p:spPr>
            <a:xfrm flipV="1">
              <a:off x="1272" y="6074"/>
              <a:ext cx="3199" cy="10"/>
            </a:xfrm>
            <a:prstGeom prst="line">
              <a:avLst/>
            </a:prstGeom>
            <a:noFill/>
            <a:ln w="9525">
              <a:solidFill>
                <a:srgbClr val="E4DED4"/>
              </a:solidFill>
              <a:prstDash val="solid"/>
            </a:ln>
          </p:spPr>
          <p:txBody>
            <a:bodyPr/>
            <a:p/>
          </p:txBody>
        </p:sp>
        <p:sp>
          <p:nvSpPr>
            <p:cNvPr id="22" name="Shape 12"/>
            <p:cNvSpPr/>
            <p:nvPr/>
          </p:nvSpPr>
          <p:spPr>
            <a:xfrm>
              <a:off x="1253" y="6458"/>
              <a:ext cx="13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25" name="Text 13"/>
            <p:cNvSpPr/>
            <p:nvPr/>
          </p:nvSpPr>
          <p:spPr>
            <a:xfrm>
              <a:off x="1512" y="6257"/>
              <a:ext cx="449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50 题 Fact Contract 评测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37" name="Shape 14"/>
            <p:cNvSpPr/>
            <p:nvPr/>
          </p:nvSpPr>
          <p:spPr>
            <a:xfrm>
              <a:off x="1253" y="6948"/>
              <a:ext cx="13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39" name="Text 15"/>
            <p:cNvSpPr/>
            <p:nvPr/>
          </p:nvSpPr>
          <p:spPr>
            <a:xfrm>
              <a:off x="1512" y="6746"/>
              <a:ext cx="449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Fact recall 0.970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41" name="Shape 16"/>
            <p:cNvSpPr/>
            <p:nvPr/>
          </p:nvSpPr>
          <p:spPr>
            <a:xfrm>
              <a:off x="1253" y="7438"/>
              <a:ext cx="13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42" name="Text 17"/>
            <p:cNvSpPr/>
            <p:nvPr/>
          </p:nvSpPr>
          <p:spPr>
            <a:xfrm>
              <a:off x="1512" y="7236"/>
              <a:ext cx="449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Retrieval success 50/50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43" name="Shape 18"/>
            <p:cNvSpPr/>
            <p:nvPr/>
          </p:nvSpPr>
          <p:spPr>
            <a:xfrm>
              <a:off x="1253" y="7927"/>
              <a:ext cx="13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44" name="Text 19"/>
            <p:cNvSpPr/>
            <p:nvPr/>
          </p:nvSpPr>
          <p:spPr>
            <a:xfrm>
              <a:off x="1512" y="7726"/>
              <a:ext cx="449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失败题保留，不隐藏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 rot="0">
            <a:off x="2775585" y="1667510"/>
            <a:ext cx="2924810" cy="4057650"/>
            <a:chOff x="5098" y="2566"/>
            <a:chExt cx="4606" cy="6390"/>
          </a:xfrm>
        </p:grpSpPr>
        <p:grpSp>
          <p:nvGrpSpPr>
            <p:cNvPr id="92" name="组合 91"/>
            <p:cNvGrpSpPr/>
            <p:nvPr/>
          </p:nvGrpSpPr>
          <p:grpSpPr>
            <a:xfrm rot="0">
              <a:off x="5098" y="2566"/>
              <a:ext cx="4607" cy="6390"/>
              <a:chOff x="2516" y="2181"/>
              <a:chExt cx="6704" cy="6889"/>
            </a:xfrm>
          </p:grpSpPr>
          <p:pic>
            <p:nvPicPr>
              <p:cNvPr id="93" name="图片 9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" y="2181"/>
                <a:ext cx="6704" cy="6889"/>
              </a:xfrm>
              <a:prstGeom prst="rect">
                <a:avLst/>
              </a:prstGeom>
            </p:spPr>
          </p:pic>
          <p:sp>
            <p:nvSpPr>
              <p:cNvPr id="94" name="Text 8"/>
              <p:cNvSpPr/>
              <p:nvPr/>
            </p:nvSpPr>
            <p:spPr>
              <a:xfrm>
                <a:off x="3940" y="3076"/>
                <a:ext cx="4006" cy="9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 Scene Understanding</a:t>
                </a:r>
                <a:endParaRPr lang="en-US" alt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  <a:p>
                <a:pPr marL="0" indent="0" algn="ctr">
                  <a:buNone/>
                </a:pPr>
                <a:endParaRPr lang="en-US" alt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</p:grpSp>
        <p:sp>
          <p:nvSpPr>
            <p:cNvPr id="48" name="Text 23"/>
            <p:cNvSpPr/>
            <p:nvPr/>
          </p:nvSpPr>
          <p:spPr>
            <a:xfrm>
              <a:off x="5598" y="4471"/>
              <a:ext cx="3682" cy="1037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40 / 40</a:t>
              </a:r>
              <a:endParaRPr lang="en-US" sz="3200" dirty="0"/>
            </a:p>
          </p:txBody>
        </p:sp>
        <p:sp>
          <p:nvSpPr>
            <p:cNvPr id="49" name="Text 24"/>
            <p:cNvSpPr/>
            <p:nvPr/>
          </p:nvSpPr>
          <p:spPr>
            <a:xfrm>
              <a:off x="5598" y="5508"/>
              <a:ext cx="3682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A2684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field accuracy 1.0</a:t>
              </a:r>
              <a:endParaRPr lang="en-US" sz="1400" b="1" dirty="0">
                <a:solidFill>
                  <a:srgbClr val="A268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0" name="Shape 25"/>
            <p:cNvSpPr/>
            <p:nvPr/>
          </p:nvSpPr>
          <p:spPr>
            <a:xfrm>
              <a:off x="5598" y="6084"/>
              <a:ext cx="3460" cy="1"/>
            </a:xfrm>
            <a:prstGeom prst="line">
              <a:avLst/>
            </a:prstGeom>
            <a:noFill/>
            <a:ln w="9525">
              <a:solidFill>
                <a:srgbClr val="E4DED4"/>
              </a:solidFill>
              <a:prstDash val="solid"/>
            </a:ln>
          </p:spPr>
          <p:txBody>
            <a:bodyPr/>
            <a:p/>
          </p:txBody>
        </p:sp>
        <p:sp>
          <p:nvSpPr>
            <p:cNvPr id="51" name="Shape 26"/>
            <p:cNvSpPr/>
            <p:nvPr/>
          </p:nvSpPr>
          <p:spPr>
            <a:xfrm>
              <a:off x="5620" y="6458"/>
              <a:ext cx="10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52" name="Text 27"/>
            <p:cNvSpPr/>
            <p:nvPr/>
          </p:nvSpPr>
          <p:spPr>
            <a:xfrm>
              <a:off x="5820" y="6257"/>
              <a:ext cx="346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老人 / 儿童 / 轮椅 / 行动受限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3" name="Shape 28"/>
            <p:cNvSpPr/>
            <p:nvPr/>
          </p:nvSpPr>
          <p:spPr>
            <a:xfrm>
              <a:off x="5620" y="6948"/>
              <a:ext cx="10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54" name="Text 29"/>
            <p:cNvSpPr/>
            <p:nvPr/>
          </p:nvSpPr>
          <p:spPr>
            <a:xfrm>
              <a:off x="5820" y="6746"/>
              <a:ext cx="346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时间约束 · 演艺偏好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6" name="Shape 30"/>
            <p:cNvSpPr/>
            <p:nvPr/>
          </p:nvSpPr>
          <p:spPr>
            <a:xfrm>
              <a:off x="5620" y="7438"/>
              <a:ext cx="10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57" name="Text 31"/>
            <p:cNvSpPr/>
            <p:nvPr/>
          </p:nvSpPr>
          <p:spPr>
            <a:xfrm>
              <a:off x="5820" y="7236"/>
              <a:ext cx="346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必去 / 已游景点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58" name="Shape 32"/>
            <p:cNvSpPr/>
            <p:nvPr/>
          </p:nvSpPr>
          <p:spPr>
            <a:xfrm>
              <a:off x="5620" y="7927"/>
              <a:ext cx="100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59" name="Text 33"/>
            <p:cNvSpPr/>
            <p:nvPr/>
          </p:nvSpPr>
          <p:spPr>
            <a:xfrm>
              <a:off x="5820" y="7726"/>
              <a:ext cx="346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缺失关键字段识别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 rot="0">
            <a:off x="5593080" y="1678940"/>
            <a:ext cx="2805430" cy="4046855"/>
            <a:chOff x="9634" y="2656"/>
            <a:chExt cx="4418" cy="6390"/>
          </a:xfrm>
        </p:grpSpPr>
        <p:grpSp>
          <p:nvGrpSpPr>
            <p:cNvPr id="95" name="组合 94"/>
            <p:cNvGrpSpPr/>
            <p:nvPr/>
          </p:nvGrpSpPr>
          <p:grpSpPr>
            <a:xfrm rot="0">
              <a:off x="9634" y="2656"/>
              <a:ext cx="4418" cy="6390"/>
              <a:chOff x="2516" y="2181"/>
              <a:chExt cx="6704" cy="6889"/>
            </a:xfrm>
          </p:grpSpPr>
          <p:pic>
            <p:nvPicPr>
              <p:cNvPr id="96" name="图片 9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6" y="2181"/>
                <a:ext cx="6704" cy="6889"/>
              </a:xfrm>
              <a:prstGeom prst="rect">
                <a:avLst/>
              </a:prstGeom>
            </p:spPr>
          </p:pic>
          <p:sp>
            <p:nvSpPr>
              <p:cNvPr id="97" name="Text 8"/>
              <p:cNvSpPr/>
              <p:nvPr/>
            </p:nvSpPr>
            <p:spPr>
              <a:xfrm>
                <a:off x="5000" y="3349"/>
                <a:ext cx="3046" cy="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 Route Planning</a:t>
                </a:r>
                <a:endParaRPr lang="en-US" alt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  <a:p>
                <a:pPr marL="0" indent="0">
                  <a:buNone/>
                </a:pPr>
                <a:endParaRPr lang="en-US" altLang="zh-CN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</p:grpSp>
        <p:sp>
          <p:nvSpPr>
            <p:cNvPr id="63" name="Text 37"/>
            <p:cNvSpPr/>
            <p:nvPr/>
          </p:nvSpPr>
          <p:spPr>
            <a:xfrm>
              <a:off x="10090" y="4561"/>
              <a:ext cx="3856" cy="1037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60 / 60</a:t>
              </a:r>
              <a:endParaRPr lang="en-US" sz="3200" dirty="0"/>
            </a:p>
          </p:txBody>
        </p:sp>
        <p:sp>
          <p:nvSpPr>
            <p:cNvPr id="64" name="Text 38"/>
            <p:cNvSpPr/>
            <p:nvPr/>
          </p:nvSpPr>
          <p:spPr>
            <a:xfrm>
              <a:off x="10090" y="5598"/>
              <a:ext cx="385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400" b="1" dirty="0">
                  <a:solidFill>
                    <a:srgbClr val="A2684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hard violations = 0</a:t>
              </a:r>
              <a:endParaRPr lang="en-US" sz="1400" b="1" dirty="0">
                <a:solidFill>
                  <a:srgbClr val="A268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5" name="Shape 39"/>
            <p:cNvSpPr/>
            <p:nvPr/>
          </p:nvSpPr>
          <p:spPr>
            <a:xfrm flipV="1">
              <a:off x="10090" y="6164"/>
              <a:ext cx="3365" cy="10"/>
            </a:xfrm>
            <a:prstGeom prst="line">
              <a:avLst/>
            </a:prstGeom>
            <a:noFill/>
            <a:ln w="9525">
              <a:solidFill>
                <a:srgbClr val="E4DED4"/>
              </a:solidFill>
              <a:prstDash val="solid"/>
            </a:ln>
          </p:spPr>
          <p:txBody>
            <a:bodyPr/>
            <a:p/>
          </p:txBody>
        </p:sp>
        <p:sp>
          <p:nvSpPr>
            <p:cNvPr id="66" name="Shape 40"/>
            <p:cNvSpPr/>
            <p:nvPr/>
          </p:nvSpPr>
          <p:spPr>
            <a:xfrm>
              <a:off x="10113" y="6548"/>
              <a:ext cx="105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67" name="Text 41"/>
            <p:cNvSpPr/>
            <p:nvPr/>
          </p:nvSpPr>
          <p:spPr>
            <a:xfrm>
              <a:off x="10323" y="6347"/>
              <a:ext cx="36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可行性分类全部正确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68" name="Shape 42"/>
            <p:cNvSpPr/>
            <p:nvPr/>
          </p:nvSpPr>
          <p:spPr>
            <a:xfrm>
              <a:off x="10113" y="7038"/>
              <a:ext cx="105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69" name="Text 43"/>
            <p:cNvSpPr/>
            <p:nvPr/>
          </p:nvSpPr>
          <p:spPr>
            <a:xfrm>
              <a:off x="10323" y="6836"/>
              <a:ext cx="36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不可行 P / R / F1 = 1.0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0" name="Shape 44"/>
            <p:cNvSpPr/>
            <p:nvPr/>
          </p:nvSpPr>
          <p:spPr>
            <a:xfrm>
              <a:off x="10113" y="7528"/>
              <a:ext cx="105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71" name="Text 45"/>
            <p:cNvSpPr/>
            <p:nvPr/>
          </p:nvSpPr>
          <p:spPr>
            <a:xfrm>
              <a:off x="10323" y="7326"/>
              <a:ext cx="36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10 组不可行用例诚实拒绝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72" name="Shape 46"/>
            <p:cNvSpPr/>
            <p:nvPr/>
          </p:nvSpPr>
          <p:spPr>
            <a:xfrm>
              <a:off x="10113" y="8017"/>
              <a:ext cx="105" cy="130"/>
            </a:xfrm>
            <a:prstGeom prst="ellipse">
              <a:avLst/>
            </a:prstGeom>
            <a:solidFill>
              <a:srgbClr val="B08D57"/>
            </a:solidFill>
          </p:spPr>
          <p:txBody>
            <a:bodyPr/>
            <a:p/>
          </p:txBody>
        </p:sp>
        <p:sp>
          <p:nvSpPr>
            <p:cNvPr id="73" name="Text 47"/>
            <p:cNvSpPr/>
            <p:nvPr/>
          </p:nvSpPr>
          <p:spPr>
            <a:xfrm>
              <a:off x="10323" y="7816"/>
              <a:ext cx="36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12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确定性重复执行一致</a:t>
              </a:r>
              <a:endParaRPr lang="en-US" sz="12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89" name="Text 63"/>
          <p:cNvSpPr/>
          <p:nvPr/>
        </p:nvSpPr>
        <p:spPr>
          <a:xfrm>
            <a:off x="502920" y="646938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PS:离线评测 ≠ 用户满意度；路线为结构化约束验证，步行时长标记 estimated。项目后续计划补充真实游客研究与运营方数据核验。</a:t>
            </a:r>
            <a:endParaRPr lang="en-US" sz="1050" dirty="0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8442325" y="1678940"/>
            <a:ext cx="3517265" cy="3126740"/>
            <a:chOff x="7370" y="-220"/>
            <a:chExt cx="11966" cy="10634"/>
          </a:xfrm>
          <a:effectLst>
            <a:glow rad="152400">
              <a:srgbClr val="FBF1CC">
                <a:alpha val="40000"/>
              </a:srgbClr>
            </a:glow>
            <a:outerShdw blurRad="50800" dist="38100" dir="2700000" sx="69000" sy="69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rcRect t="5306" b="5852"/>
            <a:stretch>
              <a:fillRect/>
            </a:stretch>
          </p:blipFill>
          <p:spPr>
            <a:xfrm>
              <a:off x="7370" y="-220"/>
              <a:ext cx="11966" cy="10635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任意多边形 12"/>
            <p:cNvSpPr/>
            <p:nvPr/>
          </p:nvSpPr>
          <p:spPr>
            <a:xfrm>
              <a:off x="9208" y="2202"/>
              <a:ext cx="5700" cy="4350"/>
            </a:xfrm>
            <a:custGeom>
              <a:avLst/>
              <a:gdLst>
                <a:gd name="connisteX0" fmla="*/ 0 w 3619500"/>
                <a:gd name="connsiteY0" fmla="*/ 762000 h 2762250"/>
                <a:gd name="connisteX1" fmla="*/ 2063750 w 3619500"/>
                <a:gd name="connsiteY1" fmla="*/ 0 h 2762250"/>
                <a:gd name="connisteX2" fmla="*/ 3619500 w 3619500"/>
                <a:gd name="connsiteY2" fmla="*/ 1047750 h 2762250"/>
                <a:gd name="connisteX3" fmla="*/ 3079750 w 3619500"/>
                <a:gd name="connsiteY3" fmla="*/ 2571750 h 2762250"/>
                <a:gd name="connisteX4" fmla="*/ 2063750 w 3619500"/>
                <a:gd name="connsiteY4" fmla="*/ 2762250 h 2762250"/>
                <a:gd name="connisteX5" fmla="*/ 1135380 w 3619500"/>
                <a:gd name="connsiteY5" fmla="*/ 2484755 h 2762250"/>
                <a:gd name="connisteX6" fmla="*/ 0 w 3619500"/>
                <a:gd name="connsiteY6" fmla="*/ 730250 h 27622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3619500" h="2762250">
                  <a:moveTo>
                    <a:pt x="0" y="762000"/>
                  </a:moveTo>
                  <a:lnTo>
                    <a:pt x="2063750" y="0"/>
                  </a:lnTo>
                  <a:lnTo>
                    <a:pt x="3619500" y="1047750"/>
                  </a:lnTo>
                  <a:lnTo>
                    <a:pt x="3079750" y="2571750"/>
                  </a:lnTo>
                  <a:lnTo>
                    <a:pt x="2063750" y="2762250"/>
                  </a:lnTo>
                  <a:lnTo>
                    <a:pt x="1135380" y="2484755"/>
                  </a:lnTo>
                  <a:lnTo>
                    <a:pt x="0" y="730250"/>
                  </a:lnTo>
                </a:path>
              </a:pathLst>
            </a:custGeom>
            <a:solidFill>
              <a:schemeClr val="accent6">
                <a:alpha val="21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8833" y="1265"/>
              <a:ext cx="7225" cy="8187"/>
            </a:xfrm>
            <a:custGeom>
              <a:avLst/>
              <a:gdLst>
                <a:gd name="connisteX0" fmla="*/ 0 w 4587875"/>
                <a:gd name="connsiteY0" fmla="*/ 3881120 h 5198745"/>
                <a:gd name="connisteX1" fmla="*/ 2301875 w 4587875"/>
                <a:gd name="connsiteY1" fmla="*/ 5198745 h 5198745"/>
                <a:gd name="connisteX2" fmla="*/ 4587875 w 4587875"/>
                <a:gd name="connsiteY2" fmla="*/ 3889375 h 5198745"/>
                <a:gd name="connisteX3" fmla="*/ 4524375 w 4587875"/>
                <a:gd name="connsiteY3" fmla="*/ 1254125 h 5198745"/>
                <a:gd name="connisteX4" fmla="*/ 2294255 w 4587875"/>
                <a:gd name="connsiteY4" fmla="*/ 0 h 5198745"/>
                <a:gd name="connisteX5" fmla="*/ 349250 w 4587875"/>
                <a:gd name="connsiteY5" fmla="*/ 1420495 h 5198745"/>
                <a:gd name="connisteX6" fmla="*/ 0 w 4587875"/>
                <a:gd name="connsiteY6" fmla="*/ 3881120 h 519874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4587875" h="5198745">
                  <a:moveTo>
                    <a:pt x="0" y="3881120"/>
                  </a:moveTo>
                  <a:lnTo>
                    <a:pt x="2301875" y="5198745"/>
                  </a:lnTo>
                  <a:lnTo>
                    <a:pt x="4587875" y="3889375"/>
                  </a:lnTo>
                  <a:lnTo>
                    <a:pt x="4524375" y="1254125"/>
                  </a:lnTo>
                  <a:lnTo>
                    <a:pt x="2294255" y="0"/>
                  </a:lnTo>
                  <a:lnTo>
                    <a:pt x="349250" y="1420495"/>
                  </a:lnTo>
                  <a:lnTo>
                    <a:pt x="0" y="388112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33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8740140" y="5356860"/>
            <a:ext cx="1226820" cy="36830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>
            <a:noAutofit/>
          </a:bodyPr>
          <a:p>
            <a:pPr>
              <a:spcAft>
                <a:spcPts val="200"/>
              </a:spcAft>
            </a:pPr>
            <a:r>
              <a:rPr lang="zh-CN" altLang="en-US" sz="2400" b="0">
                <a:solidFill>
                  <a:schemeClr val="tx1"/>
                </a:solidFill>
                <a:latin typeface="方正字迹-龙吟体 简" panose="02000500000000000000" charset="-122"/>
                <a:ea typeface="方正字迹-龙吟体 简" panose="02000500000000000000" charset="-122"/>
              </a:rPr>
              <a:t>灵小禅</a:t>
            </a:r>
            <a:endParaRPr lang="zh-CN" altLang="en-US" sz="2400" b="0">
              <a:solidFill>
                <a:schemeClr val="tx1"/>
              </a:solidFill>
              <a:latin typeface="方正字迹-龙吟体 简" panose="02000500000000000000" charset="-122"/>
              <a:ea typeface="方正字迹-龙吟体 简" panose="02000500000000000000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9769475" y="5218430"/>
            <a:ext cx="1226820" cy="3683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spcAft>
                <a:spcPts val="200"/>
              </a:spcAft>
            </a:pPr>
            <a:r>
              <a:rPr lang="en-US" altLang="zh-CN" sz="4000" b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方正字迹-龙吟体 简" panose="02000500000000000000" charset="-122"/>
                <a:ea typeface="方正字迹-龙吟体 简" panose="02000500000000000000" charset="-122"/>
              </a:rPr>
              <a:t>V</a:t>
            </a:r>
            <a:endParaRPr lang="en-US" altLang="zh-CN" sz="4000" b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方正字迹-龙吟体 简" panose="02000500000000000000" charset="-122"/>
              <a:ea typeface="方正字迹-龙吟体 简" panose="02000500000000000000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0348595" y="5431790"/>
            <a:ext cx="1758315" cy="379095"/>
          </a:xfrm>
          <a:prstGeom prst="rect">
            <a:avLst/>
          </a:prstGeom>
          <a:noFill/>
          <a:scene3d>
            <a:camera prst="orthographicFront">
              <a:rot lat="0" lon="0" rev="300000"/>
            </a:camera>
            <a:lightRig rig="threePt" dir="t"/>
          </a:scene3d>
        </p:spPr>
        <p:txBody>
          <a:bodyPr wrap="square">
            <a:noAutofit/>
          </a:bodyPr>
          <a:p>
            <a:pPr>
              <a:spcAft>
                <a:spcPts val="200"/>
              </a:spcAft>
            </a:pPr>
            <a:r>
              <a:rPr lang="zh-CN" altLang="en-US" sz="2000" b="0">
                <a:solidFill>
                  <a:schemeClr val="tx1"/>
                </a:solidFill>
                <a:latin typeface="方正字迹-龙吟体 简" panose="02000500000000000000" charset="-122"/>
                <a:ea typeface="方正字迹-龙吟体 简" panose="02000500000000000000" charset="-122"/>
              </a:rPr>
              <a:t>传统景区导览</a:t>
            </a:r>
            <a:endParaRPr lang="zh-CN" altLang="en-US" sz="2000" b="0">
              <a:solidFill>
                <a:schemeClr val="tx1"/>
              </a:solidFill>
              <a:latin typeface="方正字迹-龙吟体 简" panose="02000500000000000000" charset="-122"/>
              <a:ea typeface="方正字迹-龙吟体 简" panose="02000500000000000000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9966960" y="5442585"/>
            <a:ext cx="1226820" cy="3683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>
              <a:spcAft>
                <a:spcPts val="200"/>
              </a:spcAft>
            </a:pPr>
            <a:r>
              <a:rPr lang="en-US" altLang="zh-CN" sz="4000" b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方正字迹-龙吟体 简" panose="02000500000000000000" charset="-122"/>
                <a:ea typeface="方正字迹-龙吟体 简" panose="02000500000000000000" charset="-122"/>
              </a:rPr>
              <a:t>S</a:t>
            </a:r>
            <a:endParaRPr lang="en-US" altLang="zh-CN" sz="4000" b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方正字迹-龙吟体 简" panose="02000500000000000000" charset="-122"/>
              <a:ea typeface="方正字迹-龙吟体 简" panose="02000500000000000000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-1270" y="5942330"/>
            <a:ext cx="12193270" cy="682625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solidFill>
              <a:srgbClr val="F4E352"/>
            </a:solidFill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 rot="16200000">
            <a:off x="4248785" y="-939165"/>
            <a:ext cx="3693160" cy="121945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30480" y="676910"/>
            <a:ext cx="12254865" cy="618363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-193040" y="2029460"/>
            <a:ext cx="12385040" cy="1428750"/>
            <a:chOff x="-304" y="2416"/>
            <a:chExt cx="19504" cy="2250"/>
          </a:xfrm>
        </p:grpSpPr>
        <p:grpSp>
          <p:nvGrpSpPr>
            <p:cNvPr id="37" name="组合 36"/>
            <p:cNvGrpSpPr/>
            <p:nvPr/>
          </p:nvGrpSpPr>
          <p:grpSpPr>
            <a:xfrm>
              <a:off x="-304" y="2416"/>
              <a:ext cx="19505" cy="2250"/>
              <a:chOff x="-304" y="2416"/>
              <a:chExt cx="19505" cy="225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-3" y="2416"/>
                <a:ext cx="19204" cy="2250"/>
              </a:xfrm>
              <a:prstGeom prst="rect">
                <a:avLst/>
              </a:prstGeom>
              <a:gradFill>
                <a:gsLst>
                  <a:gs pos="88000">
                    <a:schemeClr val="bg1">
                      <a:alpha val="14000"/>
                    </a:schemeClr>
                  </a:gs>
                  <a:gs pos="8000">
                    <a:schemeClr val="tx1">
                      <a:alpha val="36000"/>
                    </a:schemeClr>
                  </a:gs>
                </a:gsLst>
                <a:lin ang="0" scaled="0"/>
              </a:gradFill>
              <a:ln>
                <a:gradFill>
                  <a:gsLst>
                    <a:gs pos="0">
                      <a:schemeClr val="tx1">
                        <a:alpha val="25000"/>
                      </a:schemeClr>
                    </a:gs>
                    <a:gs pos="100000">
                      <a:schemeClr val="bg1">
                        <a:lumMod val="75000"/>
                        <a:alpha val="0"/>
                      </a:schemeClr>
                    </a:gs>
                  </a:gsLst>
                  <a:lin ang="0" scaled="1"/>
                </a:gradFill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541" y="2661"/>
                <a:ext cx="120" cy="1726"/>
                <a:chOff x="421" y="2661"/>
                <a:chExt cx="120" cy="1726"/>
              </a:xfrm>
            </p:grpSpPr>
            <p:cxnSp>
              <p:nvCxnSpPr>
                <p:cNvPr id="17" name="直接连接符 16"/>
                <p:cNvCxnSpPr/>
                <p:nvPr/>
              </p:nvCxnSpPr>
              <p:spPr>
                <a:xfrm>
                  <a:off x="477" y="2662"/>
                  <a:ext cx="12" cy="1725"/>
                </a:xfrm>
                <a:prstGeom prst="line">
                  <a:avLst/>
                </a:prstGeom>
                <a:ln>
                  <a:solidFill>
                    <a:srgbClr val="D9CA8A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组合 20"/>
                <p:cNvGrpSpPr/>
                <p:nvPr/>
              </p:nvGrpSpPr>
              <p:grpSpPr>
                <a:xfrm>
                  <a:off x="421" y="2661"/>
                  <a:ext cx="120" cy="1726"/>
                  <a:chOff x="421" y="2661"/>
                  <a:chExt cx="120" cy="1726"/>
                </a:xfrm>
              </p:grpSpPr>
              <p:sp>
                <p:nvSpPr>
                  <p:cNvPr id="19" name="椭圆 18"/>
                  <p:cNvSpPr/>
                  <p:nvPr/>
                </p:nvSpPr>
                <p:spPr>
                  <a:xfrm>
                    <a:off x="421" y="2661"/>
                    <a:ext cx="120" cy="120"/>
                  </a:xfrm>
                  <a:prstGeom prst="ellipse">
                    <a:avLst/>
                  </a:prstGeom>
                  <a:solidFill>
                    <a:srgbClr val="F4E35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421" y="4267"/>
                    <a:ext cx="120" cy="120"/>
                  </a:xfrm>
                  <a:prstGeom prst="ellipse">
                    <a:avLst/>
                  </a:prstGeom>
                  <a:solidFill>
                    <a:srgbClr val="F4E35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p>
                    <a:endParaRPr lang="zh-CN" altLang="en-US"/>
                  </a:p>
                </p:txBody>
              </p:sp>
            </p:grpSp>
          </p:grpSp>
          <p:sp>
            <p:nvSpPr>
              <p:cNvPr id="25" name="圆角矩形 24"/>
              <p:cNvSpPr/>
              <p:nvPr/>
            </p:nvSpPr>
            <p:spPr>
              <a:xfrm>
                <a:off x="-304" y="2723"/>
                <a:ext cx="612" cy="1575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9525">
                <a:solidFill>
                  <a:srgbClr val="F4E35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925" y="2892"/>
              <a:ext cx="17243" cy="1238"/>
              <a:chOff x="925" y="2892"/>
              <a:chExt cx="17243" cy="1238"/>
            </a:xfrm>
          </p:grpSpPr>
          <p:sp>
            <p:nvSpPr>
              <p:cNvPr id="92" name="Text 7"/>
              <p:cNvSpPr/>
              <p:nvPr/>
            </p:nvSpPr>
            <p:spPr>
              <a:xfrm>
                <a:off x="1176" y="3041"/>
                <a:ext cx="1584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gradFill>
                      <a:gsLst>
                        <a:gs pos="25000">
                          <a:srgbClr val="FFD83A"/>
                        </a:gs>
                        <a:gs pos="75000">
                          <a:srgbClr val="FFFD6D"/>
                        </a:gs>
                        <a:gs pos="0">
                          <a:srgbClr val="F8C334"/>
                        </a:gs>
                        <a:gs pos="100000">
                          <a:srgbClr val="FFFEB8"/>
                        </a:gs>
                      </a:gsLst>
                      <a:lin ang="18900000" scaled="1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pitchFamily="34" charset="-120"/>
                  </a:rPr>
                  <a:t>游客输入</a:t>
                </a:r>
                <a:endParaRPr lang="en-US" sz="1400" b="1" dirty="0">
                  <a:gradFill>
                    <a:gsLst>
                      <a:gs pos="25000">
                        <a:srgbClr val="FFD83A"/>
                      </a:gs>
                      <a:gs pos="75000">
                        <a:srgbClr val="FFFD6D"/>
                      </a:gs>
                      <a:gs pos="0">
                        <a:srgbClr val="F8C334"/>
                      </a:gs>
                      <a:gs pos="100000">
                        <a:srgbClr val="FFFEB8"/>
                      </a:gs>
                    </a:gsLst>
                    <a:lin ang="189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endParaRPr>
              </a:p>
            </p:txBody>
          </p:sp>
          <p:sp>
            <p:nvSpPr>
              <p:cNvPr id="93" name="Text 8"/>
              <p:cNvSpPr/>
              <p:nvPr/>
            </p:nvSpPr>
            <p:spPr>
              <a:xfrm>
                <a:off x="3144" y="2892"/>
                <a:ext cx="15024" cy="123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>
                  <a:defRPr sz="1300" b="0">
                    <a:solidFill>
                      <a:srgbClr val="FFFFFF"/>
                    </a:solidFill>
                    <a:latin typeface="微软雅黑" panose="020B0503020204020204" charset="-122"/>
                  </a:defRPr>
                </a:pPr>
                <a:r>
                  <a:rPr sz="1400" b="1">
                    <a:solidFill>
                      <a:schemeClr val="tx1"/>
                    </a:solidFill>
                  </a:rPr>
                  <a:t>我带腿脚不方便的妈妈，现在在正门，预计下午四点前返程（限时5小时），还想看两点的《吉祥颂》，怎么走？</a:t>
                </a:r>
                <a:endParaRPr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925" y="2912"/>
                <a:ext cx="1538" cy="675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1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1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</p:grpSp>
      </p:grpSp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" name="Shape 9"/>
          <p:cNvSpPr/>
          <p:nvPr/>
        </p:nvSpPr>
        <p:spPr>
          <a:xfrm>
            <a:off x="9062085" y="3311525"/>
            <a:ext cx="2670175" cy="2360930"/>
          </a:xfrm>
          <a:prstGeom prst="roundRect">
            <a:avLst>
              <a:gd name="adj" fmla="val 1152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4E35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0" name="Shape 9"/>
          <p:cNvSpPr/>
          <p:nvPr/>
        </p:nvSpPr>
        <p:spPr>
          <a:xfrm>
            <a:off x="6209030" y="3311525"/>
            <a:ext cx="2670175" cy="2360930"/>
          </a:xfrm>
          <a:prstGeom prst="roundRect">
            <a:avLst>
              <a:gd name="adj" fmla="val 1152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4E35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9"/>
          <p:cNvSpPr/>
          <p:nvPr/>
        </p:nvSpPr>
        <p:spPr>
          <a:xfrm>
            <a:off x="3355975" y="3311525"/>
            <a:ext cx="2670175" cy="2360930"/>
          </a:xfrm>
          <a:prstGeom prst="roundRect">
            <a:avLst>
              <a:gd name="adj" fmla="val 1152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4E35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7288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908875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7023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71940" y="168275"/>
            <a:ext cx="1719580" cy="46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sz="2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502920" y="3311525"/>
            <a:ext cx="2670175" cy="2360930"/>
          </a:xfrm>
          <a:prstGeom prst="roundRect">
            <a:avLst>
              <a:gd name="adj" fmla="val 1152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4E35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文本框 5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实测案例</a:t>
            </a:r>
            <a:endParaRPr 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65760" y="997585"/>
            <a:ext cx="11186160" cy="707390"/>
            <a:chOff x="828" y="1223"/>
            <a:chExt cx="17616" cy="1114"/>
          </a:xfrm>
        </p:grpSpPr>
        <p:sp>
          <p:nvSpPr>
            <p:cNvPr id="10" name="任意多边形 9"/>
            <p:cNvSpPr/>
            <p:nvPr/>
          </p:nvSpPr>
          <p:spPr>
            <a:xfrm>
              <a:off x="978" y="1223"/>
              <a:ext cx="3485" cy="111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4284" h="1419">
                  <a:moveTo>
                    <a:pt x="0" y="0"/>
                  </a:moveTo>
                  <a:lnTo>
                    <a:pt x="3560" y="0"/>
                  </a:lnTo>
                  <a:lnTo>
                    <a:pt x="3587" y="0"/>
                  </a:lnTo>
                  <a:lnTo>
                    <a:pt x="3587" y="1"/>
                  </a:lnTo>
                  <a:lnTo>
                    <a:pt x="3597" y="1"/>
                  </a:lnTo>
                  <a:cubicBezTo>
                    <a:pt x="3980" y="20"/>
                    <a:pt x="4284" y="330"/>
                    <a:pt x="4284" y="710"/>
                  </a:cubicBezTo>
                  <a:cubicBezTo>
                    <a:pt x="4284" y="1101"/>
                    <a:pt x="3960" y="1419"/>
                    <a:pt x="3560" y="1419"/>
                  </a:cubicBezTo>
                  <a:cubicBezTo>
                    <a:pt x="3547" y="1419"/>
                    <a:pt x="3535" y="1419"/>
                    <a:pt x="3522" y="1418"/>
                  </a:cubicBezTo>
                  <a:lnTo>
                    <a:pt x="3505" y="1417"/>
                  </a:lnTo>
                  <a:lnTo>
                    <a:pt x="0" y="141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tx1">
                    <a:alpha val="68000"/>
                  </a:schemeClr>
                </a:gs>
              </a:gsLst>
              <a:lin ang="0"/>
            </a:gradFill>
            <a:ln w="25400">
              <a:gradFill>
                <a:gsLst>
                  <a:gs pos="25000">
                    <a:schemeClr val="bg1">
                      <a:alpha val="0"/>
                    </a:schemeClr>
                  </a:gs>
                  <a:gs pos="100000">
                    <a:srgbClr val="FFC000"/>
                  </a:gs>
                </a:gsLst>
                <a:lin ang="20400000" scaled="1"/>
              </a:gra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p>
              <a:endParaRPr lang="zh-CN" altLang="en-US"/>
            </a:p>
          </p:txBody>
        </p:sp>
        <p:sp>
          <p:nvSpPr>
            <p:cNvPr id="14" name="Text 2"/>
            <p:cNvSpPr/>
            <p:nvPr/>
          </p:nvSpPr>
          <p:spPr>
            <a:xfrm>
              <a:off x="828" y="1334"/>
              <a:ext cx="17616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sz="2800" b="1">
                  <a:solidFill>
                    <a:schemeClr val="bg1"/>
                  </a:solidFill>
                  <a:latin typeface="汉仪雅酷黑简" panose="00020600040101010101" charset="-122"/>
                  <a:ea typeface="汉仪雅酷黑简" panose="00020600040101010101" charset="-122"/>
                  <a:cs typeface="黑体" panose="02010609060101010101" charset="-122"/>
                </a:rPr>
                <a:t>典型场景实测</a:t>
              </a:r>
              <a:endParaRPr sz="2800" b="1">
                <a:solidFill>
                  <a:schemeClr val="bg1"/>
                </a:solidFill>
                <a:latin typeface="汉仪雅酷黑简" panose="00020600040101010101" charset="-122"/>
                <a:ea typeface="汉仪雅酷黑简" panose="00020600040101010101" charset="-122"/>
                <a:cs typeface="黑体" panose="02010609060101010101" charset="-122"/>
              </a:endParaRPr>
            </a:p>
          </p:txBody>
        </p:sp>
      </p:grpSp>
      <p:sp>
        <p:nvSpPr>
          <p:cNvPr id="95" name="Shape 10"/>
          <p:cNvSpPr/>
          <p:nvPr/>
        </p:nvSpPr>
        <p:spPr>
          <a:xfrm>
            <a:off x="804545" y="338175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</p:spPr>
        <p:txBody>
          <a:bodyPr/>
          <a:p/>
        </p:txBody>
      </p:sp>
      <p:sp>
        <p:nvSpPr>
          <p:cNvPr id="96" name="Text 11"/>
          <p:cNvSpPr/>
          <p:nvPr/>
        </p:nvSpPr>
        <p:spPr>
          <a:xfrm>
            <a:off x="713740" y="3378835"/>
            <a:ext cx="2148840" cy="32893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  <a:defRPr sz="1100" b="1">
                <a:solidFill>
                  <a:srgbClr val="92400E"/>
                </a:solidFill>
                <a:latin typeface="微软雅黑" panose="020B0503020204020204" charset="-122"/>
              </a:defRPr>
            </a:pPr>
            <a:r>
              <a:rPr sz="1500"/>
              <a:t>11:00 </a:t>
            </a:r>
            <a:r>
              <a:rPr lang="en-US" sz="1500"/>
              <a:t>    </a:t>
            </a:r>
            <a:r>
              <a:rPr sz="1600"/>
              <a:t>正门启程</a:t>
            </a:r>
            <a:endParaRPr lang="en-US" sz="1600" dirty="0"/>
          </a:p>
        </p:txBody>
      </p:sp>
      <p:sp>
        <p:nvSpPr>
          <p:cNvPr id="97" name="Text 12"/>
          <p:cNvSpPr/>
          <p:nvPr/>
        </p:nvSpPr>
        <p:spPr>
          <a:xfrm>
            <a:off x="693420" y="3992753"/>
            <a:ext cx="221297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1600"/>
              <a:t>11:50 抵达九龙灌浴</a:t>
            </a:r>
            <a:endParaRPr sz="1600"/>
          </a:p>
        </p:txBody>
      </p:sp>
      <p:sp>
        <p:nvSpPr>
          <p:cNvPr id="98" name="Text 13"/>
          <p:cNvSpPr/>
          <p:nvPr/>
        </p:nvSpPr>
        <p:spPr>
          <a:xfrm>
            <a:off x="731520" y="4671060"/>
            <a:ext cx="2212975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accent2"/>
                </a:solidFill>
              </a:rPr>
              <a:t>无障碍平缓坡道 (坡度 1.8° &lt; 2.5°) · 步行 420m / 8min · 观演 30min · 自动过滤天梯</a:t>
            </a:r>
            <a:endParaRPr sz="1200">
              <a:solidFill>
                <a:schemeClr val="accent2"/>
              </a:solidFill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3651250" y="3381756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</p:spPr>
        <p:txBody>
          <a:bodyPr/>
          <a:p/>
        </p:txBody>
      </p:sp>
      <p:sp>
        <p:nvSpPr>
          <p:cNvPr id="102" name="Text 17"/>
          <p:cNvSpPr/>
          <p:nvPr/>
        </p:nvSpPr>
        <p:spPr>
          <a:xfrm>
            <a:off x="3545840" y="3382137"/>
            <a:ext cx="214884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ctr">
              <a:buClrTx/>
              <a:buSzTx/>
              <a:buFontTx/>
              <a:defRPr sz="1100" b="1">
                <a:solidFill>
                  <a:srgbClr val="92400E"/>
                </a:solidFill>
                <a:latin typeface="微软雅黑" panose="020B0503020204020204" charset="-122"/>
              </a:defRPr>
            </a:pPr>
            <a:r>
              <a:rPr sz="1500" b="1">
                <a:solidFill>
                  <a:srgbClr val="92400E"/>
                </a:solidFill>
                <a:latin typeface="微软雅黑" panose="020B0503020204020204" charset="-122"/>
              </a:rPr>
              <a:t>12</a:t>
            </a:r>
            <a:r>
              <a:rPr sz="1500"/>
              <a:t>:30 </a:t>
            </a:r>
            <a:r>
              <a:rPr lang="en-US" sz="1500"/>
              <a:t>    </a:t>
            </a:r>
            <a:r>
              <a:rPr sz="1600"/>
              <a:t>动态纠偏</a:t>
            </a:r>
            <a:endParaRPr sz="1600"/>
          </a:p>
        </p:txBody>
      </p:sp>
      <p:sp>
        <p:nvSpPr>
          <p:cNvPr id="103" name="Text 18"/>
          <p:cNvSpPr/>
          <p:nvPr/>
        </p:nvSpPr>
        <p:spPr>
          <a:xfrm>
            <a:off x="3566160" y="3992880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1600"/>
              <a:t>秒级动态增量纠偏</a:t>
            </a:r>
            <a:endParaRPr sz="1600"/>
          </a:p>
        </p:txBody>
      </p:sp>
      <p:sp>
        <p:nvSpPr>
          <p:cNvPr id="104" name="Text 19"/>
          <p:cNvSpPr/>
          <p:nvPr/>
        </p:nvSpPr>
        <p:spPr>
          <a:xfrm>
            <a:off x="3566160" y="46710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accent2"/>
                </a:solidFill>
              </a:rPr>
              <a:t>拍照超时 10min · 自动压缩非核心林道漫步 10min · 锁定 16:00 离园与 14:00 演出死线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6464935" y="3381121"/>
            <a:ext cx="868680" cy="310896"/>
          </a:xfrm>
          <a:prstGeom prst="roundRect">
            <a:avLst>
              <a:gd name="adj" fmla="val 147059"/>
            </a:avLst>
          </a:prstGeom>
          <a:solidFill>
            <a:srgbClr val="8A6B3C"/>
          </a:solidFill>
        </p:spPr>
        <p:txBody>
          <a:bodyPr/>
          <a:p/>
        </p:txBody>
      </p:sp>
      <p:sp>
        <p:nvSpPr>
          <p:cNvPr id="108" name="Text 23"/>
          <p:cNvSpPr/>
          <p:nvPr/>
        </p:nvSpPr>
        <p:spPr>
          <a:xfrm>
            <a:off x="6358255" y="3382772"/>
            <a:ext cx="214884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ctr">
              <a:buClrTx/>
              <a:buSzTx/>
              <a:buFontTx/>
              <a:defRPr sz="1100" b="1">
                <a:solidFill>
                  <a:srgbClr val="92400E"/>
                </a:solidFill>
                <a:latin typeface="微软雅黑" panose="020B0503020204020204" charset="-122"/>
              </a:defRPr>
            </a:pPr>
            <a:r>
              <a:rPr sz="1500" b="1">
                <a:solidFill>
                  <a:srgbClr val="92400E"/>
                </a:solidFill>
                <a:latin typeface="微软雅黑" panose="020B0503020204020204" charset="-122"/>
              </a:rPr>
              <a:t>13</a:t>
            </a:r>
            <a:r>
              <a:rPr sz="1500"/>
              <a:t>:40</a:t>
            </a:r>
            <a:r>
              <a:rPr lang="en-US" sz="1500"/>
              <a:t>   </a:t>
            </a:r>
            <a:r>
              <a:rPr sz="1500"/>
              <a:t> </a:t>
            </a:r>
            <a:r>
              <a:rPr lang="en-US" sz="1500"/>
              <a:t> </a:t>
            </a:r>
            <a:r>
              <a:rPr sz="1600"/>
              <a:t>梵宫检票</a:t>
            </a:r>
            <a:endParaRPr sz="1600"/>
          </a:p>
        </p:txBody>
      </p:sp>
      <p:sp>
        <p:nvSpPr>
          <p:cNvPr id="109" name="Text 24"/>
          <p:cNvSpPr/>
          <p:nvPr/>
        </p:nvSpPr>
        <p:spPr>
          <a:xfrm>
            <a:off x="6400800" y="3992880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1600"/>
              <a:t>前置 20min 缓冲</a:t>
            </a:r>
            <a:endParaRPr sz="1600"/>
          </a:p>
        </p:txBody>
      </p:sp>
      <p:sp>
        <p:nvSpPr>
          <p:cNvPr id="110" name="Text 25"/>
          <p:cNvSpPr/>
          <p:nvPr/>
        </p:nvSpPr>
        <p:spPr>
          <a:xfrm>
            <a:off x="6400800" y="46710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accent2"/>
                </a:solidFill>
              </a:rPr>
              <a:t>前置 20 分钟排队安检缓冲 · 顺利入场观看 14:00~14:20《吉祥颂》· 24 宽 Beam Search 严格对齐</a:t>
            </a:r>
            <a:endParaRPr lang="en-US" sz="1200" dirty="0">
              <a:solidFill>
                <a:schemeClr val="accent2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9220200" y="3372485"/>
            <a:ext cx="2377440" cy="328930"/>
            <a:chOff x="14544" y="4807"/>
            <a:chExt cx="3744" cy="518"/>
          </a:xfrm>
        </p:grpSpPr>
        <p:sp>
          <p:nvSpPr>
            <p:cNvPr id="113" name="Shape 28"/>
            <p:cNvSpPr/>
            <p:nvPr/>
          </p:nvSpPr>
          <p:spPr>
            <a:xfrm>
              <a:off x="14544" y="4822"/>
              <a:ext cx="1368" cy="490"/>
            </a:xfrm>
            <a:prstGeom prst="roundRect">
              <a:avLst>
                <a:gd name="adj" fmla="val 147059"/>
              </a:avLst>
            </a:prstGeom>
            <a:solidFill>
              <a:srgbClr val="8A6B3C"/>
            </a:solidFill>
          </p:spPr>
          <p:txBody>
            <a:bodyPr/>
            <a:p/>
          </p:txBody>
        </p:sp>
        <p:sp>
          <p:nvSpPr>
            <p:cNvPr id="114" name="Text 29"/>
            <p:cNvSpPr/>
            <p:nvPr/>
          </p:nvSpPr>
          <p:spPr>
            <a:xfrm>
              <a:off x="14904" y="4807"/>
              <a:ext cx="3384" cy="51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algn="ctr">
                <a:buClrTx/>
                <a:buSzTx/>
                <a:buFontTx/>
                <a:defRPr sz="1100" b="1">
                  <a:solidFill>
                    <a:srgbClr val="92400E"/>
                  </a:solidFill>
                  <a:latin typeface="微软雅黑" panose="020B0503020204020204" charset="-122"/>
                </a:defRPr>
              </a:pPr>
              <a:r>
                <a:rPr sz="1500"/>
                <a:t>15:</a:t>
              </a:r>
              <a:r>
                <a:rPr sz="1500" b="1">
                  <a:solidFill>
                    <a:srgbClr val="92400E"/>
                  </a:solidFill>
                  <a:latin typeface="微软雅黑" panose="020B0503020204020204" charset="-122"/>
                </a:rPr>
                <a:t>10 </a:t>
              </a:r>
              <a:r>
                <a:rPr lang="en-US" sz="1500" b="1">
                  <a:solidFill>
                    <a:srgbClr val="92400E"/>
                  </a:solidFill>
                  <a:latin typeface="微软雅黑" panose="020B0503020204020204" charset="-122"/>
                </a:rPr>
                <a:t>   </a:t>
              </a:r>
              <a:r>
                <a:rPr sz="1500"/>
                <a:t>无障碍电瓶车接驳</a:t>
              </a:r>
              <a:endParaRPr sz="1500"/>
            </a:p>
          </p:txBody>
        </p:sp>
      </p:grpSp>
      <p:sp>
        <p:nvSpPr>
          <p:cNvPr id="115" name="Text 30"/>
          <p:cNvSpPr/>
          <p:nvPr/>
        </p:nvSpPr>
        <p:spPr>
          <a:xfrm>
            <a:off x="9235440" y="3992880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25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1600"/>
              <a:t>16:00 准时返正门（全程 300min）</a:t>
            </a:r>
            <a:endParaRPr sz="1600"/>
          </a:p>
        </p:txBody>
      </p:sp>
      <p:sp>
        <p:nvSpPr>
          <p:cNvPr id="116" name="Text 31"/>
          <p:cNvSpPr/>
          <p:nvPr/>
        </p:nvSpPr>
        <p:spPr>
          <a:xfrm>
            <a:off x="9235440" y="467106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sz="1200">
                <a:solidFill>
                  <a:schemeClr val="accent2"/>
                </a:solidFill>
              </a:rPr>
              <a:t>避开陡坡登顶直达大佛 · 14 项形式化守恒仲裁通过检查 · 总耗时 300 分钟 · 当前结构化约束测试中 0 次物理硬违规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18" name="Text 33"/>
          <p:cNvSpPr/>
          <p:nvPr/>
        </p:nvSpPr>
        <p:spPr>
          <a:xfrm>
            <a:off x="777240" y="55305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950"/>
            </a:pPr>
          </a:p>
        </p:txBody>
      </p:sp>
      <p:sp>
        <p:nvSpPr>
          <p:cNvPr id="119" name="Text 34"/>
          <p:cNvSpPr/>
          <p:nvPr/>
        </p:nvSpPr>
        <p:spPr>
          <a:xfrm>
            <a:off x="3774440" y="1022350"/>
            <a:ext cx="7404735" cy="777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sz="1400" i="1"/>
              <a:t>【诚实拒绝</a:t>
            </a:r>
            <a:r>
              <a:rPr lang="en-US" sz="1400" i="1"/>
              <a:t>&amp;</a:t>
            </a:r>
            <a:r>
              <a:rPr sz="1400" i="1"/>
              <a:t>优雅降级】</a:t>
            </a:r>
            <a:endParaRPr sz="14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1400" i="1"/>
              <a:t>20 分钟无法同时完成正门往返与 14:00 演出，系统拒绝编造路线；</a:t>
            </a:r>
            <a:endParaRPr sz="1400" i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1400" i="1"/>
              <a:t>自动剥离演艺偏好，生成正门广场与佛足坛微游览方案（18min），保留可执行替代</a:t>
            </a:r>
            <a:r>
              <a:rPr sz="1400" b="1" i="1"/>
              <a:t>。</a:t>
            </a:r>
            <a:endParaRPr sz="1400" b="1" i="1"/>
          </a:p>
        </p:txBody>
      </p:sp>
      <p:sp>
        <p:nvSpPr>
          <p:cNvPr id="120" name="Text 35"/>
          <p:cNvSpPr/>
          <p:nvPr/>
        </p:nvSpPr>
        <p:spPr>
          <a:xfrm>
            <a:off x="195580" y="6078220"/>
            <a:ext cx="11452225" cy="399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2400" b="1">
                <a:gradFill>
                  <a:gsLst>
                    <a:gs pos="21000">
                      <a:schemeClr val="accent2">
                        <a:lumMod val="75000"/>
                      </a:schemeClr>
                    </a:gs>
                    <a:gs pos="92000">
                      <a:srgbClr val="A3683D"/>
                    </a:gs>
                  </a:gsLst>
                  <a:lin ang="162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颜宋体" panose="02010600010101010101" charset="-122"/>
                <a:ea typeface="方正颜宋体" panose="02010600010101010101" charset="-122"/>
                <a:cs typeface="方正颜宋体" panose="02010600010101010101" charset="-122"/>
              </a:rPr>
              <a:t>大模型负责理解游客，运筹引擎守护现实世界，实现安全可复现的智能游览决策</a:t>
            </a:r>
            <a:endParaRPr lang="zh-CN" altLang="en-US" sz="2400" b="1">
              <a:latin typeface="方正颜宋体" panose="02010600010101010101" charset="-122"/>
              <a:ea typeface="方正颜宋体" panose="02010600010101010101" charset="-122"/>
              <a:cs typeface="方正颜宋体" panose="0201060001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600200" y="2450465"/>
            <a:ext cx="77025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lang="en-US" altLang="zh-CN" sz="2000" b="1">
                <a:solidFill>
                  <a:schemeClr val="tx1"/>
                </a:solidFill>
                <a:latin typeface="汉仪雅酷黑简" panose="00020600040101010101" charset="-122"/>
                <a:ea typeface="汉仪雅酷黑简" panose="00020600040101010101" charset="-122"/>
              </a:rPr>
              <a:t>“</a:t>
            </a:r>
            <a:endParaRPr lang="en-US" altLang="zh-CN" sz="2000" b="1">
              <a:solidFill>
                <a:schemeClr val="tx1"/>
              </a:solidFill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673715" y="2451100"/>
            <a:ext cx="77025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lang="en-US" altLang="zh-CN" sz="2000" b="1">
                <a:solidFill>
                  <a:schemeClr val="tx1"/>
                </a:solidFill>
                <a:latin typeface="汉仪雅酷黑简" panose="00020600040101010101" charset="-122"/>
                <a:ea typeface="汉仪雅酷黑简" panose="00020600040101010101" charset="-122"/>
              </a:rPr>
              <a:t>”</a:t>
            </a:r>
            <a:endParaRPr lang="en-US" altLang="zh-CN" sz="2000" b="1">
              <a:solidFill>
                <a:schemeClr val="tx1"/>
              </a:solidFill>
              <a:latin typeface="汉仪雅酷黑简" panose="00020600040101010101" charset="-122"/>
              <a:ea typeface="汉仪雅酷黑简" panose="00020600040101010101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35" y="7172960"/>
            <a:ext cx="3724275" cy="78676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930" y="6315075"/>
            <a:ext cx="2502535" cy="2502535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245" y="6646545"/>
            <a:ext cx="2548890" cy="14338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7560" y="6858000"/>
            <a:ext cx="1869440" cy="127381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45" y="7959725"/>
            <a:ext cx="3132455" cy="313245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4010" y="8131810"/>
            <a:ext cx="2090420" cy="209042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755" y="8432165"/>
            <a:ext cx="2413000" cy="241300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9390" y="8581390"/>
            <a:ext cx="1288415" cy="172339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01745" y="10304780"/>
            <a:ext cx="2296160" cy="227330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8730" y="10304780"/>
            <a:ext cx="2192020" cy="109601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0330" y="7327265"/>
            <a:ext cx="1183640" cy="1183640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7245" y="7110730"/>
            <a:ext cx="2350135" cy="235013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79950" y="8131810"/>
            <a:ext cx="1894840" cy="647065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3535" y="10845165"/>
            <a:ext cx="2437130" cy="3672205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/>
          <p:cNvSpPr/>
          <p:nvPr/>
        </p:nvSpPr>
        <p:spPr>
          <a:xfrm>
            <a:off x="-30480" y="676910"/>
            <a:ext cx="12254865" cy="618363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9531350" y="5605145"/>
            <a:ext cx="2277110" cy="913130"/>
          </a:xfrm>
          <a:prstGeom prst="rect">
            <a:avLst/>
          </a:prstGeom>
          <a:solidFill>
            <a:schemeClr val="accent2">
              <a:lumMod val="20000"/>
              <a:lumOff val="8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49" name="矩形 148"/>
          <p:cNvSpPr/>
          <p:nvPr/>
        </p:nvSpPr>
        <p:spPr>
          <a:xfrm>
            <a:off x="5883275" y="5597525"/>
            <a:ext cx="2169160" cy="913130"/>
          </a:xfrm>
          <a:prstGeom prst="rect">
            <a:avLst/>
          </a:prstGeom>
          <a:solidFill>
            <a:schemeClr val="accent2">
              <a:lumMod val="20000"/>
              <a:lumOff val="8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1762125" y="5589905"/>
            <a:ext cx="2746375" cy="913130"/>
          </a:xfrm>
          <a:prstGeom prst="rect">
            <a:avLst/>
          </a:prstGeom>
          <a:solidFill>
            <a:schemeClr val="accent2">
              <a:lumMod val="20000"/>
              <a:lumOff val="8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1" name="圆角矩形 110"/>
          <p:cNvSpPr/>
          <p:nvPr/>
        </p:nvSpPr>
        <p:spPr>
          <a:xfrm>
            <a:off x="368300" y="3420110"/>
            <a:ext cx="11439525" cy="1809750"/>
          </a:xfrm>
          <a:prstGeom prst="roundRect">
            <a:avLst>
              <a:gd name="adj" fmla="val 8593"/>
            </a:avLst>
          </a:prstGeom>
          <a:gradFill>
            <a:gsLst>
              <a:gs pos="3000">
                <a:schemeClr val="bg1">
                  <a:alpha val="0"/>
                </a:schemeClr>
              </a:gs>
              <a:gs pos="100000">
                <a:srgbClr val="A3683D">
                  <a:alpha val="53000"/>
                </a:srgbClr>
              </a:gs>
            </a:gsLst>
          </a:gradFill>
          <a:ln w="6350">
            <a:gradFill>
              <a:gsLst>
                <a:gs pos="98000">
                  <a:schemeClr val="bg1">
                    <a:alpha val="0"/>
                  </a:schemeClr>
                </a:gs>
                <a:gs pos="79000">
                  <a:schemeClr val="bg1">
                    <a:alpha val="0"/>
                  </a:schemeClr>
                </a:gs>
                <a:gs pos="34000">
                  <a:schemeClr val="accent2">
                    <a:alpha val="6400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2" name="圆角矩形 101"/>
          <p:cNvSpPr/>
          <p:nvPr/>
        </p:nvSpPr>
        <p:spPr>
          <a:xfrm>
            <a:off x="368300" y="1527175"/>
            <a:ext cx="11439525" cy="1983105"/>
          </a:xfrm>
          <a:prstGeom prst="roundRect">
            <a:avLst>
              <a:gd name="adj" fmla="val 8593"/>
            </a:avLst>
          </a:prstGeom>
          <a:gradFill>
            <a:gsLst>
              <a:gs pos="3000">
                <a:schemeClr val="bg1">
                  <a:alpha val="0"/>
                </a:schemeClr>
              </a:gs>
              <a:gs pos="100000">
                <a:srgbClr val="A3683D">
                  <a:alpha val="53000"/>
                </a:srgbClr>
              </a:gs>
            </a:gsLst>
          </a:gradFill>
          <a:ln w="6350">
            <a:gradFill>
              <a:gsLst>
                <a:gs pos="98000">
                  <a:schemeClr val="bg1">
                    <a:alpha val="0"/>
                  </a:schemeClr>
                </a:gs>
                <a:gs pos="79000">
                  <a:schemeClr val="bg1">
                    <a:alpha val="0"/>
                  </a:schemeClr>
                </a:gs>
                <a:gs pos="34000">
                  <a:schemeClr val="accent2">
                    <a:alpha val="6400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9" name="Text 9"/>
          <p:cNvSpPr/>
          <p:nvPr>
            <p:custDataLst>
              <p:tags r:id="rId1"/>
            </p:custDataLst>
          </p:nvPr>
        </p:nvSpPr>
        <p:spPr>
          <a:xfrm>
            <a:off x="4599940" y="1774190"/>
            <a:ext cx="269875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左屏 · QAPage (事实问答)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" name="Text 10"/>
          <p:cNvSpPr/>
          <p:nvPr>
            <p:custDataLst>
              <p:tags r:id="rId2"/>
            </p:custDataLst>
          </p:nvPr>
        </p:nvSpPr>
        <p:spPr>
          <a:xfrm>
            <a:off x="4599940" y="2077720"/>
            <a:ext cx="531304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000" b="0">
                <a:solidFill>
                  <a:srgbClr val="4B556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Live2D 情绪驱动 (倾听/欢喜/致歉) · 实时渲染 · 口型同步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54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1054417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617835" y="171450"/>
            <a:ext cx="1774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产品展示</a:t>
            </a:r>
            <a:endParaRPr 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9" name="Text 1"/>
          <p:cNvSpPr/>
          <p:nvPr/>
        </p:nvSpPr>
        <p:spPr>
          <a:xfrm>
            <a:off x="630936" y="8001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7" name="Text 14"/>
          <p:cNvSpPr/>
          <p:nvPr>
            <p:custDataLst>
              <p:tags r:id="rId5"/>
            </p:custDataLst>
          </p:nvPr>
        </p:nvSpPr>
        <p:spPr>
          <a:xfrm>
            <a:off x="4585222" y="2362560"/>
            <a:ext cx="2698645" cy="3035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证据追溯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9" name="Text 15"/>
          <p:cNvSpPr/>
          <p:nvPr>
            <p:custDataLst>
              <p:tags r:id="rId6"/>
            </p:custDataLst>
          </p:nvPr>
        </p:nvSpPr>
        <p:spPr>
          <a:xfrm>
            <a:off x="4599877" y="2666268"/>
            <a:ext cx="5312957" cy="2867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000" b="0">
                <a:solidFill>
                  <a:srgbClr val="4B556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出处、向量相似度 0.89、时延 2.88s · 语音识别播报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4" name="Text 19"/>
          <p:cNvSpPr/>
          <p:nvPr>
            <p:custDataLst>
              <p:tags r:id="rId7"/>
            </p:custDataLst>
          </p:nvPr>
        </p:nvSpPr>
        <p:spPr>
          <a:xfrm>
            <a:off x="4776470" y="3744595"/>
            <a:ext cx="3326130" cy="344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右屏 · RecommendPage (决策看板)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5" name="Text 20"/>
          <p:cNvSpPr/>
          <p:nvPr>
            <p:custDataLst>
              <p:tags r:id="rId8"/>
            </p:custDataLst>
          </p:nvPr>
        </p:nvSpPr>
        <p:spPr>
          <a:xfrm>
            <a:off x="4776470" y="4088765"/>
            <a:ext cx="531304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000" b="0">
                <a:solidFill>
                  <a:srgbClr val="4B556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物理时空动线看板 (米数、坡度、无障碍) · 流式回答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9" name="Text 24"/>
          <p:cNvSpPr/>
          <p:nvPr>
            <p:custDataLst>
              <p:tags r:id="rId9"/>
            </p:custDataLst>
          </p:nvPr>
        </p:nvSpPr>
        <p:spPr>
          <a:xfrm>
            <a:off x="4776470" y="4418330"/>
            <a:ext cx="2698750" cy="303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实景导航无缝串联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0" name="Text 25"/>
          <p:cNvSpPr/>
          <p:nvPr>
            <p:custDataLst>
              <p:tags r:id="rId10"/>
            </p:custDataLst>
          </p:nvPr>
        </p:nvSpPr>
        <p:spPr>
          <a:xfrm>
            <a:off x="4776470" y="4756150"/>
            <a:ext cx="531304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000" b="0">
                <a:solidFill>
                  <a:srgbClr val="4B556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一键原生调起高德/百度地图 SDK 闭环 · 约束路线推荐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1" name="Text 26"/>
          <p:cNvSpPr/>
          <p:nvPr/>
        </p:nvSpPr>
        <p:spPr>
          <a:xfrm>
            <a:off x="-18288000" y="5852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52" name="Shape 27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</p:spPr>
        <p:txBody>
          <a:bodyPr/>
          <a:p/>
        </p:txBody>
      </p:sp>
      <p:sp>
        <p:nvSpPr>
          <p:cNvPr id="53" name="Text 28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54" name="Shape 29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</p:spPr>
        <p:txBody>
          <a:bodyPr/>
          <a:p/>
        </p:txBody>
      </p:sp>
      <p:sp>
        <p:nvSpPr>
          <p:cNvPr id="55" name="Text 30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56" name="Shape 31"/>
          <p:cNvSpPr/>
          <p:nvPr/>
        </p:nvSpPr>
        <p:spPr>
          <a:xfrm>
            <a:off x="-18288000" y="614476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</p:spPr>
        <p:txBody>
          <a:bodyPr/>
          <a:p/>
        </p:txBody>
      </p:sp>
      <p:sp>
        <p:nvSpPr>
          <p:cNvPr id="57" name="Text 32"/>
          <p:cNvSpPr/>
          <p:nvPr/>
        </p:nvSpPr>
        <p:spPr>
          <a:xfrm>
            <a:off x="-18288000" y="6135624"/>
            <a:ext cx="201168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58" name="Shape 33"/>
          <p:cNvSpPr/>
          <p:nvPr/>
        </p:nvSpPr>
        <p:spPr>
          <a:xfrm>
            <a:off x="-1828800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</p:spPr>
        <p:txBody>
          <a:bodyPr/>
          <a:p/>
        </p:txBody>
      </p:sp>
      <p:sp>
        <p:nvSpPr>
          <p:cNvPr id="59" name="Text 34"/>
          <p:cNvSpPr/>
          <p:nvPr/>
        </p:nvSpPr>
        <p:spPr>
          <a:xfrm>
            <a:off x="-18288000" y="6501384"/>
            <a:ext cx="201168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60" name="Shape 35"/>
          <p:cNvSpPr/>
          <p:nvPr/>
        </p:nvSpPr>
        <p:spPr>
          <a:xfrm>
            <a:off x="-18288000" y="6510528"/>
            <a:ext cx="2011680" cy="310896"/>
          </a:xfrm>
          <a:prstGeom prst="roundRect">
            <a:avLst>
              <a:gd name="adj" fmla="val 147059"/>
            </a:avLst>
          </a:prstGeom>
          <a:solidFill>
            <a:srgbClr val="F3EFE7"/>
          </a:solidFill>
        </p:spPr>
        <p:txBody>
          <a:bodyPr/>
          <a:p/>
        </p:txBody>
      </p:sp>
      <p:sp>
        <p:nvSpPr>
          <p:cNvPr id="61" name="Text 36"/>
          <p:cNvSpPr/>
          <p:nvPr/>
        </p:nvSpPr>
        <p:spPr>
          <a:xfrm>
            <a:off x="-18288000" y="6501384"/>
            <a:ext cx="2011680" cy="32918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/>
        </p:txBody>
      </p:sp>
      <p:sp>
        <p:nvSpPr>
          <p:cNvPr id="64" name="Text 38"/>
          <p:cNvSpPr/>
          <p:nvPr/>
        </p:nvSpPr>
        <p:spPr>
          <a:xfrm>
            <a:off x="2437765" y="902970"/>
            <a:ext cx="733298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100" b="1">
                <a:solidFill>
                  <a:srgbClr val="0F766E"/>
                </a:solidFill>
              </a:defRPr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双屏一体的数字人导游产品，贯通问答、证据、路线与实景导航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5" name="Text 39"/>
          <p:cNvSpPr/>
          <p:nvPr/>
        </p:nvSpPr>
        <p:spPr>
          <a:xfrm>
            <a:off x="448310" y="7069455"/>
            <a:ext cx="1033907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defRPr sz="10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rPr sz="1200"/>
              <a:t>【硬核工程交付指标与实测性能】</a:t>
            </a:r>
            <a:endParaRPr sz="1200"/>
          </a:p>
          <a:p>
            <a:pPr>
              <a:defRPr sz="850">
                <a:solidFill>
                  <a:srgbClr val="1E293B"/>
                </a:solidFill>
              </a:defRPr>
            </a:pPr>
            <a:r>
              <a:rPr sz="950"/>
              <a:t>🖥️ 边云协同实测：单台 4 核 8G 纯规划接口 (/api/route/plan) 实测 202.4 QPS 吞吐 (P50=7.8ms, P95=13.4ms, 0 错误率；线程池隔离，不含 LLM/ASR/TTS/图像识别全链路)</a:t>
            </a:r>
            <a:endParaRPr sz="950"/>
          </a:p>
          <a:p>
            <a:pPr>
              <a:defRPr sz="850">
                <a:solidFill>
                  <a:srgbClr val="1E293B"/>
                </a:solidFill>
              </a:defRPr>
            </a:pPr>
            <a:r>
              <a:rPr sz="950"/>
              <a:t>📦 轻量离线容灾：核心路网拓扑仅 35KB (23 节点 + 30 条登记边；31 条目标待核验)，支持客户端秒级离线加载与应急动线渲染</a:t>
            </a:r>
            <a:endParaRPr sz="950"/>
          </a:p>
          <a:p>
            <a:pPr>
              <a:defRPr sz="850">
                <a:solidFill>
                  <a:srgbClr val="1E293B"/>
                </a:solidFill>
              </a:defRPr>
            </a:pPr>
            <a:r>
              <a:rPr sz="950"/>
              <a:t>💰 极低运维成本：年综合运维成本约 1.39 万元 (&lt;1.5 万元/年；一次性实施 5.0 万元独立核算)，情景模型预计 3~6 个月收回投入 (情景假设测算)</a:t>
            </a:r>
            <a:endParaRPr sz="950"/>
          </a:p>
        </p:txBody>
      </p:sp>
      <p:sp>
        <p:nvSpPr>
          <p:cNvPr id="12" name="圆角矩形 11"/>
          <p:cNvSpPr/>
          <p:nvPr/>
        </p:nvSpPr>
        <p:spPr>
          <a:xfrm>
            <a:off x="636905" y="1702435"/>
            <a:ext cx="2519045" cy="1554480"/>
          </a:xfrm>
          <a:prstGeom prst="roundRect">
            <a:avLst>
              <a:gd name="adj" fmla="val 6032"/>
            </a:avLst>
          </a:prstGeom>
          <a:blipFill rotWithShape="1">
            <a:blip r:embed="rId11"/>
            <a:stretch>
              <a:fillRect/>
            </a:stretch>
          </a:blipFill>
          <a:ln>
            <a:noFill/>
          </a:ln>
          <a:effectLst>
            <a:glow rad="63500">
              <a:srgbClr val="C9366D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480695" y="994410"/>
            <a:ext cx="1887220" cy="274320"/>
            <a:chOff x="433" y="1494"/>
            <a:chExt cx="3171" cy="540"/>
          </a:xfrm>
          <a:gradFill>
            <a:gsLst>
              <a:gs pos="2000">
                <a:schemeClr val="accent2"/>
              </a:gs>
              <a:gs pos="100000">
                <a:srgbClr val="D6B784"/>
              </a:gs>
            </a:gsLst>
            <a:lin ang="10800000" scaled="0"/>
          </a:gradFill>
        </p:grpSpPr>
        <p:sp>
          <p:nvSpPr>
            <p:cNvPr id="72" name="平行四边形 71"/>
            <p:cNvSpPr/>
            <p:nvPr/>
          </p:nvSpPr>
          <p:spPr>
            <a:xfrm>
              <a:off x="433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3" name="平行四边形 72"/>
            <p:cNvSpPr/>
            <p:nvPr/>
          </p:nvSpPr>
          <p:spPr>
            <a:xfrm>
              <a:off x="696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4" name="平行四边形 73"/>
            <p:cNvSpPr/>
            <p:nvPr/>
          </p:nvSpPr>
          <p:spPr>
            <a:xfrm>
              <a:off x="959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5" name="平行四边形 74"/>
            <p:cNvSpPr/>
            <p:nvPr/>
          </p:nvSpPr>
          <p:spPr>
            <a:xfrm>
              <a:off x="1222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6" name="平行四边形 75"/>
            <p:cNvSpPr/>
            <p:nvPr/>
          </p:nvSpPr>
          <p:spPr>
            <a:xfrm>
              <a:off x="1485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7" name="平行四边形 76"/>
            <p:cNvSpPr/>
            <p:nvPr/>
          </p:nvSpPr>
          <p:spPr>
            <a:xfrm>
              <a:off x="1748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8" name="平行四边形 77"/>
            <p:cNvSpPr/>
            <p:nvPr/>
          </p:nvSpPr>
          <p:spPr>
            <a:xfrm>
              <a:off x="2011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79" name="平行四边形 78"/>
            <p:cNvSpPr/>
            <p:nvPr/>
          </p:nvSpPr>
          <p:spPr>
            <a:xfrm>
              <a:off x="2274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0" name="平行四边形 79"/>
            <p:cNvSpPr/>
            <p:nvPr/>
          </p:nvSpPr>
          <p:spPr>
            <a:xfrm>
              <a:off x="2537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1" name="平行四边形 80"/>
            <p:cNvSpPr/>
            <p:nvPr/>
          </p:nvSpPr>
          <p:spPr>
            <a:xfrm>
              <a:off x="2800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2" name="平行四边形 81"/>
            <p:cNvSpPr/>
            <p:nvPr/>
          </p:nvSpPr>
          <p:spPr>
            <a:xfrm>
              <a:off x="3063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3" name="平行四边形 82"/>
            <p:cNvSpPr/>
            <p:nvPr/>
          </p:nvSpPr>
          <p:spPr>
            <a:xfrm>
              <a:off x="3326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 flipH="1">
            <a:off x="9848215" y="994410"/>
            <a:ext cx="1887220" cy="274320"/>
            <a:chOff x="433" y="1494"/>
            <a:chExt cx="3171" cy="540"/>
          </a:xfrm>
          <a:gradFill>
            <a:gsLst>
              <a:gs pos="2000">
                <a:schemeClr val="accent2"/>
              </a:gs>
              <a:gs pos="100000">
                <a:srgbClr val="D6B784"/>
              </a:gs>
            </a:gsLst>
            <a:lin ang="10800000" scaled="0"/>
          </a:gradFill>
        </p:grpSpPr>
        <p:sp>
          <p:nvSpPr>
            <p:cNvPr id="87" name="平行四边形 86"/>
            <p:cNvSpPr/>
            <p:nvPr/>
          </p:nvSpPr>
          <p:spPr>
            <a:xfrm>
              <a:off x="433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8" name="平行四边形 87"/>
            <p:cNvSpPr/>
            <p:nvPr/>
          </p:nvSpPr>
          <p:spPr>
            <a:xfrm>
              <a:off x="696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89" name="平行四边形 88"/>
            <p:cNvSpPr/>
            <p:nvPr/>
          </p:nvSpPr>
          <p:spPr>
            <a:xfrm>
              <a:off x="959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0" name="平行四边形 89"/>
            <p:cNvSpPr/>
            <p:nvPr/>
          </p:nvSpPr>
          <p:spPr>
            <a:xfrm>
              <a:off x="1222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1" name="平行四边形 90"/>
            <p:cNvSpPr/>
            <p:nvPr/>
          </p:nvSpPr>
          <p:spPr>
            <a:xfrm>
              <a:off x="1485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2" name="平行四边形 91"/>
            <p:cNvSpPr/>
            <p:nvPr/>
          </p:nvSpPr>
          <p:spPr>
            <a:xfrm>
              <a:off x="1748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3" name="平行四边形 92"/>
            <p:cNvSpPr/>
            <p:nvPr/>
          </p:nvSpPr>
          <p:spPr>
            <a:xfrm>
              <a:off x="2011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4" name="平行四边形 93"/>
            <p:cNvSpPr/>
            <p:nvPr/>
          </p:nvSpPr>
          <p:spPr>
            <a:xfrm>
              <a:off x="2274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5" name="平行四边形 94"/>
            <p:cNvSpPr/>
            <p:nvPr/>
          </p:nvSpPr>
          <p:spPr>
            <a:xfrm>
              <a:off x="2537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6" name="平行四边形 95"/>
            <p:cNvSpPr/>
            <p:nvPr/>
          </p:nvSpPr>
          <p:spPr>
            <a:xfrm>
              <a:off x="2800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7" name="平行四边形 96"/>
            <p:cNvSpPr/>
            <p:nvPr/>
          </p:nvSpPr>
          <p:spPr>
            <a:xfrm>
              <a:off x="3063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  <p:sp>
          <p:nvSpPr>
            <p:cNvPr id="98" name="平行四边形 97"/>
            <p:cNvSpPr/>
            <p:nvPr/>
          </p:nvSpPr>
          <p:spPr>
            <a:xfrm>
              <a:off x="3326" y="1494"/>
              <a:ext cx="278" cy="541"/>
            </a:xfrm>
            <a:prstGeom prst="parallelogram">
              <a:avLst>
                <a:gd name="adj" fmla="val 495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zh-CN" altLang="en-US"/>
            </a:p>
          </p:txBody>
        </p:sp>
      </p:grpSp>
      <p:cxnSp>
        <p:nvCxnSpPr>
          <p:cNvPr id="101" name="直接连接符 100"/>
          <p:cNvCxnSpPr/>
          <p:nvPr/>
        </p:nvCxnSpPr>
        <p:spPr>
          <a:xfrm flipV="1">
            <a:off x="277495" y="885825"/>
            <a:ext cx="11668125" cy="23495"/>
          </a:xfrm>
          <a:prstGeom prst="line">
            <a:avLst/>
          </a:prstGeom>
          <a:ln>
            <a:gradFill>
              <a:gsLst>
                <a:gs pos="98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50000">
                  <a:schemeClr val="accent2"/>
                </a:gs>
              </a:gsLst>
              <a:lin ang="20400000" scaled="1"/>
            </a:gradFill>
          </a:ln>
          <a:effectLst>
            <a:reflection blurRad="6350" stA="50000" endA="300" endPos="19000" dist="889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任意多边形 105"/>
          <p:cNvSpPr/>
          <p:nvPr/>
        </p:nvSpPr>
        <p:spPr>
          <a:xfrm rot="5400000">
            <a:off x="2952750" y="2159000"/>
            <a:ext cx="809625" cy="64643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938" h="3336">
                <a:moveTo>
                  <a:pt x="1469" y="0"/>
                </a:moveTo>
                <a:lnTo>
                  <a:pt x="2938" y="975"/>
                </a:lnTo>
                <a:lnTo>
                  <a:pt x="2181" y="975"/>
                </a:lnTo>
                <a:lnTo>
                  <a:pt x="2175" y="993"/>
                </a:lnTo>
                <a:cubicBezTo>
                  <a:pt x="2042" y="1394"/>
                  <a:pt x="2051" y="1916"/>
                  <a:pt x="2231" y="2439"/>
                </a:cubicBezTo>
                <a:cubicBezTo>
                  <a:pt x="2349" y="2783"/>
                  <a:pt x="2526" y="3080"/>
                  <a:pt x="2733" y="3310"/>
                </a:cubicBezTo>
                <a:lnTo>
                  <a:pt x="2756" y="3336"/>
                </a:lnTo>
                <a:lnTo>
                  <a:pt x="232" y="3336"/>
                </a:lnTo>
                <a:lnTo>
                  <a:pt x="236" y="3332"/>
                </a:lnTo>
                <a:cubicBezTo>
                  <a:pt x="430" y="3136"/>
                  <a:pt x="604" y="2889"/>
                  <a:pt x="738" y="2602"/>
                </a:cubicBezTo>
                <a:cubicBezTo>
                  <a:pt x="1005" y="2029"/>
                  <a:pt x="1049" y="1434"/>
                  <a:pt x="896" y="1000"/>
                </a:cubicBezTo>
                <a:lnTo>
                  <a:pt x="887" y="975"/>
                </a:lnTo>
                <a:lnTo>
                  <a:pt x="0" y="975"/>
                </a:lnTo>
                <a:lnTo>
                  <a:pt x="1469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/>
          </a:p>
        </p:txBody>
      </p:sp>
      <p:sp>
        <p:nvSpPr>
          <p:cNvPr id="113" name="圆角矩形 112"/>
          <p:cNvSpPr/>
          <p:nvPr/>
        </p:nvSpPr>
        <p:spPr>
          <a:xfrm>
            <a:off x="9770745" y="3532505"/>
            <a:ext cx="1532255" cy="1809750"/>
          </a:xfrm>
          <a:prstGeom prst="roundRect">
            <a:avLst>
              <a:gd name="adj" fmla="val 6523"/>
            </a:avLst>
          </a:prstGeom>
          <a:blipFill rotWithShape="1">
            <a:blip r:embed="rId12"/>
            <a:stretch>
              <a:fillRect/>
            </a:stretch>
          </a:blipFill>
          <a:effectLst>
            <a:glow rad="114300">
              <a:srgbClr val="C9366D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 rot="16200000" flipH="1">
            <a:off x="8998585" y="4084320"/>
            <a:ext cx="809625" cy="64643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2938" h="3336">
                <a:moveTo>
                  <a:pt x="1469" y="0"/>
                </a:moveTo>
                <a:lnTo>
                  <a:pt x="2938" y="975"/>
                </a:lnTo>
                <a:lnTo>
                  <a:pt x="2181" y="975"/>
                </a:lnTo>
                <a:lnTo>
                  <a:pt x="2175" y="993"/>
                </a:lnTo>
                <a:cubicBezTo>
                  <a:pt x="2042" y="1394"/>
                  <a:pt x="2051" y="1916"/>
                  <a:pt x="2231" y="2439"/>
                </a:cubicBezTo>
                <a:cubicBezTo>
                  <a:pt x="2349" y="2783"/>
                  <a:pt x="2526" y="3080"/>
                  <a:pt x="2733" y="3310"/>
                </a:cubicBezTo>
                <a:lnTo>
                  <a:pt x="2756" y="3336"/>
                </a:lnTo>
                <a:lnTo>
                  <a:pt x="232" y="3336"/>
                </a:lnTo>
                <a:lnTo>
                  <a:pt x="236" y="3332"/>
                </a:lnTo>
                <a:cubicBezTo>
                  <a:pt x="430" y="3136"/>
                  <a:pt x="604" y="2889"/>
                  <a:pt x="738" y="2602"/>
                </a:cubicBezTo>
                <a:cubicBezTo>
                  <a:pt x="1005" y="2029"/>
                  <a:pt x="1049" y="1434"/>
                  <a:pt x="896" y="1000"/>
                </a:cubicBezTo>
                <a:lnTo>
                  <a:pt x="887" y="975"/>
                </a:lnTo>
                <a:lnTo>
                  <a:pt x="0" y="975"/>
                </a:lnTo>
                <a:lnTo>
                  <a:pt x="1469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p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>
            <a:off x="304165" y="5342255"/>
            <a:ext cx="1428750" cy="1428750"/>
            <a:chOff x="3031" y="8550"/>
            <a:chExt cx="2250" cy="2250"/>
          </a:xfrm>
        </p:grpSpPr>
        <p:grpSp>
          <p:nvGrpSpPr>
            <p:cNvPr id="131" name="组合 130"/>
            <p:cNvGrpSpPr/>
            <p:nvPr/>
          </p:nvGrpSpPr>
          <p:grpSpPr>
            <a:xfrm>
              <a:off x="3031" y="8550"/>
              <a:ext cx="2250" cy="2250"/>
              <a:chOff x="3031" y="8550"/>
              <a:chExt cx="2250" cy="2250"/>
            </a:xfrm>
          </p:grpSpPr>
          <p:sp>
            <p:nvSpPr>
              <p:cNvPr id="127" name="椭圆 126"/>
              <p:cNvSpPr/>
              <p:nvPr/>
            </p:nvSpPr>
            <p:spPr>
              <a:xfrm>
                <a:off x="3492" y="8987"/>
                <a:ext cx="1338" cy="1338"/>
              </a:xfrm>
              <a:prstGeom prst="ellipse">
                <a:avLst/>
              </a:prstGeom>
              <a:solidFill>
                <a:srgbClr val="C9366D">
                  <a:alpha val="43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  <p:pic>
            <p:nvPicPr>
              <p:cNvPr id="117" name="图片 116"/>
              <p:cNvPicPr>
                <a:picLocks noChangeAspect="1"/>
              </p:cNvPicPr>
              <p:nvPr/>
            </p:nvPicPr>
            <p:blipFill>
              <a:blip r:embed="rId1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031" y="8550"/>
                <a:ext cx="2250" cy="2250"/>
              </a:xfrm>
              <a:prstGeom prst="rect">
                <a:avLst/>
              </a:prstGeom>
            </p:spPr>
          </p:pic>
        </p:grpSp>
        <p:sp>
          <p:nvSpPr>
            <p:cNvPr id="118" name="文本框 117"/>
            <p:cNvSpPr txBox="1"/>
            <p:nvPr/>
          </p:nvSpPr>
          <p:spPr>
            <a:xfrm>
              <a:off x="3408" y="9092"/>
              <a:ext cx="1654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>
                <a:spcAft>
                  <a:spcPts val="200"/>
                </a:spcAft>
              </a:pPr>
              <a:r>
                <a:rPr lang="zh-CN" altLang="en-US" sz="2000" b="1">
                  <a:solidFill>
                    <a:schemeClr val="tx1"/>
                  </a:solidFill>
                  <a:latin typeface="微软雅黑" panose="020B0503020204020204" charset="-122"/>
                </a:rPr>
                <a:t>边云协同实测</a:t>
              </a:r>
              <a:endParaRPr lang="zh-CN" altLang="en-US" sz="2000" b="1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4473575" y="5342255"/>
            <a:ext cx="1428750" cy="1428750"/>
            <a:chOff x="9634" y="8413"/>
            <a:chExt cx="2250" cy="2250"/>
          </a:xfrm>
        </p:grpSpPr>
        <p:grpSp>
          <p:nvGrpSpPr>
            <p:cNvPr id="135" name="组合 134"/>
            <p:cNvGrpSpPr/>
            <p:nvPr/>
          </p:nvGrpSpPr>
          <p:grpSpPr>
            <a:xfrm rot="0">
              <a:off x="9634" y="8413"/>
              <a:ext cx="2250" cy="2250"/>
              <a:chOff x="3031" y="8550"/>
              <a:chExt cx="2250" cy="2250"/>
            </a:xfrm>
          </p:grpSpPr>
          <p:sp>
            <p:nvSpPr>
              <p:cNvPr id="136" name="椭圆 135"/>
              <p:cNvSpPr/>
              <p:nvPr/>
            </p:nvSpPr>
            <p:spPr>
              <a:xfrm>
                <a:off x="3492" y="8987"/>
                <a:ext cx="1338" cy="1338"/>
              </a:xfrm>
              <a:prstGeom prst="ellipse">
                <a:avLst/>
              </a:prstGeom>
              <a:solidFill>
                <a:srgbClr val="C9366D">
                  <a:alpha val="43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  <p:pic>
            <p:nvPicPr>
              <p:cNvPr id="137" name="图片 136"/>
              <p:cNvPicPr>
                <a:picLocks noChangeAspect="1"/>
              </p:cNvPicPr>
              <p:nvPr/>
            </p:nvPicPr>
            <p:blipFill>
              <a:blip r:embed="rId1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031" y="8550"/>
                <a:ext cx="2250" cy="2250"/>
              </a:xfrm>
              <a:prstGeom prst="rect">
                <a:avLst/>
              </a:prstGeom>
            </p:spPr>
          </p:pic>
        </p:grpSp>
        <p:sp>
          <p:nvSpPr>
            <p:cNvPr id="120" name="文本框 119"/>
            <p:cNvSpPr txBox="1"/>
            <p:nvPr/>
          </p:nvSpPr>
          <p:spPr>
            <a:xfrm>
              <a:off x="10022" y="8951"/>
              <a:ext cx="1654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>
                <a:spcAft>
                  <a:spcPts val="200"/>
                </a:spcAft>
              </a:pPr>
              <a:r>
                <a:rPr lang="zh-CN" altLang="en-US" sz="2000" b="1">
                  <a:solidFill>
                    <a:schemeClr val="tx1"/>
                  </a:solidFill>
                  <a:latin typeface="微软雅黑" panose="020B0503020204020204" charset="-122"/>
                </a:rPr>
                <a:t>轻量离线容灾</a:t>
              </a:r>
              <a:endParaRPr lang="zh-CN" altLang="en-US" sz="2000" b="1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8102600" y="5342255"/>
            <a:ext cx="1428750" cy="1428750"/>
            <a:chOff x="15318" y="8658"/>
            <a:chExt cx="2250" cy="2250"/>
          </a:xfrm>
        </p:grpSpPr>
        <p:grpSp>
          <p:nvGrpSpPr>
            <p:cNvPr id="132" name="组合 131"/>
            <p:cNvGrpSpPr/>
            <p:nvPr/>
          </p:nvGrpSpPr>
          <p:grpSpPr>
            <a:xfrm rot="0">
              <a:off x="15318" y="8658"/>
              <a:ext cx="2250" cy="2250"/>
              <a:chOff x="3031" y="8550"/>
              <a:chExt cx="2250" cy="2250"/>
            </a:xfrm>
          </p:grpSpPr>
          <p:sp>
            <p:nvSpPr>
              <p:cNvPr id="133" name="椭圆 132"/>
              <p:cNvSpPr/>
              <p:nvPr/>
            </p:nvSpPr>
            <p:spPr>
              <a:xfrm>
                <a:off x="3492" y="8987"/>
                <a:ext cx="1338" cy="1338"/>
              </a:xfrm>
              <a:prstGeom prst="ellipse">
                <a:avLst/>
              </a:prstGeom>
              <a:solidFill>
                <a:srgbClr val="C9366D">
                  <a:alpha val="43000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/>
              </a:p>
            </p:txBody>
          </p:sp>
          <p:pic>
            <p:nvPicPr>
              <p:cNvPr id="134" name="图片 133"/>
              <p:cNvPicPr>
                <a:picLocks noChangeAspect="1"/>
              </p:cNvPicPr>
              <p:nvPr/>
            </p:nvPicPr>
            <p:blipFill>
              <a:blip r:embed="rId1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031" y="8550"/>
                <a:ext cx="2250" cy="2250"/>
              </a:xfrm>
              <a:prstGeom prst="rect">
                <a:avLst/>
              </a:prstGeom>
            </p:spPr>
          </p:pic>
        </p:grpSp>
        <p:sp>
          <p:nvSpPr>
            <p:cNvPr id="140" name="文本框 139"/>
            <p:cNvSpPr txBox="1"/>
            <p:nvPr/>
          </p:nvSpPr>
          <p:spPr>
            <a:xfrm>
              <a:off x="15707" y="9212"/>
              <a:ext cx="1654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>
                <a:spcAft>
                  <a:spcPts val="200"/>
                </a:spcAft>
              </a:pPr>
              <a:r>
                <a:rPr lang="zh-CN" altLang="en-US" sz="2000" b="1">
                  <a:solidFill>
                    <a:schemeClr val="tx1"/>
                  </a:solidFill>
                  <a:latin typeface="微软雅黑" panose="020B0503020204020204" charset="-122"/>
                </a:rPr>
                <a:t>极低运维成本</a:t>
              </a:r>
              <a:endParaRPr lang="zh-CN" altLang="en-US" sz="2000" b="1">
                <a:solidFill>
                  <a:schemeClr val="tx1"/>
                </a:solidFill>
                <a:latin typeface="微软雅黑" panose="020B0503020204020204" charset="-122"/>
              </a:endParaRPr>
            </a:p>
          </p:txBody>
        </p:sp>
      </p:grpSp>
      <p:sp>
        <p:nvSpPr>
          <p:cNvPr id="144" name="文本框 143"/>
          <p:cNvSpPr txBox="1"/>
          <p:nvPr/>
        </p:nvSpPr>
        <p:spPr>
          <a:xfrm>
            <a:off x="569595" y="5106670"/>
            <a:ext cx="296100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sz="1400">
                <a:latin typeface="汉仪黑方简" panose="00020600040101010101" charset="-122"/>
                <a:ea typeface="汉仪黑方简" panose="00020600040101010101" charset="-122"/>
                <a:sym typeface="+mn-ea"/>
              </a:rPr>
              <a:t>【硬核工程交付指标与实测性能】</a:t>
            </a:r>
            <a:endParaRPr lang="zh-CN" altLang="en-US" sz="1400" b="0">
              <a:solidFill>
                <a:srgbClr val="4A5568"/>
              </a:solidFill>
              <a:latin typeface="汉仪黑方简" panose="00020600040101010101" charset="-122"/>
              <a:ea typeface="汉仪黑方简" panose="00020600040101010101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762125" y="5619750"/>
            <a:ext cx="266636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sz="1200">
                <a:sym typeface="+mn-ea"/>
              </a:rPr>
              <a:t>单台 4 核 8G 纯规划接口 实测 202.4 QPS 吞吐 (P50=7.8ms, P95=13.4ms, 0 错误率；线程池隔离，不含 LLM/ASR/TTS/图像识别全链路)</a:t>
            </a:r>
            <a:endParaRPr lang="zh-CN" altLang="en-US" sz="1200" b="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5940425" y="5619750"/>
            <a:ext cx="211137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sz="1200">
                <a:sym typeface="+mn-ea"/>
              </a:rPr>
              <a:t>核心路网拓扑仅 35KB (23 节点 + 30 条登记边；31 条目标待核验)，支持客户端秒级离线加载与应急动线渲染</a:t>
            </a:r>
            <a:endParaRPr lang="zh-CN" altLang="en-US" sz="1400" b="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9531350" y="5619750"/>
            <a:ext cx="2111375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Aft>
                <a:spcPts val="200"/>
              </a:spcAft>
            </a:pPr>
            <a:r>
              <a:rPr sz="1200">
                <a:sym typeface="+mn-ea"/>
              </a:rPr>
              <a:t>年综合运维成本约 1.39 万元 (&lt;1.5 万元/年；一次性实施 5.0 万元独立核算)，情景模型预计 3~6 个月收回投入 </a:t>
            </a:r>
            <a:endParaRPr lang="zh-CN" altLang="en-US" sz="1400" b="0">
              <a:solidFill>
                <a:srgbClr val="4A5568"/>
              </a:solidFill>
              <a:latin typeface="微软雅黑" panose="020B0503020204020204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-31115" y="2338705"/>
            <a:ext cx="12223115" cy="4521835"/>
          </a:xfrm>
          <a:prstGeom prst="rect">
            <a:avLst/>
          </a:prstGeom>
          <a:solidFill>
            <a:schemeClr val="tx1">
              <a:lumMod val="50000"/>
              <a:lumOff val="50000"/>
              <a:alpha val="1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-30480" y="676910"/>
            <a:ext cx="12254865" cy="618363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alphaModFix amt="20000"/>
          </a:blip>
          <a:srcRect t="21750" b="25120"/>
          <a:stretch>
            <a:fillRect/>
          </a:stretch>
        </p:blipFill>
        <p:spPr>
          <a:xfrm>
            <a:off x="-30480" y="2339340"/>
            <a:ext cx="12222480" cy="4511675"/>
          </a:xfrm>
          <a:prstGeom prst="rect">
            <a:avLst/>
          </a:prstGeom>
          <a:noFill/>
        </p:spPr>
      </p:pic>
      <p:sp>
        <p:nvSpPr>
          <p:cNvPr id="42" name="Rounded Rectangle 25"/>
          <p:cNvSpPr/>
          <p:nvPr/>
        </p:nvSpPr>
        <p:spPr>
          <a:xfrm>
            <a:off x="457200" y="5791200"/>
            <a:ext cx="11247120" cy="850392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圆角矩形 86"/>
          <p:cNvSpPr/>
          <p:nvPr/>
        </p:nvSpPr>
        <p:spPr>
          <a:xfrm>
            <a:off x="690880" y="6182995"/>
            <a:ext cx="3476625" cy="373380"/>
          </a:xfrm>
          <a:prstGeom prst="roundRect">
            <a:avLst/>
          </a:prstGeom>
          <a:solidFill>
            <a:srgbClr val="6E492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8023860" y="6182995"/>
            <a:ext cx="3566160" cy="373380"/>
          </a:xfrm>
          <a:prstGeom prst="roundRect">
            <a:avLst/>
          </a:prstGeom>
          <a:solidFill>
            <a:srgbClr val="6E492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815" y="3629660"/>
            <a:ext cx="4926330" cy="198310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601085"/>
            <a:ext cx="4886325" cy="201168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54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1054417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617835" y="171450"/>
            <a:ext cx="1774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应用价值</a:t>
            </a:r>
            <a:endParaRPr lang="en-US" alt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20" y="836930"/>
            <a:ext cx="11680825" cy="424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2400" b="1" dirty="0"/>
              <a:t>MIT </a:t>
            </a:r>
            <a:r>
              <a:rPr sz="2400" b="1" dirty="0" err="1"/>
              <a:t>开源</a:t>
            </a:r>
            <a:r>
              <a:rPr sz="2400" b="1" dirty="0"/>
              <a:t> + </a:t>
            </a:r>
            <a:r>
              <a:rPr sz="2400" b="1" dirty="0" err="1"/>
              <a:t>知识库可替换</a:t>
            </a:r>
            <a:r>
              <a:rPr sz="2400" b="1" dirty="0"/>
              <a:t> → </a:t>
            </a:r>
            <a:r>
              <a:rPr sz="2400" b="1" dirty="0" err="1"/>
              <a:t>任何景区都可以低成本复用，推动</a:t>
            </a:r>
            <a:r>
              <a:rPr sz="2400" b="1" dirty="0"/>
              <a:t> AI </a:t>
            </a:r>
            <a:r>
              <a:rPr sz="2400" b="1" dirty="0" err="1"/>
              <a:t>旅游技术普惠化</a:t>
            </a:r>
            <a:endParaRPr sz="2400" b="1" dirty="0" err="1"/>
          </a:p>
        </p:txBody>
      </p:sp>
      <p:grpSp>
        <p:nvGrpSpPr>
          <p:cNvPr id="14" name="组合 13"/>
          <p:cNvGrpSpPr/>
          <p:nvPr/>
        </p:nvGrpSpPr>
        <p:grpSpPr>
          <a:xfrm>
            <a:off x="2459808" y="1379854"/>
            <a:ext cx="6305732" cy="868679"/>
            <a:chOff x="3119045" y="1234440"/>
            <a:chExt cx="5842075" cy="594360"/>
          </a:xfrm>
        </p:grpSpPr>
        <p:sp>
          <p:nvSpPr>
            <p:cNvPr id="16" name="Rounded Rectangle 9"/>
            <p:cNvSpPr/>
            <p:nvPr/>
          </p:nvSpPr>
          <p:spPr>
            <a:xfrm>
              <a:off x="3200400" y="1234440"/>
              <a:ext cx="5760720" cy="594360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0"/>
            <p:cNvSpPr txBox="1"/>
            <p:nvPr/>
          </p:nvSpPr>
          <p:spPr>
            <a:xfrm>
              <a:off x="3119045" y="1322181"/>
              <a:ext cx="5753997" cy="3992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600" b="1" dirty="0" err="1">
                  <a:solidFill>
                    <a:srgbClr val="573823"/>
                  </a:solidFill>
                </a:rPr>
                <a:t>社会价值：AI</a:t>
              </a:r>
              <a:r>
                <a:rPr sz="1600" b="1" dirty="0">
                  <a:solidFill>
                    <a:srgbClr val="573823"/>
                  </a:solidFill>
                </a:rPr>
                <a:t> + </a:t>
              </a:r>
              <a:r>
                <a:rPr sz="1600" b="1" dirty="0" err="1">
                  <a:solidFill>
                    <a:srgbClr val="573823"/>
                  </a:solidFill>
                </a:rPr>
                <a:t>文旅</a:t>
              </a:r>
              <a:r>
                <a:rPr sz="1600" b="1" dirty="0">
                  <a:solidFill>
                    <a:srgbClr val="573823"/>
                  </a:solidFill>
                </a:rPr>
                <a:t> </a:t>
              </a:r>
              <a:r>
                <a:rPr sz="1600" b="1" dirty="0" err="1">
                  <a:solidFill>
                    <a:srgbClr val="573823"/>
                  </a:solidFill>
                </a:rPr>
                <a:t>技术普惠</a:t>
              </a:r>
              <a:br>
                <a:rPr sz="1600" dirty="0">
                  <a:solidFill>
                    <a:srgbClr val="573823"/>
                  </a:solidFill>
                </a:rPr>
              </a:br>
              <a:r>
                <a:rPr sz="1600" b="1" dirty="0" err="1">
                  <a:solidFill>
                    <a:srgbClr val="573823"/>
                  </a:solidFill>
                </a:rPr>
                <a:t>降低全行业智能化门槛</a:t>
              </a:r>
              <a:r>
                <a:rPr sz="1600" b="1" dirty="0">
                  <a:solidFill>
                    <a:srgbClr val="573823"/>
                  </a:solidFill>
                </a:rPr>
                <a:t> | </a:t>
              </a:r>
              <a:r>
                <a:rPr sz="1600" b="1" dirty="0" err="1">
                  <a:solidFill>
                    <a:srgbClr val="573823"/>
                  </a:solidFill>
                </a:rPr>
                <a:t>推动中小景区数字化转型</a:t>
              </a:r>
              <a:r>
                <a:rPr sz="1600" b="1" dirty="0">
                  <a:solidFill>
                    <a:srgbClr val="573823"/>
                  </a:solidFill>
                </a:rPr>
                <a:t> | </a:t>
              </a:r>
              <a:r>
                <a:rPr sz="1600" b="1" dirty="0" err="1">
                  <a:solidFill>
                    <a:srgbClr val="573823"/>
                  </a:solidFill>
                </a:rPr>
                <a:t>开源社区共建</a:t>
              </a:r>
              <a:endParaRPr sz="1600" b="1" dirty="0" err="1">
                <a:solidFill>
                  <a:srgbClr val="573823"/>
                </a:solidFill>
              </a:endParaRPr>
            </a:p>
          </p:txBody>
        </p:sp>
      </p:grpSp>
      <p:sp>
        <p:nvSpPr>
          <p:cNvPr id="18" name="TextBox 12"/>
          <p:cNvSpPr txBox="1"/>
          <p:nvPr/>
        </p:nvSpPr>
        <p:spPr>
          <a:xfrm>
            <a:off x="1920240" y="2338705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96E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bg1"/>
                </a:solidFill>
              </a:rPr>
              <a:t>开源生态</a:t>
            </a:r>
            <a:r>
              <a:rPr dirty="0">
                <a:solidFill>
                  <a:schemeClr val="bg1"/>
                </a:solidFill>
              </a:rPr>
              <a:t> · MIT </a:t>
            </a:r>
            <a:r>
              <a:rPr dirty="0" err="1">
                <a:solidFill>
                  <a:schemeClr val="bg1"/>
                </a:solidFill>
              </a:rPr>
              <a:t>协议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11680" y="1379855"/>
            <a:ext cx="3749040" cy="3865880"/>
            <a:chOff x="2767" y="2941"/>
            <a:chExt cx="5904" cy="6088"/>
          </a:xfrm>
        </p:grpSpPr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892" y="2941"/>
              <a:ext cx="5538" cy="6088"/>
            </a:xfrm>
            <a:prstGeom prst="rect">
              <a:avLst/>
            </a:prstGeom>
          </p:spPr>
        </p:pic>
        <p:sp>
          <p:nvSpPr>
            <p:cNvPr id="19" name="TextBox 15"/>
            <p:cNvSpPr txBox="1"/>
            <p:nvPr/>
          </p:nvSpPr>
          <p:spPr>
            <a:xfrm>
              <a:off x="2767" y="5181"/>
              <a:ext cx="5904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600" b="1" dirty="0" err="1">
                  <a:solidFill>
                    <a:schemeClr val="bg1"/>
                  </a:solidFill>
                </a:rPr>
                <a:t>全部源代码开放</a:t>
              </a:r>
              <a:br>
                <a:rPr sz="1600" b="1" dirty="0">
                  <a:solidFill>
                    <a:schemeClr val="bg1"/>
                  </a:solidFill>
                </a:rPr>
              </a:br>
              <a:r>
                <a:rPr sz="1600" b="1" dirty="0" err="1">
                  <a:solidFill>
                    <a:schemeClr val="bg1"/>
                  </a:solidFill>
                </a:rPr>
                <a:t>可自由使用</a:t>
              </a:r>
              <a:r>
                <a:rPr sz="1600" b="1" dirty="0">
                  <a:solidFill>
                    <a:schemeClr val="bg1"/>
                  </a:solidFill>
                </a:rPr>
                <a:t>/</a:t>
              </a:r>
              <a:r>
                <a:rPr sz="1600" b="1" dirty="0" err="1">
                  <a:solidFill>
                    <a:schemeClr val="bg1"/>
                  </a:solidFill>
                </a:rPr>
                <a:t>修改</a:t>
              </a:r>
              <a:r>
                <a:rPr sz="1600" b="1" dirty="0">
                  <a:solidFill>
                    <a:schemeClr val="bg1"/>
                  </a:solidFill>
                </a:rPr>
                <a:t>/</a:t>
              </a:r>
              <a:r>
                <a:rPr sz="1600" b="1" dirty="0" err="1">
                  <a:solidFill>
                    <a:schemeClr val="bg1"/>
                  </a:solidFill>
                </a:rPr>
                <a:t>商用</a:t>
              </a:r>
              <a:endParaRPr sz="1600" b="1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Box 20"/>
          <p:cNvSpPr txBox="1"/>
          <p:nvPr/>
        </p:nvSpPr>
        <p:spPr>
          <a:xfrm>
            <a:off x="1025525" y="4023360"/>
            <a:ext cx="5029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dirty="0">
                <a:solidFill>
                  <a:schemeClr val="accent2"/>
                </a:solidFill>
              </a:rPr>
              <a:t>To C · </a:t>
            </a:r>
            <a:r>
              <a:rPr dirty="0" err="1">
                <a:solidFill>
                  <a:schemeClr val="accent2"/>
                </a:solidFill>
              </a:rPr>
              <a:t>游客端（免费</a:t>
            </a:r>
            <a:r>
              <a:rPr dirty="0">
                <a:solidFill>
                  <a:schemeClr val="accent2"/>
                </a:solidFill>
              </a:rPr>
              <a:t>）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1326515" y="4449713"/>
            <a:ext cx="3893185" cy="102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微信扫码即用，零获客成本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>
                <a:solidFill>
                  <a:schemeClr val="tx1"/>
                </a:solidFill>
                <a:uFillTx/>
              </a:rPr>
              <a:t>7×24h导游级别服务，永远在线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降低旅游信息获取门槛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无障碍设计：语音交互，解放双手</a:t>
            </a:r>
            <a:endParaRPr sz="1400" spc="120" dirty="0" err="1">
              <a:solidFill>
                <a:schemeClr val="tx1"/>
              </a:solidFill>
              <a:uFillTx/>
            </a:endParaRPr>
          </a:p>
        </p:txBody>
      </p:sp>
      <p:sp>
        <p:nvSpPr>
          <p:cNvPr id="39" name="TextBox 23"/>
          <p:cNvSpPr txBox="1"/>
          <p:nvPr/>
        </p:nvSpPr>
        <p:spPr>
          <a:xfrm>
            <a:off x="6187287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微软雅黑" panose="020B0503020204020204" charset="-122"/>
              </a:defRPr>
            </a:pPr>
            <a:r>
              <a:rPr dirty="0">
                <a:solidFill>
                  <a:schemeClr val="accent2"/>
                </a:solidFill>
              </a:rPr>
              <a:t>To B · </a:t>
            </a:r>
            <a:r>
              <a:rPr dirty="0" err="1">
                <a:solidFill>
                  <a:schemeClr val="accent2"/>
                </a:solidFill>
              </a:rPr>
              <a:t>景区端（增值服务</a:t>
            </a:r>
            <a:r>
              <a:rPr dirty="0">
                <a:solidFill>
                  <a:schemeClr val="accent2"/>
                </a:solidFill>
              </a:rPr>
              <a:t>）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6722364" y="4449713"/>
            <a:ext cx="4663440" cy="102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降低人力成本：替代三班倒人工客服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知识库自助管理，零技术门槛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LLM深度分析，从经验到数据驱动</a:t>
            </a:r>
            <a:endParaRPr sz="1400" spc="120" dirty="0">
              <a:solidFill>
                <a:schemeClr val="tx1"/>
              </a:solidFill>
              <a:uFillTx/>
            </a:endParaRPr>
          </a:p>
          <a:p>
            <a:pPr marL="285750" indent="-285750">
              <a:spcAft>
                <a:spcPts val="200"/>
              </a:spcAft>
              <a:buFont typeface="Wingdings" panose="05000000000000000000" charset="0"/>
              <a:buChar char="Ø"/>
              <a:defRPr sz="13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spc="120" dirty="0" err="1">
                <a:solidFill>
                  <a:schemeClr val="tx1"/>
                </a:solidFill>
                <a:uFillTx/>
              </a:rPr>
              <a:t>定制部署+独家人设设计+SLA保障</a:t>
            </a:r>
            <a:endParaRPr sz="1400" spc="120" dirty="0" err="1">
              <a:solidFill>
                <a:schemeClr val="tx1"/>
              </a:solidFill>
              <a:uFillTx/>
            </a:endParaRPr>
          </a:p>
        </p:txBody>
      </p:sp>
      <p:sp>
        <p:nvSpPr>
          <p:cNvPr id="43" name="TextBox 26"/>
          <p:cNvSpPr txBox="1"/>
          <p:nvPr/>
        </p:nvSpPr>
        <p:spPr>
          <a:xfrm>
            <a:off x="655167" y="579398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2000" dirty="0" err="1"/>
              <a:t>可持续商业模式</a:t>
            </a:r>
            <a:endParaRPr sz="2000" dirty="0"/>
          </a:p>
        </p:txBody>
      </p:sp>
      <p:sp>
        <p:nvSpPr>
          <p:cNvPr id="88" name="圆角矩形 87"/>
          <p:cNvSpPr/>
          <p:nvPr/>
        </p:nvSpPr>
        <p:spPr>
          <a:xfrm>
            <a:off x="4330700" y="6182995"/>
            <a:ext cx="3566160" cy="373380"/>
          </a:xfrm>
          <a:prstGeom prst="roundRect">
            <a:avLst/>
          </a:prstGeom>
          <a:solidFill>
            <a:srgbClr val="6E492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4" name="TextBox 28"/>
          <p:cNvSpPr txBox="1"/>
          <p:nvPr/>
        </p:nvSpPr>
        <p:spPr>
          <a:xfrm>
            <a:off x="670560" y="6220968"/>
            <a:ext cx="3566162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300" b="1" dirty="0" err="1">
                <a:solidFill>
                  <a:schemeClr val="accent2"/>
                </a:solidFill>
              </a:rPr>
              <a:t>免费层：</a:t>
            </a:r>
            <a:r>
              <a:rPr sz="1300" b="1" dirty="0" err="1">
                <a:solidFill>
                  <a:schemeClr val="bg1"/>
                </a:solidFill>
              </a:rPr>
              <a:t>全部源码+基础外观+通用模板+社区</a:t>
            </a:r>
            <a:endParaRPr sz="1300" b="1" dirty="0" err="1">
              <a:solidFill>
                <a:schemeClr val="bg1"/>
              </a:solidFill>
            </a:endParaRPr>
          </a:p>
        </p:txBody>
      </p:sp>
      <p:sp>
        <p:nvSpPr>
          <p:cNvPr id="45" name="TextBox 30"/>
          <p:cNvSpPr txBox="1"/>
          <p:nvPr/>
        </p:nvSpPr>
        <p:spPr>
          <a:xfrm>
            <a:off x="4251808" y="6211824"/>
            <a:ext cx="3733802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300" b="1" dirty="0" err="1">
                <a:solidFill>
                  <a:schemeClr val="accent2"/>
                </a:solidFill>
              </a:rPr>
              <a:t>增值层：</a:t>
            </a:r>
            <a:r>
              <a:rPr sz="1300" b="1" dirty="0" err="1">
                <a:solidFill>
                  <a:schemeClr val="bg1"/>
                </a:solidFill>
              </a:rPr>
              <a:t>定制部署+独家人设+知识库构建+SLA</a:t>
            </a:r>
            <a:endParaRPr sz="1300" b="1" dirty="0" err="1">
              <a:solidFill>
                <a:schemeClr val="bg1"/>
              </a:solidFill>
            </a:endParaRPr>
          </a:p>
        </p:txBody>
      </p:sp>
      <p:sp>
        <p:nvSpPr>
          <p:cNvPr id="46" name="TextBox 32"/>
          <p:cNvSpPr txBox="1"/>
          <p:nvPr/>
        </p:nvSpPr>
        <p:spPr>
          <a:xfrm>
            <a:off x="7985762" y="6211824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微软雅黑" panose="020B0503020204020204" charset="-122"/>
              </a:defRPr>
            </a:pPr>
            <a:r>
              <a:rPr sz="1400" b="1" dirty="0" err="1">
                <a:solidFill>
                  <a:schemeClr val="bg1"/>
                </a:solidFill>
              </a:rPr>
              <a:t>开源驱动→社区贡献→生态扩展→商业反哺</a:t>
            </a:r>
            <a:endParaRPr sz="1400" b="1" dirty="0" err="1">
              <a:solidFill>
                <a:schemeClr val="bg1"/>
              </a:solidFill>
            </a:endParaRPr>
          </a:p>
        </p:txBody>
      </p:sp>
      <p:sp>
        <p:nvSpPr>
          <p:cNvPr id="50" name="Rectangle 3"/>
          <p:cNvSpPr/>
          <p:nvPr/>
        </p:nvSpPr>
        <p:spPr>
          <a:xfrm>
            <a:off x="327660" y="847090"/>
            <a:ext cx="91440" cy="443865"/>
          </a:xfrm>
          <a:prstGeom prst="rect">
            <a:avLst/>
          </a:prstGeom>
          <a:solidFill>
            <a:srgbClr val="C9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6" name="组合 55"/>
          <p:cNvGrpSpPr/>
          <p:nvPr/>
        </p:nvGrpSpPr>
        <p:grpSpPr>
          <a:xfrm>
            <a:off x="6315075" y="1364615"/>
            <a:ext cx="3749040" cy="3865880"/>
            <a:chOff x="2767" y="2941"/>
            <a:chExt cx="5904" cy="6088"/>
          </a:xfrm>
        </p:grpSpPr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892" y="2941"/>
              <a:ext cx="5538" cy="6088"/>
            </a:xfrm>
            <a:prstGeom prst="rect">
              <a:avLst/>
            </a:prstGeom>
          </p:spPr>
        </p:pic>
        <p:sp>
          <p:nvSpPr>
            <p:cNvPr id="58" name="TextBox 15"/>
            <p:cNvSpPr txBox="1"/>
            <p:nvPr/>
          </p:nvSpPr>
          <p:spPr>
            <a:xfrm>
              <a:off x="2767" y="5181"/>
              <a:ext cx="5904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300" b="0">
                  <a:solidFill>
                    <a:srgbClr val="FFFFFF"/>
                  </a:solidFill>
                  <a:latin typeface="微软雅黑" panose="020B0503020204020204" charset="-122"/>
                </a:defRPr>
              </a:pPr>
              <a:r>
                <a:rPr sz="1600" b="1" dirty="0" err="1">
                  <a:solidFill>
                    <a:schemeClr val="bg1"/>
                  </a:solidFill>
                </a:rPr>
                <a:t>知识库插件化替换</a:t>
              </a:r>
              <a:br>
                <a:rPr sz="1600" b="1" dirty="0" err="1">
                  <a:solidFill>
                    <a:schemeClr val="bg1"/>
                  </a:solidFill>
                </a:rPr>
              </a:br>
              <a:r>
                <a:rPr sz="1600" b="1" dirty="0" err="1">
                  <a:solidFill>
                    <a:schemeClr val="bg1"/>
                  </a:solidFill>
                </a:rPr>
                <a:t>换一套文件=适配一个新景区</a:t>
              </a:r>
              <a:endParaRPr sz="1600" b="1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59" name="图片 58"/>
          <p:cNvPicPr>
            <a:picLocks noChangeAspect="1"/>
          </p:cNvPicPr>
          <p:nvPr/>
        </p:nvPicPr>
        <p:blipFill>
          <a:blip r:embed="rId6"/>
          <a:srcRect t="23126" b="71869"/>
          <a:stretch>
            <a:fillRect/>
          </a:stretch>
        </p:blipFill>
        <p:spPr>
          <a:xfrm>
            <a:off x="4726940" y="2622550"/>
            <a:ext cx="2570480" cy="172085"/>
          </a:xfrm>
          <a:prstGeom prst="rect">
            <a:avLst/>
          </a:prstGeom>
        </p:spPr>
      </p:pic>
      <p:cxnSp>
        <p:nvCxnSpPr>
          <p:cNvPr id="63" name="直接连接符 62"/>
          <p:cNvCxnSpPr/>
          <p:nvPr/>
        </p:nvCxnSpPr>
        <p:spPr>
          <a:xfrm>
            <a:off x="2219325" y="4378325"/>
            <a:ext cx="2603500" cy="3175"/>
          </a:xfrm>
          <a:prstGeom prst="line">
            <a:avLst/>
          </a:prstGeom>
          <a:ln cmpd="dbl">
            <a:solidFill>
              <a:srgbClr val="A26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7350760" y="4389120"/>
            <a:ext cx="2603500" cy="3175"/>
          </a:xfrm>
          <a:prstGeom prst="line">
            <a:avLst/>
          </a:prstGeom>
          <a:ln cmpd="dbl">
            <a:solidFill>
              <a:srgbClr val="A268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>
            <a:off x="3200400" y="3505200"/>
            <a:ext cx="5486400" cy="124460"/>
            <a:chOff x="5040" y="5520"/>
            <a:chExt cx="8640" cy="432"/>
          </a:xfrm>
        </p:grpSpPr>
        <p:cxnSp>
          <p:nvCxnSpPr>
            <p:cNvPr id="91" name="Connector 35"/>
            <p:cNvCxnSpPr/>
            <p:nvPr/>
          </p:nvCxnSpPr>
          <p:spPr>
            <a:xfrm flipH="1">
              <a:off x="5040" y="5520"/>
              <a:ext cx="1440" cy="432"/>
            </a:xfrm>
            <a:prstGeom prst="line">
              <a:avLst/>
            </a:prstGeom>
            <a:ln w="12700">
              <a:solidFill>
                <a:srgbClr val="C9A9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36"/>
            <p:cNvCxnSpPr/>
            <p:nvPr/>
          </p:nvCxnSpPr>
          <p:spPr>
            <a:xfrm>
              <a:off x="12240" y="5520"/>
              <a:ext cx="1440" cy="432"/>
            </a:xfrm>
            <a:prstGeom prst="line">
              <a:avLst/>
            </a:prstGeom>
            <a:ln w="12700">
              <a:solidFill>
                <a:srgbClr val="C9A96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B7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-30480" y="676910"/>
            <a:ext cx="12254865" cy="618363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alphaModFix amt="80000"/>
            <a:biLevel thresh="25000"/>
          </a:blip>
          <a:stretch>
            <a:fillRect/>
          </a:stretch>
        </p:blipFill>
        <p:spPr>
          <a:xfrm>
            <a:off x="4803775" y="3302635"/>
            <a:ext cx="7513955" cy="363855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205" y="2497455"/>
            <a:ext cx="1560830" cy="107950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180" y="2497455"/>
            <a:ext cx="1560830" cy="107950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55" y="2497455"/>
            <a:ext cx="1560830" cy="10795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305" y="1765935"/>
            <a:ext cx="1560830" cy="107950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55" y="1765935"/>
            <a:ext cx="1560830" cy="1079500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180" y="1765935"/>
            <a:ext cx="1560830" cy="10795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4150" y="1574165"/>
            <a:ext cx="6017895" cy="4394200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>
            <a:off x="1178560" y="683895"/>
            <a:ext cx="11087735" cy="1905"/>
          </a:xfrm>
          <a:prstGeom prst="line">
            <a:avLst/>
          </a:prstGeom>
          <a:ln w="47625">
            <a:solidFill>
              <a:srgbClr val="5738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59690" y="57785"/>
            <a:ext cx="1304290" cy="646430"/>
            <a:chOff x="181" y="215"/>
            <a:chExt cx="1580" cy="894"/>
          </a:xfrm>
        </p:grpSpPr>
        <p:sp>
          <p:nvSpPr>
            <p:cNvPr id="23" name="平行四边形 22"/>
            <p:cNvSpPr/>
            <p:nvPr userDrawn="1"/>
          </p:nvSpPr>
          <p:spPr>
            <a:xfrm>
              <a:off x="181" y="215"/>
              <a:ext cx="1287" cy="895"/>
            </a:xfrm>
            <a:prstGeom prst="parallelogram">
              <a:avLst/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平行四边形 23"/>
            <p:cNvSpPr/>
            <p:nvPr userDrawn="1"/>
          </p:nvSpPr>
          <p:spPr>
            <a:xfrm>
              <a:off x="1351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6" name="平行四边形 25"/>
            <p:cNvSpPr/>
            <p:nvPr userDrawn="1"/>
          </p:nvSpPr>
          <p:spPr>
            <a:xfrm>
              <a:off x="1503" y="215"/>
              <a:ext cx="258" cy="895"/>
            </a:xfrm>
            <a:prstGeom prst="parallelogram">
              <a:avLst>
                <a:gd name="adj" fmla="val 70588"/>
              </a:avLst>
            </a:prstGeom>
            <a:solidFill>
              <a:srgbClr val="5738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68300" y="187325"/>
            <a:ext cx="436245" cy="443230"/>
          </a:xfrm>
          <a:prstGeom prst="rect">
            <a:avLst/>
          </a:prstGeom>
        </p:spPr>
      </p:pic>
      <p:grpSp>
        <p:nvGrpSpPr>
          <p:cNvPr id="35" name="组合 34"/>
          <p:cNvGrpSpPr/>
          <p:nvPr userDrawn="1"/>
        </p:nvGrpSpPr>
        <p:grpSpPr>
          <a:xfrm>
            <a:off x="3530600" y="240030"/>
            <a:ext cx="873125" cy="239395"/>
            <a:chOff x="8506" y="5455"/>
            <a:chExt cx="1450" cy="438"/>
          </a:xfrm>
          <a:gradFill>
            <a:gsLst>
              <a:gs pos="0">
                <a:srgbClr val="D6B784">
                  <a:alpha val="40000"/>
                </a:srgbClr>
              </a:gs>
              <a:gs pos="100000">
                <a:srgbClr val="573823"/>
              </a:gs>
            </a:gsLst>
            <a:lin ang="0" scaled="0"/>
          </a:gradFill>
        </p:grpSpPr>
        <p:sp>
          <p:nvSpPr>
            <p:cNvPr id="28" name="燕尾形 27"/>
            <p:cNvSpPr/>
            <p:nvPr userDrawn="1"/>
          </p:nvSpPr>
          <p:spPr>
            <a:xfrm>
              <a:off x="8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9" name="燕尾形 28"/>
            <p:cNvSpPr/>
            <p:nvPr userDrawn="1"/>
          </p:nvSpPr>
          <p:spPr>
            <a:xfrm>
              <a:off x="8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0" name="燕尾形 29"/>
            <p:cNvSpPr/>
            <p:nvPr userDrawn="1"/>
          </p:nvSpPr>
          <p:spPr>
            <a:xfrm>
              <a:off x="89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1" name="燕尾形 30"/>
            <p:cNvSpPr/>
            <p:nvPr userDrawn="1"/>
          </p:nvSpPr>
          <p:spPr>
            <a:xfrm>
              <a:off x="91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2" name="燕尾形 31"/>
            <p:cNvSpPr/>
            <p:nvPr userDrawn="1"/>
          </p:nvSpPr>
          <p:spPr>
            <a:xfrm>
              <a:off x="93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3" name="燕尾形 32"/>
            <p:cNvSpPr/>
            <p:nvPr userDrawn="1"/>
          </p:nvSpPr>
          <p:spPr>
            <a:xfrm>
              <a:off x="95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4" name="燕尾形 33"/>
            <p:cNvSpPr/>
            <p:nvPr userDrawn="1"/>
          </p:nvSpPr>
          <p:spPr>
            <a:xfrm>
              <a:off x="9706" y="5455"/>
              <a:ext cx="250" cy="438"/>
            </a:xfrm>
            <a:prstGeom prst="chevron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平行四边形 35"/>
          <p:cNvSpPr/>
          <p:nvPr userDrawn="1"/>
        </p:nvSpPr>
        <p:spPr>
          <a:xfrm>
            <a:off x="4679950" y="137795"/>
            <a:ext cx="7426960" cy="536575"/>
          </a:xfrm>
          <a:prstGeom prst="parallelogram">
            <a:avLst/>
          </a:prstGeom>
          <a:solidFill>
            <a:srgbClr val="D6B784"/>
          </a:solidFill>
          <a:ln w="28575">
            <a:solidFill>
              <a:srgbClr val="6E492B"/>
            </a:solidFill>
          </a:ln>
          <a:effectLst>
            <a:outerShdw blurRad="381000" dist="114300" dir="2880000" sx="96000" sy="96000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05440" y="-470535"/>
            <a:ext cx="1356360" cy="2413000"/>
          </a:xfrm>
          <a:prstGeom prst="rect">
            <a:avLst/>
          </a:prstGeom>
        </p:spPr>
      </p:pic>
      <p:sp>
        <p:nvSpPr>
          <p:cNvPr id="40" name="平行四边形 39"/>
          <p:cNvSpPr/>
          <p:nvPr userDrawn="1"/>
        </p:nvSpPr>
        <p:spPr>
          <a:xfrm>
            <a:off x="10544175" y="102870"/>
            <a:ext cx="1576070" cy="581025"/>
          </a:xfrm>
          <a:prstGeom prst="parallelogram">
            <a:avLst/>
          </a:prstGeom>
          <a:solidFill>
            <a:srgbClr val="6E492B"/>
          </a:solidFill>
          <a:ln w="28575">
            <a:solidFill>
              <a:srgbClr val="6E492B"/>
            </a:solidFill>
          </a:ln>
          <a:effectLst>
            <a:outerShdw blurRad="190500" dist="23000" dir="5400000" sx="99000" sy="99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617835" y="171450"/>
            <a:ext cx="1774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落地展望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585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项目背景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9445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方案架构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3045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核心技术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11640" y="240030"/>
            <a:ext cx="122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评测案例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09370" y="102870"/>
            <a:ext cx="2597785" cy="5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ADA86"/>
                </a:solidFill>
              </a14:hiddenFill>
            </a:ext>
          </a:extLst>
        </p:spPr>
        <p:txBody>
          <a:bodyPr wrap="square" rtlCol="0">
            <a:no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zh-CN" sz="3200" i="1" spc="300">
                <a:solidFill>
                  <a:srgbClr val="573823"/>
                </a:solidFill>
                <a:uFillTx/>
                <a:latin typeface="造字工房格黑体" panose="020B0600000000000000" charset="-122"/>
                <a:ea typeface="造字工房格黑体" panose="020B0600000000000000" charset="-122"/>
              </a:rPr>
              <a:t>推广展望</a:t>
            </a:r>
            <a:endParaRPr lang="zh-CN" sz="3200" i="1" spc="300">
              <a:solidFill>
                <a:srgbClr val="573823"/>
              </a:solidFill>
              <a:uFillTx/>
              <a:latin typeface="造字工房格黑体" panose="020B0600000000000000" charset="-122"/>
              <a:ea typeface="造字工房格黑体" panose="020B06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445385" y="908685"/>
            <a:ext cx="11623040" cy="655320"/>
            <a:chOff x="368" y="1219"/>
            <a:chExt cx="18304" cy="1032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8" y="1277"/>
              <a:ext cx="10856" cy="975"/>
            </a:xfrm>
            <a:prstGeom prst="rect">
              <a:avLst/>
            </a:prstGeom>
          </p:spPr>
        </p:pic>
        <p:sp>
          <p:nvSpPr>
            <p:cNvPr id="9" name="Text 2"/>
            <p:cNvSpPr/>
            <p:nvPr/>
          </p:nvSpPr>
          <p:spPr>
            <a:xfrm>
              <a:off x="1056" y="1219"/>
              <a:ext cx="17616" cy="89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sz="2000" b="1" spc="140">
                  <a:ln w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ln>
                  <a:solidFill>
                    <a:schemeClr val="bg1"/>
                  </a:solidFill>
                  <a:uFillTx/>
                  <a:latin typeface="汉仪黑方简" panose="00020600040101010101" charset="-122"/>
                  <a:ea typeface="汉仪黑方简" panose="00020600040101010101" charset="-122"/>
                  <a:cs typeface="汉仪黑方简" panose="00020600040101010101" charset="-122"/>
                </a:rPr>
                <a:t>推广应用价值：三阶轻量化落地与情景 ROI 模型</a:t>
              </a:r>
              <a:endParaRPr sz="2000" b="1" spc="140">
                <a:ln w="0"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  <a:solidFill>
                  <a:schemeClr val="bg1"/>
                </a:solidFill>
                <a:uFillTx/>
                <a:latin typeface="汉仪黑方简" panose="00020600040101010101" charset="-122"/>
                <a:ea typeface="汉仪黑方简" panose="00020600040101010101" charset="-122"/>
                <a:cs typeface="汉仪黑方简" panose="00020600040101010101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56565" y="5783580"/>
            <a:ext cx="4935220" cy="741045"/>
            <a:chOff x="1175" y="5950"/>
            <a:chExt cx="5760" cy="1167"/>
          </a:xfrm>
        </p:grpSpPr>
        <p:sp>
          <p:nvSpPr>
            <p:cNvPr id="17" name="Text 7"/>
            <p:cNvSpPr/>
            <p:nvPr/>
          </p:nvSpPr>
          <p:spPr>
            <a:xfrm>
              <a:off x="1175" y="6570"/>
              <a:ext cx="576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42A2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灵山胜境（首个落地景区）</a:t>
              </a:r>
              <a:endParaRPr lang="en-US" sz="2000" b="1" dirty="0">
                <a:solidFill>
                  <a:srgbClr val="242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8" name="Text 8"/>
            <p:cNvSpPr/>
            <p:nvPr/>
          </p:nvSpPr>
          <p:spPr>
            <a:xfrm>
              <a:off x="1175" y="5950"/>
              <a:ext cx="5760" cy="57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A6B3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已验证：50 题评测 · 场景 40/40 · 路线 60/60 · 真实产品闭环</a:t>
              </a:r>
              <a:endParaRPr lang="en-US" sz="1400" b="1" dirty="0">
                <a:solidFill>
                  <a:srgbClr val="8A6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55" name="Text 30"/>
          <p:cNvSpPr/>
          <p:nvPr/>
        </p:nvSpPr>
        <p:spPr>
          <a:xfrm>
            <a:off x="5742432" y="497433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56" name="Text 31"/>
          <p:cNvSpPr/>
          <p:nvPr/>
        </p:nvSpPr>
        <p:spPr>
          <a:xfrm>
            <a:off x="5742432" y="53218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57" name="Text 32"/>
          <p:cNvSpPr/>
          <p:nvPr/>
        </p:nvSpPr>
        <p:spPr>
          <a:xfrm>
            <a:off x="8714232" y="53218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58" name="Text 33"/>
          <p:cNvSpPr/>
          <p:nvPr/>
        </p:nvSpPr>
        <p:spPr>
          <a:xfrm>
            <a:off x="5742432" y="5632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34"/>
          <p:cNvSpPr/>
          <p:nvPr/>
        </p:nvSpPr>
        <p:spPr>
          <a:xfrm>
            <a:off x="8714232" y="5632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35"/>
          <p:cNvSpPr/>
          <p:nvPr/>
        </p:nvSpPr>
        <p:spPr>
          <a:xfrm>
            <a:off x="457200" y="578358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pic>
        <p:nvPicPr>
          <p:cNvPr id="62" name="图片 61" descr="屏幕截图 2026-09-25 123331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502920" y="2046605"/>
            <a:ext cx="4603115" cy="3378200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64" name="Text 10"/>
          <p:cNvSpPr/>
          <p:nvPr/>
        </p:nvSpPr>
        <p:spPr>
          <a:xfrm>
            <a:off x="5501640" y="1619885"/>
            <a:ext cx="3435985" cy="372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>
                <a:latin typeface="三极榜楷简体" panose="00000500000000000000" charset="-122"/>
                <a:ea typeface="三极榜楷简体" panose="00000500000000000000" charset="-122"/>
                <a:cs typeface="三极榜楷简体" panose="00000500000000000000" charset="-122"/>
              </a:rPr>
              <a:t>三阶轻量化务实落地体系 </a:t>
            </a:r>
            <a:r>
              <a:rPr lang="en-US">
                <a:latin typeface="三极榜楷简体" panose="00000500000000000000" charset="-122"/>
                <a:ea typeface="三极榜楷简体" panose="00000500000000000000" charset="-122"/>
                <a:cs typeface="三极榜楷简体" panose="00000500000000000000" charset="-122"/>
              </a:rPr>
              <a:t>      </a:t>
            </a:r>
            <a:endParaRPr>
              <a:latin typeface="三极榜楷简体" panose="00000500000000000000" charset="-122"/>
              <a:ea typeface="三极榜楷简体" panose="00000500000000000000" charset="-122"/>
              <a:cs typeface="三极榜楷简体" panose="00000500000000000000" charset="-122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5433060" y="199948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古镇</a:t>
            </a:r>
            <a:endParaRPr lang="en-US" sz="2400" dirty="0">
              <a:solidFill>
                <a:srgbClr val="242A2E"/>
              </a:solidFill>
              <a:latin typeface="方正字迹-龙吟体 简" panose="02000500000000000000" charset="-122"/>
              <a:ea typeface="方正字迹-龙吟体 简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7645908" y="199186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博物馆</a:t>
            </a:r>
            <a:endParaRPr lang="en-US" sz="2400" dirty="0">
              <a:solidFill>
                <a:srgbClr val="242A2E"/>
              </a:solidFill>
              <a:latin typeface="方正字迹-龙吟体 简" panose="02000500000000000000" charset="-122"/>
              <a:ea typeface="方正字迹-龙吟体 简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9858756" y="199186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主题园区</a:t>
            </a:r>
            <a:endParaRPr lang="en-US" sz="2400" dirty="0">
              <a:solidFill>
                <a:srgbClr val="242A2E"/>
              </a:solidFill>
              <a:latin typeface="方正字迹-龙吟体 简" panose="02000500000000000000" charset="-122"/>
              <a:ea typeface="方正字迹-龙吟体 简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5433060" y="273558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景区</a:t>
            </a:r>
            <a:endParaRPr lang="en-US" sz="2400" dirty="0">
              <a:solidFill>
                <a:srgbClr val="242A2E"/>
              </a:solidFill>
              <a:latin typeface="方正字迹-龙吟体 简" panose="02000500000000000000" charset="-122"/>
              <a:ea typeface="方正字迹-龙吟体 简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7649083" y="2726055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校园</a:t>
            </a:r>
            <a:endParaRPr lang="en-US" sz="2400" dirty="0">
              <a:solidFill>
                <a:srgbClr val="242A2E"/>
              </a:solidFill>
              <a:latin typeface="方正字迹-龙吟体 简" panose="02000500000000000000" charset="-122"/>
              <a:ea typeface="方正字迹-龙吟体 简" panose="02000500000000000000" charset="-122"/>
              <a:cs typeface="微软雅黑" panose="020B0503020204020204" pitchFamily="34" charset="-120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9858756" y="271272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42A2E"/>
                </a:solidFill>
                <a:latin typeface="方正字迹-龙吟体 简" panose="02000500000000000000" charset="-122"/>
                <a:ea typeface="方正字迹-龙吟体 简" panose="02000500000000000000" charset="-122"/>
                <a:cs typeface="微软雅黑" panose="020B0503020204020204" pitchFamily="34" charset="-120"/>
              </a:rPr>
              <a:t>文旅综合体</a:t>
            </a:r>
            <a:endParaRPr lang="en-US" sz="1300" dirty="0"/>
          </a:p>
        </p:txBody>
      </p:sp>
      <p:sp>
        <p:nvSpPr>
          <p:cNvPr id="77" name="Text 23"/>
          <p:cNvSpPr/>
          <p:nvPr/>
        </p:nvSpPr>
        <p:spPr>
          <a:xfrm>
            <a:off x="502920" y="7454900"/>
            <a:ext cx="6904355" cy="567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 sz="1000"/>
            </a:pPr>
            <a:r>
              <a:rPr sz="1200" b="1"/>
              <a:t>🟢 第一阶段 · 轻量版 ：基于现有矢量导览图提取 23 景点路网契约 (2~3人天)，导入导游词，极速上线智能问答与基础游览；</a:t>
            </a:r>
            <a:endParaRPr sz="1200" b="1"/>
          </a:p>
          <a:p>
            <a:pPr>
              <a:defRPr sz="1000"/>
            </a:pPr>
            <a:r>
              <a:rPr sz="1200" b="1"/>
              <a:t>🟡 第二阶段 · 标准版 ：对接演艺排期与观光车时刻，开启多约束时空规划与 14 项守恒仲裁器；</a:t>
            </a:r>
            <a:endParaRPr sz="1200" b="1"/>
          </a:p>
          <a:p>
            <a:pPr>
              <a:defRPr sz="1000"/>
            </a:pPr>
            <a:r>
              <a:rPr sz="1200" b="1"/>
              <a:t>🔴 第三阶段 · 深度数智版 ：接入闸机客流与高精测绘，实现全园动态客流削峰填谷。</a:t>
            </a:r>
            <a:endParaRPr sz="1200" b="1"/>
          </a:p>
        </p:txBody>
      </p:sp>
      <p:sp>
        <p:nvSpPr>
          <p:cNvPr id="78" name="Shape 29"/>
          <p:cNvSpPr/>
          <p:nvPr/>
        </p:nvSpPr>
        <p:spPr>
          <a:xfrm>
            <a:off x="7937500" y="7306310"/>
            <a:ext cx="6492240" cy="1554480"/>
          </a:xfrm>
          <a:prstGeom prst="roundRect">
            <a:avLst>
              <a:gd name="adj" fmla="val 2711"/>
            </a:avLst>
          </a:prstGeom>
          <a:solidFill>
            <a:srgbClr val="F1EAE0"/>
          </a:solidFill>
          <a:ln w="9525">
            <a:solidFill>
              <a:srgbClr val="B08D5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r>
              <a:t>商业财务测算（情景假设）</a:t>
            </a:r>
          </a:p>
          <a:p>
            <a:r>
              <a:t>💵 年运维：1.39 万元；首次实施：5.0 万元（独立核算）</a:t>
            </a:r>
          </a:p>
          <a:p>
            <a:r>
              <a:t>📈 闭环：SaaS 服务费 + 个性化交付 + 二消/观光车分成</a:t>
            </a:r>
          </a:p>
          <a:p>
            <a:r>
              <a:t>🎯 ROI：3~6 个月回收投入（中性情景 4.8 个月；非已实现经营结果）</a:t>
            </a:r>
          </a:p>
        </p:txBody>
      </p:sp>
      <p:sp>
        <p:nvSpPr>
          <p:cNvPr id="79" name="Text 30"/>
          <p:cNvSpPr/>
          <p:nvPr/>
        </p:nvSpPr>
        <p:spPr>
          <a:xfrm>
            <a:off x="6273292" y="518515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80" name="Text 31"/>
          <p:cNvSpPr/>
          <p:nvPr/>
        </p:nvSpPr>
        <p:spPr>
          <a:xfrm>
            <a:off x="6273292" y="55326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81" name="Text 32"/>
          <p:cNvSpPr/>
          <p:nvPr/>
        </p:nvSpPr>
        <p:spPr>
          <a:xfrm>
            <a:off x="9245092" y="55326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82" name="Text 33"/>
          <p:cNvSpPr/>
          <p:nvPr/>
        </p:nvSpPr>
        <p:spPr>
          <a:xfrm>
            <a:off x="6273292" y="584352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83" name="Text 34"/>
          <p:cNvSpPr/>
          <p:nvPr/>
        </p:nvSpPr>
        <p:spPr>
          <a:xfrm>
            <a:off x="9245092" y="584352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/>
        </p:txBody>
      </p:sp>
      <p:sp>
        <p:nvSpPr>
          <p:cNvPr id="92" name="文本框 91"/>
          <p:cNvSpPr txBox="1"/>
          <p:nvPr/>
        </p:nvSpPr>
        <p:spPr>
          <a:xfrm>
            <a:off x="5603240" y="3645535"/>
            <a:ext cx="1887220" cy="460375"/>
          </a:xfrm>
          <a:prstGeom prst="rect">
            <a:avLst/>
          </a:prstGeom>
          <a:noFill/>
        </p:spPr>
        <p:txBody>
          <a:bodyPr wrap="square" anchor="t">
            <a:noAutofit/>
          </a:bodyPr>
          <a:p>
            <a:pPr>
              <a:spcAft>
                <a:spcPts val="200"/>
              </a:spcAft>
            </a:pPr>
            <a:r>
              <a:rPr>
                <a:latin typeface="三极榜楷简体" panose="00000500000000000000" charset="-122"/>
                <a:ea typeface="三极榜楷简体" panose="00000500000000000000" charset="-122"/>
                <a:cs typeface="三极榜楷简体" panose="00000500000000000000" charset="-122"/>
                <a:sym typeface="+mn-ea"/>
              </a:rPr>
              <a:t>时间轴</a:t>
            </a:r>
            <a:endParaRPr lang="zh-CN" altLang="en-US" sz="1400" b="0">
              <a:solidFill>
                <a:srgbClr val="4A5568"/>
              </a:solidFill>
              <a:latin typeface="三极榜楷简体" panose="00000500000000000000" charset="-122"/>
              <a:ea typeface="三极榜楷简体" panose="00000500000000000000" charset="-122"/>
              <a:cs typeface="三极榜楷简体" panose="00000500000000000000" charset="-122"/>
              <a:sym typeface="+mn-ea"/>
            </a:endParaRPr>
          </a:p>
        </p:txBody>
      </p:sp>
      <p:pic>
        <p:nvPicPr>
          <p:cNvPr id="93" name="E657119C-6982-421D-8BA7-E74DEB70A7D9-1" descr="C:/Users/JieWang/AppData/Roaming/Kingsoft/wps/addons/data/win-i386/kinsertprocesson/insertimage.xDOUoeinsert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4205" y="3837940"/>
            <a:ext cx="6189980" cy="28740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B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5127625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4486275"/>
            <a:ext cx="12192000" cy="237172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35" y="1122045"/>
            <a:ext cx="12190730" cy="4572000"/>
            <a:chOff x="1" y="2823"/>
            <a:chExt cx="19198" cy="720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" y="2823"/>
              <a:ext cx="19198" cy="720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614" y="5300"/>
              <a:ext cx="18411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400">
                  <a:latin typeface="方正字迹-龙吟体 简" panose="02000500000000000000" charset="-122"/>
                  <a:ea typeface="方正字迹-龙吟体 简" panose="02000500000000000000" charset="-122"/>
                </a:rPr>
                <a:t>恳请各位老师批评指正</a:t>
              </a:r>
              <a:r>
                <a:rPr lang="zh-CN" altLang="en-US" sz="8800">
                  <a:latin typeface="方正字迹-龙吟体 简" panose="02000500000000000000" charset="-122"/>
                  <a:ea typeface="方正字迹-龙吟体 简" panose="02000500000000000000" charset="-122"/>
                </a:rPr>
                <a:t>！</a:t>
              </a:r>
              <a:endParaRPr lang="zh-CN" altLang="en-US" sz="8800">
                <a:latin typeface="方正字迹-龙吟体 简" panose="02000500000000000000" charset="-122"/>
                <a:ea typeface="方正字迹-龙吟体 简" panose="02000500000000000000" charset="-122"/>
              </a:endParaRPr>
            </a:p>
          </p:txBody>
        </p:sp>
      </p:grpSp>
      <p:sp>
        <p:nvSpPr>
          <p:cNvPr id="30" name="Text 28"/>
          <p:cNvSpPr/>
          <p:nvPr/>
        </p:nvSpPr>
        <p:spPr>
          <a:xfrm>
            <a:off x="443230" y="5598795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2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2400">
                <a:gradFill>
                  <a:gsLst>
                    <a:gs pos="39000">
                      <a:schemeClr val="bg1">
                        <a:alpha val="100000"/>
                      </a:schemeClr>
                    </a:gs>
                    <a:gs pos="92000">
                      <a:schemeClr val="bg1">
                        <a:lumMod val="95000"/>
                        <a:alpha val="47000"/>
                      </a:schemeClr>
                    </a:gs>
                  </a:gsLst>
                  <a:lin ang="5400000" scaled="0"/>
                </a:gradFill>
                <a:latin typeface="汉仪黑方简" panose="00020600040101010101" charset="-122"/>
                <a:ea typeface="汉仪黑方简" panose="00020600040101010101" charset="-122"/>
                <a:cs typeface="汉仪黑方简" panose="00020600040101010101" charset="-122"/>
              </a:rPr>
              <a:t>我们希望让 AI 真正理解游客当前需求，基于可信景区知识与现实约束</a:t>
            </a:r>
            <a:endParaRPr sz="2400">
              <a:gradFill>
                <a:gsLst>
                  <a:gs pos="39000">
                    <a:schemeClr val="bg1">
                      <a:alpha val="100000"/>
                    </a:schemeClr>
                  </a:gs>
                  <a:gs pos="92000">
                    <a:schemeClr val="bg1">
                      <a:lumMod val="95000"/>
                      <a:alpha val="47000"/>
                    </a:schemeClr>
                  </a:gs>
                </a:gsLst>
                <a:lin ang="5400000" scaled="0"/>
              </a:gradFill>
              <a:latin typeface="汉仪黑方简" panose="00020600040101010101" charset="-122"/>
              <a:ea typeface="汉仪黑方简" panose="00020600040101010101" charset="-122"/>
              <a:cs typeface="汉仪黑方简" panose="00020600040101010101" charset="-122"/>
            </a:endParaRPr>
          </a:p>
          <a:p>
            <a:pPr marL="0" indent="0" algn="ctr">
              <a:buNone/>
              <a:defRPr sz="1200" b="1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sz="2400">
                <a:gradFill>
                  <a:gsLst>
                    <a:gs pos="39000">
                      <a:schemeClr val="bg1">
                        <a:alpha val="100000"/>
                      </a:schemeClr>
                    </a:gs>
                    <a:gs pos="92000">
                      <a:schemeClr val="bg1">
                        <a:lumMod val="95000"/>
                        <a:alpha val="47000"/>
                      </a:schemeClr>
                    </a:gs>
                  </a:gsLst>
                  <a:lin ang="5400000" scaled="0"/>
                </a:gradFill>
                <a:latin typeface="汉仪黑方简" panose="00020600040101010101" charset="-122"/>
                <a:ea typeface="汉仪黑方简" panose="00020600040101010101" charset="-122"/>
                <a:cs typeface="汉仪黑方简" panose="00020600040101010101" charset="-122"/>
              </a:rPr>
              <a:t>辅助游客完成一次完整的游览决策</a:t>
            </a:r>
            <a:endParaRPr sz="2400">
              <a:gradFill>
                <a:gsLst>
                  <a:gs pos="39000">
                    <a:schemeClr val="bg1">
                      <a:alpha val="100000"/>
                    </a:schemeClr>
                  </a:gs>
                  <a:gs pos="92000">
                    <a:schemeClr val="bg1">
                      <a:lumMod val="95000"/>
                      <a:alpha val="47000"/>
                    </a:schemeClr>
                  </a:gs>
                </a:gsLst>
                <a:lin ang="5400000" scaled="0"/>
              </a:gradFill>
              <a:latin typeface="汉仪黑方简" panose="00020600040101010101" charset="-122"/>
              <a:ea typeface="汉仪黑方简" panose="00020600040101010101" charset="-122"/>
              <a:cs typeface="汉仪黑方简" panose="00020600040101010101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165" y="1372235"/>
            <a:ext cx="9121140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2000" spc="120">
                <a:solidFill>
                  <a:schemeClr val="accent2">
                    <a:lumMod val="75000"/>
                  </a:schemeClr>
                </a:solidFill>
                <a:uFillTx/>
                <a:latin typeface="汉仪黑方简" panose="00020600040101010101" charset="-122"/>
                <a:ea typeface="汉仪黑方简" panose="00020600040101010101" charset="-122"/>
              </a:rPr>
              <a:t>以算法敬畏物理世界，用数智赋能华夏文旅：灵小禅可信文旅决策智能体</a:t>
            </a:r>
            <a:endParaRPr sz="2000" spc="120">
              <a:solidFill>
                <a:schemeClr val="accent2">
                  <a:lumMod val="75000"/>
                </a:schemeClr>
              </a:solidFill>
              <a:uFillTx/>
              <a:latin typeface="汉仪黑方简" panose="00020600040101010101" charset="-122"/>
              <a:ea typeface="汉仪黑方简" panose="0002060004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37360" y="4973320"/>
            <a:ext cx="10532745" cy="365760"/>
            <a:chOff x="1253" y="3888"/>
            <a:chExt cx="16587" cy="576"/>
          </a:xfrm>
        </p:grpSpPr>
        <p:sp>
          <p:nvSpPr>
            <p:cNvPr id="11" name="Text 9"/>
            <p:cNvSpPr/>
            <p:nvPr/>
          </p:nvSpPr>
          <p:spPr>
            <a:xfrm>
              <a:off x="1253" y="3888"/>
              <a:ext cx="4723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可靠获取景区知识</a:t>
              </a:r>
              <a:endPara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186" y="3888"/>
              <a:ext cx="4723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理解个体需求</a:t>
              </a:r>
              <a:endPara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3118" y="3888"/>
              <a:ext cx="4723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完成复杂游览决策</a:t>
              </a:r>
              <a:endPara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flipH="1">
            <a:off x="7064375" y="0"/>
            <a:ext cx="5127625" cy="6858000"/>
          </a:xfrm>
          <a:prstGeom prst="rect">
            <a:avLst/>
          </a:prstGeom>
        </p:spPr>
      </p:pic>
      <p:pic>
        <p:nvPicPr>
          <p:cNvPr id="17" name="图片 16" descr="屏幕截图 2026-09-21 212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37226"/>
            <a:ext cx="1931992" cy="630936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AICARD_INVALID" val="Invalid"/>
</p:tagLst>
</file>

<file path=ppt/tags/tag4.xml><?xml version="1.0" encoding="utf-8"?>
<p:tagLst xmlns:p="http://schemas.openxmlformats.org/presentationml/2006/main">
  <p:tag name="KSO_WM_AICARD_INVALID" val="Invalid"/>
</p:tagLst>
</file>

<file path=ppt/tags/tag5.xml><?xml version="1.0" encoding="utf-8"?>
<p:tagLst xmlns:p="http://schemas.openxmlformats.org/presentationml/2006/main">
  <p:tag name="KSO_WM_AICARD_INVALID" val="Invalid"/>
</p:tagLst>
</file>

<file path=ppt/tags/tag6.xml><?xml version="1.0" encoding="utf-8"?>
<p:tagLst xmlns:p="http://schemas.openxmlformats.org/presentationml/2006/main">
  <p:tag name="KSO_WM_AICARD_INVALID" val="Invalid"/>
</p:tagLst>
</file>

<file path=ppt/tags/tag7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8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9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0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1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2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3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4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5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6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17.xml><?xml version="1.0" encoding="utf-8"?>
<p:tagLst xmlns:p="http://schemas.openxmlformats.org/presentationml/2006/main">
  <p:tag name="KSO_WM_DIAGRAM_VIRTUALLY_FRAME" val="{&quot;height&quot;:94.4,&quot;left&quot;:461.75,&quot;top&quot;:447.1,&quot;width&quot;:549.35}"/>
</p:tagLst>
</file>

<file path=ppt/tags/tag18.xml><?xml version="1.0" encoding="utf-8"?>
<p:tagLst xmlns:p="http://schemas.openxmlformats.org/presentationml/2006/main">
  <p:tag name="KSO_WM_DIAGRAM_VIRTUALLY_FRAME" val="{&quot;height&quot;:94.4,&quot;left&quot;:461.75,&quot;top&quot;:447.1,&quot;width&quot;:549.35}"/>
</p:tagLst>
</file>

<file path=ppt/tags/tag19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0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1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2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3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4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5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6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7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8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29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0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1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2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3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4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5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6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7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8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39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40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41.xml><?xml version="1.0" encoding="utf-8"?>
<p:tagLst xmlns:p="http://schemas.openxmlformats.org/presentationml/2006/main">
  <p:tag name="KSO_WM_DIAGRAM_VIRTUALLY_FRAME" val="{&quot;height&quot;:331.45,&quot;left&quot;:39.6,&quot;top&quot;:123,&quot;width&quot;:895.2}"/>
</p:tagLst>
</file>

<file path=ppt/tags/tag42.xml><?xml version="1.0" encoding="utf-8"?>
<p:tagLst xmlns:p="http://schemas.openxmlformats.org/presentationml/2006/main">
  <p:tag name="KSO_WM_AICARD_INVALID" val="Invalid"/>
</p:tagLst>
</file>

<file path=ppt/tags/tag43.xml><?xml version="1.0" encoding="utf-8"?>
<p:tagLst xmlns:p="http://schemas.openxmlformats.org/presentationml/2006/main">
  <p:tag name="KSO_WM_AICARD_INVALID" val="Invalid"/>
</p:tagLst>
</file>

<file path=ppt/tags/tag44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45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46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47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48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49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0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1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2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3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4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5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6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7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8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59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0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1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2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3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4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5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6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7.xml><?xml version="1.0" encoding="utf-8"?>
<p:tagLst xmlns:p="http://schemas.openxmlformats.org/presentationml/2006/main">
  <p:tag name="KSO_WM_DIAGRAM_VIRTUALLY_FRAME" val="{&quot;height&quot;:254.88000000000002,&quot;left&quot;:471.1,&quot;top&quot;:186.8,&quot;width&quot;:450}"/>
</p:tagLst>
</file>

<file path=ppt/tags/tag68.xml><?xml version="1.0" encoding="utf-8"?>
<p:tagLst xmlns:p="http://schemas.openxmlformats.org/presentationml/2006/main">
  <p:tag name="KSO_WM_AICARD_INVALID" val="Invalid"/>
</p:tagLst>
</file>

<file path=ppt/tags/tag69.xml><?xml version="1.0" encoding="utf-8"?>
<p:tagLst xmlns:p="http://schemas.openxmlformats.org/presentationml/2006/main">
  <p:tag name="KSO_WM_AICARD_INVALID" val="Invalid"/>
</p:tagLst>
</file>

<file path=ppt/tags/tag70.xml><?xml version="1.0" encoding="utf-8"?>
<p:tagLst xmlns:p="http://schemas.openxmlformats.org/presentationml/2006/main">
  <p:tag name="KSO_WM_AICARD_INVALID" val="Invalid"/>
</p:tagLst>
</file>

<file path=ppt/tags/tag71.xml><?xml version="1.0" encoding="utf-8"?>
<p:tagLst xmlns:p="http://schemas.openxmlformats.org/presentationml/2006/main">
  <p:tag name="KSO_WM_AICARD_INVALID" val="Invalid"/>
</p:tagLst>
</file>

<file path=ppt/tags/tag72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3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4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5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6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7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8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79.xml><?xml version="1.0" encoding="utf-8"?>
<p:tagLst xmlns:p="http://schemas.openxmlformats.org/presentationml/2006/main">
  <p:tag name="KSO_WM_DIAGRAM_VIRTUALLY_FRAME" val="{&quot;height&quot;:349.96000000000004,&quot;left&quot;:12.7,&quot;top&quot;:86.85,&quot;width&quot;:926.7303941082803}"/>
</p:tagLst>
</file>

<file path=ppt/tags/tag80.xml><?xml version="1.0" encoding="utf-8"?>
<p:tagLst xmlns:p="http://schemas.openxmlformats.org/presentationml/2006/main">
  <p:tag name="KSO_WM_AICARD_INVALID" val="Invalid"/>
</p:tagLst>
</file>

<file path=ppt/tags/tag81.xml><?xml version="1.0" encoding="utf-8"?>
<p:tagLst xmlns:p="http://schemas.openxmlformats.org/presentationml/2006/main">
  <p:tag name="KSO_WM_AICARD_INVALID" val="Invalid"/>
</p:tagLst>
</file>

<file path=ppt/tags/tag82.xml><?xml version="1.0" encoding="utf-8"?>
<p:tagLst xmlns:p="http://schemas.openxmlformats.org/presentationml/2006/main">
  <p:tag name="KSO_WM_AICARD_INVALID" val="Invalid"/>
</p:tagLst>
</file>

<file path=ppt/tags/tag83.xml><?xml version="1.0" encoding="utf-8"?>
<p:tagLst xmlns:p="http://schemas.openxmlformats.org/presentationml/2006/main">
  <p:tag name="KSO_WM_AICARD_INVALID" val="Invalid"/>
</p:tagLst>
</file>

<file path=ppt/tags/tag85.xml><?xml version="1.0" encoding="utf-8"?>
<p:tagLst xmlns:p="http://schemas.openxmlformats.org/presentationml/2006/main">
  <p:tag name="RESOURCE_RECORD_KEY" val="{&quot;12&quot;:[25114461],&quot;65&quot;:[2020508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>
          <a:spcAft>
            <a:spcPts val="200"/>
          </a:spcAft>
          <a:defRPr sz="1400" b="0">
            <a:solidFill>
              <a:srgbClr val="4A5568"/>
            </a:solidFill>
            <a:latin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WVhSbGNtMWhjbXNsTWpJbE0wRWxNaklsTWpJbE1rTWxNakozYVdSMGFDVXlNaVV6UVRFd05UQWxNa01sTWpKemFHOTNSM0pwWkNVeU1pVXpRWFJ5ZFdVbE1rTWxNakp5YVdOb1ZHVjRkQ1V5TWlVelFYUnlkV1VsTWtNbE1qSjJaWEp6YVc5dUpUSXlKVE5CTUNVeVF5VXlNbWhsYVdkb2RDVXlNaVV6UVRFd01EQWxNa01sTWpKemFHOTNWMkYwWlhKdFlYSnJKVEl5SlROQlptRnNjMlVsTjBRbE1rTWxNakpsYkdWdFpXNTBjeVV5TWlVelFTVTNRaVV5TWpFMlptSXpPV05oWkRWaVlUYzRKVEl5SlROQkpUZENKVEl5Y0dGeVpXNTBKVEl5SlROQkpUSXlKVEl5SlRKREpUSXliR2x1YXlVeU1pVXpRU1V5TWlVeU1pVXlReVV5TW5Ob1lYQmxVM1I1YkdVbE1qSWxNMEVsTjBJbE1qSmhiSEJvWVNVeU1pVXpRVEVsTjBRbE1rTWxNakowWlhoMFFteHZZMnNsTWpJbE0wRWxOVUlsTjBJbE1qSndiM05wZEdsdmJpVXlNaVV6UVNVM1FpVXlNbmNsTWpJbE0wRWxNakozSlRJeUpUSkRKVEl5YUNVeU1pVXpRU1V5TW1nbE1qSWxNa01sTWpKNEpUSXlKVE5CTUNVeVF5VXlNbmtsTWpJbE0wRXdKVGRFSlRKREpUSXlkR1Y0ZENVeU1pVXpRU1V5TWlWRk55VkJReVZCUXlWRk5DVkNPQ1U0T1NWRk9TVTVPQ1ZDTmlWRk5pVkJSU1ZDTlNVeU1pVTNSQ1UxUkNVeVF5VXlNbUZ1WTJodmNuTWxNaklsTTBFbE5VSWxOVVFsTWtNbE1qSm1iMjUwVTNSNWJHVWxNaklsTTBFbE4wSWxNakpqYjJ4dmNpVXlNaVV6UVNVeU1qSXhOaVV5UXpFM09DVXlRemt5SlRJeUpUSkRKVEl5YzJsNlpTVXlNaVV6UVRJeEpUZEVKVEpESlRJeWRHbDBiR1VsTWpJbE0wRWxNaklsTWpJbE1rTWxNakprWVhSaFFYUjBjbWxpZFhSbGN5VXlNaVV6UVNVMVFpVTFSQ1V5UXlVeU1uQnliM0J6SlRJeUpUTkJKVGRDSlRJeWVtbHVaR1Y0SlRJeUpUTkJNallsTWtNbE1qSjNKVEl5SlROQk1UQXlMalU0TURFMU5qQTNNelEzTVRBeUpUSkRKVEl5YUNVeU1pVXpRVFV5TGprNU9UWTJOalkyTmpZMk5qWTJKVEpESlRJeWVDVXlNaVV6UVRZMk55NHpOemd3TXpBM05UVXlOemcxSlRKREpUSXlZVzVuYkdVbE1qSWxNMEV3SlRKREpUSXllU1V5TWlVelFUUXdOeTQwTWpjNE1qSTFNVEE0TWpJMUpUZEVKVEpESlRJeWNHRjBhQ1V5TWlVelFTVTFRaVUzUWlVeU1teHBibVZUZEhsc1pTVXlNaVV6UVNVM1FpVXlNbXhwYm1WWGFXUjBhQ1V5TWlVelFUQWxOMFFsTWtNbE1qSm1hV3hzVTNSNWJHVWxNaklsTTBFbE4wSWxNakowZVhCbEpUSXlKVE5CSlRJeWJtOXVaU1V5TWl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kRUpUSkRKVEl5WTJocGJHUnlaVzRsTWpJbE0wRWxOVUlsTlVRbE1rTWxNakp5WlhOcGVtVkVhWElsTWpJbE0wRWxOVUlsTWpKMGJDVXlNaVV5UXlVeU1uUnlKVEl5SlRKREpUSXlZbklsTWpJbE1rTWxNakppYkNVeU1pVTFSQ1V5UXlVeU1tNWhiV1VsTWpJbE0wRWxNakp6ZEdGdVpHRnlaRlJsZUhRbE1qSWxNa01sTWpKbWFXeHNVM1I1YkdVbE1qSWxNMEVsTjBJbE4wUWxNa01sTWpKaGRIUnlhV0oxZEdVbE1qSWxNMEVsTjBJbE1qSmpiMjUwWVdsdVpYSWxNaklsTTBGbVlXeHpaU1V5UXlVeU1uSnZkR0YwWVdKc1pTVXlNaVV6UVhSeWRXVWxNa01sTWpKMmFYTnBZbXhsSlRJeUpUTkJkSEoxWlNVeVF5VXlNbU52Ykd4aGNITmhZbXhsSlRJeUpUTkJabUZzYzJVbE1rTWxNakpqYjJ4c1lYQnpaV1FsTWpJbE0wRm1ZV3h6WlNVeVF5VXlNbXhwYm10aFlteGxKVEl5SlROQlptRnNjMlVsTWtNbE1qSnRZWEpyWlhKUFptWnpaWFFsTWpJbE0wRTFKVGRFSlRKREpUSXlhV1FsTWpJbE0wRWxNakl4Tm1aaU16bGpZV1ExWW1FM09DVXlNaVV5UXlVeU1tTmhkR1ZuYjNKNUpUSXlKVE5CSlRJeWMzUmhibVJoY21RbE1qSWxNa01sTWpKc2IyTnJaV1FsTWpJbE0wRm1ZV3h6WlNVeVF5VXlNbWR5YjNWd0pUSXlKVE5CSlRJeUpUSXlKVGRFSlRKREpUSXlNVFptWWpNNVl6UXpORFk1TkRNbE1qSWxNMEVsTjBJbE1qSndZWEpsYm5RbE1qSWxNMEVsTWpJbE1qSWxNa01sTWpKc2FXNXJKVEl5SlROQkpUSXlKVEl5SlRKREpUSXljMmhoY0dWVGRIbHNaU1V5TWlVelFTVTNRaVV5TW1Gc2NHaGhKVEl5SlROQk1TVTNSQ1V5UXlVeU1uUmxlSFJDYkc5amF5VXlNaVV6UVNVMVFpVTNRaVV5TW5CdmMybDBhVzl1SlRJeUpUTkJKVGRDSlRJeWR5VXlNaVV6UVNVeU1uY3RNakFsTWpJbE1rTWxNakpvSlRJeUpUTkJKVEl5YUNVeU1pVXlReVV5TW5nbE1qSWxNMEV4TUNVeVF5VXlNbmtsTWpJbE0wRXdKVGRFSlRKREpUSXlkR1Y0ZENVeU1pVXpRU1V5TWlWRk5TVkJSaVZDT1NWRk5pVTRSU1ZCTlNWRk5pVkNReVU1TkNWRk9DVTRPU1ZDUVNWRk5pVTRSU1U1TWlWRk5pVTVReVU1UmlWRk5DVkNPQ1U0UlNWRk9DVkJOeVU0TWlWRk5TVTROU1U0T1NWRk9DVkNSQ1ZCTmlWRk5pVTVOeVZDTmlWRk5TVTRPQ1ZDUWlWRlJpVkNReVU0UXlWRk5TVkNReVU0TUNWRk5TVTVNQ1ZCUmlWRk5TVkJOQ1U1UVNWRk55VkNRU1ZCTmlWRk5pVTVSQ1U1UmlWRk5pVTVOeVZDTmlWRk55VkJPU1ZDUVNWRk9DVkJOeVU0TkNWRk5TVTRPQ1U1TWlWRk5DVkNPQ1U0UlNVeU1ERTBKVEl3SlVVNUpVRXhKVUk1SlVVMUpVRkZKVGc0SlVVMkpUZ3hKVGt5SlVVMEpVSkNKVUl5SlVVNEpVRXpKVGd4SlVVMUpUazVKVUU0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VptOXVkRk4wZVd4bEpUSXlKVE5CSlRkQ0pUSXlZMjlzYjNJbE1qSWxNMEVsTWpJd0pUSkRNQ1V5UXpBbE1qSWxNa01sTWpKemFYcGxKVEl5SlROQk1UVWxNa01sTWpKaWIyeGtKVEl5SlROQmRISjFaU1UzUkNVeVF5VXlNblJwZEd4bEpUSXlKVE5CSlRJeUpVVTNKVGxHSlVFNUpVVTFKVUpFSlVFeUpUSXlKVEpESlRJeVpHRjBZVUYwZEhKcFluVjBaWE1sTWpJbE0wRWxOVUlsTjBJbE1qSnVZVzFsSlRJeUpUTkJKVEl5SlVVMUpVSkJKVGhHSlVVMUpUaEdKVUkzSlRJeUpUSkRKVEl5YVdRbE1qSWxNMEVsTWpJeE5tWmlNemxqTkRZME9UVm1aQ1V5TWlVeVF5VXlNbU5oZEdWbmIzSjVKVEl5SlROQkpUSXlaR1ZtWVhWc2RDVXlNaVV5UXlVeU1uUjVjR1VsTWpJbE0wRWxNakp1ZFcxaVpYSWxNaklsTWtNbE1qSjJZV3gxWlNVeU1pVXpRU1V5TWlVeU1pVTNSQ1V5UXlVM1FpVXlNbTVoYldVbE1qSWxNMEVsTWpJbFJUVWxPVEFsT0VRbFJUY2xRVGNsUWpBbE1qSWxNa01sTWpKcFpDVXlNaVV6UVNVeU1qRTJabUl6T1dNME5qUTVObUpsSlRJeUpUSkRKVEl5WTJGMFpXZHZjbmtsTWpJbE0wRWxNakprWldaaGRXeDBKVEl5SlRKREpUSXlkSGx3WlNVeU1pVXpRU1V5TW5OMGNtbHVaeVV5TWlVeVF5VXlNblpoYkhWbEpUSXlKVE5CSlRJeUpUSXlKVGRFSlRKREpUZENKVEl5Ym1GdFpTVXlNaVV6UVNVeU1pVkZOaVU0T1NVNE1DVkZOaVU1UXlVNE9TVkZPQ1U0TUNVNE5TVXlNaVV5UXlVeU1tbGtKVEl5SlROQkpUSXlNVFptWWpNNVl6UTJORGt5TVRnbE1qSWxNa01sTWpKallYUmxaMjl5ZVNVeU1pVXpRU1V5TW1SbFptRjFiSFFsTWpJbE1rTWxNakowZVhCbEpUSXlKVE5CSlRJeWMzUnlhVzVuSlRJeUpUSkRKVEl5ZG1Gc2RXVWxNaklsTTBFbE1qSWxNaklsTjBRbE1rTWxOMElsTWpKdVlXMWxKVEl5SlROQkpUSXlKVVU0SlVKR0pUbEZKVVUySlRoRkpVRTFKVEl5SlRKREpUSXlhV1FsTWpJbE0wRWxNakl4Tm1aaU16bGpORFkwT1dKaE5pVXlNaVV5UXlVeU1tTmhkR1ZuYjNKNUpUSXlKVE5CSlRJeVpHVm1ZWFZzZENVeU1pVXlReVV5TW5SNWNHVWxNaklsTTBFbE1qSnNhVzVySlRJeUpUSkRKVEl5ZG1Gc2RXVWxNaklsTTBFbE1qSWxNaklsTjBRbE1rTWxOMElsTWpKdVlXMWxKVEl5SlROQkpUSXlKVVUwSlVKRkpVSkdKVVUzSlVGREpVSkJKVEl5SlRKREpUSXlhV1FsTWpJbE0wRWxNakl4Tm1aaU16bGpORFkwT1dKa1ppVXlNaVV5UXlVeU1tTmhkR1ZuYjNKNUpUSXlKVE5CSlRJeVpHVm1ZWFZzZENVeU1pVXlReVV5TW5SNWNHVWxNaklsTTBFbE1qSnpkSEpwYm1jbE1qSWxNa01sTWpKMllXeDFaU1V5TWlVelFTVXlNaVV5TWlVM1JDVTFSQ1V5UXlVeU1uQnliM0J6SlRJeUpUTkJKVGRDSlRJeWVtbHVaR1Y0SlRJeUpUTkJNVGNsTWtNbE1qSjNKVEl5SlROQk1qQXpMak0yTmpBeU1ESXhNalV6T0RVbE1rTWxNakpvSlRJeUpUTkJPVFl1TkRReE5qSXlNVEF6TXpnM01pVXlReVV5TW5nbE1qSWxNMEUwTVRrdU9URTVOelEyTkRZMk16UTROamNsTWtNbE1qSjVKVEl5SlROQk5UY3lMams0TVRnMU16ZzVNREEzT0Rn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UTI5c2IzSWxNaklsTTBFbE1qSXlNamtsTWtNeU1qa2xNa015TWprbE1qSWxOMFFsTWtNbE1qSmphR2xzWkhKbGJpVXlNaVV6UVNVMVFpVTFSQ1V5UXlVeU1uSmxjMmw2WlVScGNpVXlNaVV6UVNVMVFpVXlNblJzSlRJeUpUSkRKVEl5ZEhJbE1qSWxNa01sTWpKaWNpVXlNaVV5UXlVeU1tSnNKVEl5SlRWRUpUSkRKVEl5Ym1GdFpTVXlNaVV6UVNVeU1uSmxZM1JoYm1kc1pTVXlNaVV5UXlVeU1tWnBiR3hUZEhsc1pTVXlNaVV6UVNVM1FpVXlNbU52Ykc5eUpUSXlKVE5CSlRJeU1qSTVKVEpETWpJNUpUSkRNakk1SlRJeUpUSkRKVEl5ZEhsd1pTVXlNaVV6UVNVeU1uTnZiR2xrSlRJeUpUZEVKVEpESlRJeVlYUjBjbWxpZFhSbEpUSXlKVE5CSlRkQ0pUSXlZMjl1ZEdGcGJtVnlKVEl5SlROQlptRnNjMlVsTWtNbE1qSnliM1JoZEdGaWJHVWxNaklsTTBGMGNuVmxKVEpESlRJeWRtbHphV0pzWlNVeU1pVXpRWFJ5ZFdVbE1rTWxNakpqYjJ4c1lYQnpZV0pzWlNVeU1pVXpRV1poYkhObEpUSkRKVEl5WTI5c2JHRndjMlZrSlRJeUpUTkJabUZzYzJVbE1rTWxNakpzYVc1cllXSnNaU1V5TWlVelFYUnlkV1VsTWtNbE1qSnRZWEpyWlhKUFptWnpaWFFsTWpJbE0wRTFKVGRFSlRKREpUSXlhV1FsTWpJbE0wRWxNakl4Tm1aaU16bGpORE0wTmprME15VXlNaVV5UXlVeU1tTmhkR1ZuYjNKNUpUSXlKVE5CSlRJeVltRnphV01sTWpJbE1rTWxNakpzYjJOclpXUWxNaklsTTBGbVlXeHpaU1V5UXlVeU1tZHliM1Z3SlRJeUpUTkJKVEl5SlRJeUpUZEVKVEpESlRJeU1UWm1Zak01T0dFM04yUmhZak1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m9KVEl5SlROQkpUSXlhQ293TGpjMUpUSXlKVEpESlRJeWVDVXlNaVV6UVNVeU1qRXdKVEl5SlRKREpUSXllU1V5TWlVelFTVXlNbWdxTUM0eU5TVXlNaVUzUkNVeVF5VXlNblJsZUhRbE1qSWxNMEVsTWpJbE1qSWxOMFFsTlVRbE1rTWxNakpoYm1Ob2IzSnpKVEl5SlROQkpUVkNKVGRDSlRJeWVDVXlNaVV6UVNVeU1uY2xNa1l5SlRJeUpUSkRKVEl5ZVNVeU1pVXpRU1V5TWpBbE1qSWxOMFFsTWtNbE4wSWxNako0SlRJeUpUTkJKVEl5ZHlVeVJqSWxNaklsTWtNbE1qSjVKVEl5SlROQkpUSXlhQ1V5TWlVM1JDVXlReVUzUWlVeU1uZ2xNaklsTTBFbE1qSjNLakF1TWpVbE1qSWxNa01sTWpKNUpUSXlKVE5CSlRJeWFDVXlSaklsTWpJbE4wUWxNa01sTjBJbE1qSjRKVEl5SlROQkpUSXlkeW93TGpjMUpUSXlKVEpESlRJeWVTVXlNaVV6UVNVeU1tZ2xNa1l5SlRJeUpUZEVKVFZFSlRKREpUSXlabTl1ZEZOMGVXeGxKVEl5SlROQkpUZENKVGRFSlRKREpUSXlkR2wwYkdVbE1qSWxNMEVsTWpJbFJUUWxRamdsT0RrbFJUZ2xRVGNsT1RJbFJUVWxRa1FsUVRJbE1qSWxNa01sTWpKa1lYUmhRWFIwY21saWRYUmxjeVV5TWlVelFTVTFRaVUzUWlVeU1tNWhiV1VsTWpJbE0wRWxNaklsUlRVbFFrRWxPRVlsUlRVbE9FWWxRamNsTWpJbE1rTWxNakpwWkNVeU1pVXpRU1V5TWpFMlptSXpPVGhpTlRBMk9UWXhKVEl5SlRKREpUSXlZMkYwWldkdmNua2xNaklsTTBFbE1qSmtaV1poZFd4MEpUSXlKVEpESlRJeWRIbHdaU1V5TWlVelFTVXlNbTUxYldKbGNpVXlNaVV5UXlVeU1uWmhiSFZsSlRJeUpUTkJKVEl5SlRJeUpUZEVKVEpESlRkQ0pUSXlibUZ0WlNVeU1pVXpRU1V5TWlWRk5TVTVNQ1U0UkNWRk55VkJOeVZDTUNVeU1pVXlReVV5TW1sa0pUSXlKVE5CSlRJeU1UWm1Zak01T0dJMU1EWTRZemtsTWpJbE1rTWxNakpqWVhSbFoyOXllU1V5TWlVelFTVXlNbVJsWm1GMWJIUWxNaklsTWtNbE1qSjBlWEJsSlRJeUpUTkJKVEl5YzNSeWFXNW5KVEl5SlRKREpUSXlkbUZzZFdVbE1qSWxNMEVsTWpJbE1qSWxOMFFsTWtNbE4wSWxNakp1WVcxbEpUSXlKVE5CSlRJeUpVVTJKVGc1SlRnd0pVVTJKVGxESlRnNUpVVTRKVGd3SlRnMUpUSXlKVEpESlRJeWFXUWxNaklsTTBFbE1qSXhObVppTXprNFlqVXdOamd3TWlVeU1pVXlReVV5TW1OaGRHVm5iM0o1SlRJeUpUTkJKVEl5WkdWbVlYVnNkQ1V5TWlVeVF5VXlNblI1Y0dVbE1qSWxNMEVsTWpKemRISnBibWNsTWpJbE1rTWxNakoyWVd4MVpTVXlNaVV6UVNVeU1pVXlNaVUzUkNVeVF5VTNRaVV5TW01aGJXVWxNaklsTTBFbE1qSWxSVGdsUWtZbE9VVWxSVFlsT0VVbFFUVWxNaklsTWtNbE1qSnBaQ1V5TWlVelFTVXlNakUyWm1Jek9UaGlOVEEyT0RoaEpUSXlKVEpESlRJeVkyRjBaV2R2Y25rbE1qSWxNMEVsTWpKa1pXWmhkV3gwSlRJeUpUSkRKVEl5ZEhsd1pTVXlNaVV6UVNVeU1teHBibXNsTWpJbE1rTWxNakoyWVd4MVpTVXlNaVV6UVNVeU1pVXlNaVUzUkNVeVF5VTNRaVV5TW01aGJXVWxNaklsTTBFbE1qSWxSVFFsUWtVbFFrWWxSVGNsUVVNbFFrRWxNaklsTWtNbE1qSnBaQ1V5TWlVelFTVXlNakUyWm1Jek9UaGlOVEEyT1RjeEpUSXlKVEpESlRJeVkyRjBaV2R2Y25rbE1qSWxNMEVsTWpKa1pXWmhkV3gwSlRJeUpUSkRKVEl5ZEhsd1pTVXlNaVV6UVNVeU1uTjBjbWx1WnlVeU1pVXlReVV5TW5aaGJIVmxKVEl5SlROQkpUSXlKVEl5SlRkRUpUVkVKVEpESlRJeWNISnZjSE1sTWpJbE0wRWxOMElsTWpKNmFXNWtaWGdsTWpJbE0wRXhNU1V5UXlVeU1uY2xNaklsTTBFMU15NDBNVGc1TlRFeE1Ua3dNREF4T0RRbE1rTWxNakpvSlRJeUpUTkJNakFsTWtNbE1qSjRKVEl5SlROQk16TXhMamcyTURJeU5EWTRPRFkyTXpRbE1rTWxNakpoYm1kc1pTVXlNaVV6UVRNdU1UUXhOVGt5TmpVek5UZzVOemt6SlRKREpUSXllU1V5TWlVelFUTTVNaTQxTnpNMU1qazBNVEUzTmpRMkpUZEVKVEpESlRJeWNHRjBhQ1V5TWlVelFTVTFRaVUzUWlVeU1tRmpkR2x2Ym5NbE1qSWxNMEVsTlVJbE4wSWxNako0SlRJeUpUTkJKVEl5ZHlVeVJqSWxNaklsTWtNbE1qSmhZM1JwYjI0bE1qSWxNMEVsTWpKdGIzWm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EyOXNiM0lsTWpJbE0wRWxNakl5TWpFbE1rTXhNamdsTWtNM01TVXlNaVUzUkNVeVF5VXlNbU5vYVd4a2NtVnVKVEl5SlROQkpUVkNKVFZFSlRKREpUSXljbVZ6YVhwbFJHbHlKVEl5SlROQkpUVkNKVEl5ZEd3bE1qSWxNa01sTWpKMGNpVXlNaVV5UXlVeU1tSnlKVEl5SlRKREpUSXlZbXdsTWpJbE5VUWxNa01sTWpKdVlXMWxKVEl5SlROQkpUSXlkSEpwWVc1bmJHVWxNaklsTWtNbE1qSm1hV3hzVTNSNWJHVWxNaklsTTBFbE4wSWxNakpqYjJ4dmNpVXlNaVV6UVNVeU1qSXlNU1V5UXpFeU9DVXlRemN4SlRJeUpUSkRKVEl5ZEhsd1pTVXlNaVV6UVNVeU1uTnZiR2xrSlRJeUpUZEVKVEpESlRJeVlYUjBjbWxpZFhSbEpUSXlKVE5CSlRkQ0pUSXlZMjl1ZEdGcGJtVnlKVEl5SlROQlptRnNjMlVsTWtNbE1qSnliM1JoZEdGaWJHVWxNaklsTTBGMGNuVmxKVEpESlRJeWRtbHphV0pzWlNVeU1pVXpRWFJ5ZFdVbE1rTWxNakpqYjJ4c1lYQnpZV0pzWlNVeU1pVXpRV1poYkhObEpUSkRKVEl5WTI5c2JHRndjMlZrSlRJeUpUTkJabUZzYzJVbE1rTWxNakpzYVc1cllXSnNaU1V5TWlVelFYUnlkV1VsTWtNbE1qSnRZWEpyWlhKUFptWnpaWFFsTWpJbE0wRTFKVGRFSlRKREpUSXlhV1FsTWpJbE0wRWxNakl4Tm1aaU16azRZVGMzWkdGaU15VXlNaVV5UXlVeU1tTmhkR1ZuYjNKNUpUSXlKVE5CSlRJeVltRnphV01sTWpJbE1rTWxNakpzYjJOclpXUWxNaklsTTBGbVlXeHpaU1V5UXlVeU1tZHliM1Z3SlRJeUpUTkJKVEl5SlRJeUpUZEVKVEpESlRJeU1UWm1Zak01WTJGa05XSm1Oell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m9KVEl5SlROQkpUSXlhQ293TGpjMUpUSXlKVEpESlRJeWVDVXlNaVV6UVNVeU1qRXdKVEl5SlRKREpUSXllU1V5TWlVelFTVXlNbWdxTUM0eU5TVXlNaVUzUkNVeVF5VXlNblJsZUhRbE1qSWxNMEVsTWpJbE1qSWxOMFFsTlVRbE1rTWxNakpoYm1Ob2IzSnpKVEl5SlROQkpUVkNKVGRDSlRJeWVDVXlNaVV6UVNVeU1uY2xNa1l5SlRJeUpUSkRKVEl5ZVNVeU1pVXpRU1V5TWpBbE1qSWxOMFFsTWtNbE4wSWxNako0SlRJeUpUTkJKVEl5ZHlVeVJqSWxNaklsTWtNbE1qSjVKVEl5SlROQkpUSXlhQ1V5TWlVM1JDVXlReVUzUWlVeU1uZ2xNaklsTTBFbE1qSjNLakF1TWpVbE1qSWxNa01sTWpKNUpUSXlKVE5CSlRJeWFDVXlSaklsTWpJbE4wUWxNa01sTjBJbE1qSjRKVEl5SlROQkpUSXlkeW93TGpjMUpUSXlKVEpESlRJeWVTVXlNaVV6UVNVeU1tZ2xNa1l5SlRJeUpUZEVKVFZFSlRKREpUSXlabTl1ZEZOMGVXeGxKVEl5SlROQkpUZENKVGRFSlRKREpUSXlkR2wwYkdVbE1qSWxNMEVsTWpJbFJUUWxRamdsT0RrbFJUZ2xRVGNsT1RJbFJUVWxRa1FsUVRJbE1qSWxNa01sTWpKa1lYUmhRWFIwY21saWRYUmxjeVV5TWlVelFTVTFRaVUzUWlVeU1tNWhiV1VsTWpJbE0wRWxNaklsUlRVbFFrRWxPRVlsUlRVbE9FWWxRamNsTWpJbE1rTWxNakpwWkNVeU1pVXpRU1V5TWpFMlptSXpPV05pTURWa1kySTVKVEl5SlRKREpUSXlZMkYwWldkdmNua2xNaklsTTBFbE1qSmtaV1poZFd4MEpUSXlKVEpESlRJeWRIbHdaU1V5TWlVelFTVXlNbTUxYldKbGNpVXlNaVV5UXlVeU1uWmhiSFZsSlRJeUpUTkJKVEl5SlRJeUpUZEVKVEpESlRkQ0pUSXlibUZ0WlNVeU1pVXpRU1V5TWlWRk5TVTVNQ1U0UkNWRk55VkJOeVZDTUNVeU1pVXlReVV5TW1sa0pUSXlKVE5CSlRJeU1UWm1Zak01WTJJd05XUmxaallsTWpJbE1rTWxNakpqWVhSbFoyOXllU1V5TWlVelFTVXlNbVJsWm1GMWJIUWxNaklsTWtNbE1qSjBlWEJsSlRJeUpUTkJKVEl5YzNSeWFXNW5KVEl5SlRKREpUSXlkbUZzZFdVbE1qSWxNMEVsTWpJbE1qSWxOMFFsTWtNbE4wSWxNakp1WVcxbEpUSXlKVE5CSlRJeUpVVTJKVGc1SlRnd0pVVTJKVGxESlRnNUpVVTRKVGd3SlRnMUpUSXlKVEpESlRJeWFXUWxNaklsTTBFbE1qSXhObVppTXpsallqQTFaR1psWlNVeU1pVXlReVV5TW1OaGRHVm5iM0o1SlRJeUpUTkJKVEl5WkdWbVlYVnNkQ1V5TWlVeVF5VXlNblI1Y0dVbE1qSWxNMEVsTWpKemRISnBibWNsTWpJbE1rTWxNakoyWVd4MVpTVXlNaVV6UVNVeU1pVXlNaVUzUkNVeVF5VTNRaVV5TW01aGJXVWxNaklsTTBFbE1qSWxSVGdsUWtZbE9VVWxSVFlsT0VVbFFUVWxNaklsTWtNbE1qSnBaQ1V5TWlVelFTVXlNakUyWm1Jek9XTmlNRFZrWXpCaUpUSXlKVEpESlRJeVkyRjBaV2R2Y25rbE1qSWxNMEVsTWpKa1pXWmhkV3gwSlRJeUpUSkRKVEl5ZEhsd1pTVXlNaVV6UVNVeU1teHBibXNsTWpJbE1rTWxNakoyWVd4MVpTVXlNaVV6UVNVeU1pVXlNaVUzUkNVeVF5VTNRaVV5TW01aGJXVWxNaklsTTBFbE1qSWxSVFFsUWtVbFFrWWxSVGNsUVVNbFFrRWxNaklsTWtNbE1qSnBaQ1V5TWlVelFTVXlNakUyWm1Jek9XTmlNRFZrWXpGakpUSXlKVEpESlRJeVkyRjBaV2R2Y25rbE1qSWxNMEVsTWpKa1pXWmhkV3gwSlRJeUpUSkRKVEl5ZEhsd1pTVXlNaVV6UVNVeU1uTjBjbWx1WnlVeU1pVXlReVV5TW5aaGJIVmxKVEl5SlROQkpUSXlKVEl5SlRkRUpUVkVKVEpESlRJeWNISnZjSE1sTWpJbE0wRWxOMElsTWpKNmFXNWtaWGdsTWpJbE0wRXlNeVV5UXlVeU1uY2xNaklsTTBFMU15NDBNVGc1TlRFeE1Ua3dNREF4T0RRbE1rTWxNakpvSlRJeUpUTkJNakFsTWtNbE1qSjRKVEl5SlROQk5qa3lMakEwT1RVNU5EazNPRFV6TmpnbE1rTWxNakpoYm1kc1pTVXlNaVV6UVRNdU1UUXhOVGt5TmpVek5UZzVOemt6SlRKREpUSXllU1V5TWlVelFUTTVNQzR6TlRFek1EY3hPRGsxTkRJMkpUZEVKVEpESlRJeWNHRjBhQ1V5TWlVelFTVTFRaVUzUWlVeU1tRmpkR2x2Ym5NbE1qSWxNMEVsTlVJbE4wSWxNako0SlRJeUpUTkJKVEl5ZHlVeVJqSWxNaklsTWtNbE1qSmhZM1JwYjI0bE1qSWxNMEVsTWpKdGIzWm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EyOXNiM0lsTWpJbE0wRWxNakl5TVRZbE1rTXhOemdsTWtNNU1pVXlNaVUzUkNVeVF5VXlNbU5vYVd4a2NtVnVKVEl5SlROQkpUVkNKVFZFSlRKREpUSXljbVZ6YVhwbFJHbHlKVEl5SlROQkpUVkNKVEl5ZEd3bE1qSWxNa01sTWpKMGNpVXlNaVV5UXlVeU1tSnlKVEl5SlRKREpUSXlZbXdsTWpJbE5VUWxNa01sTWpKdVlXMWxKVEl5SlROQkpUSXlkSEpwWVc1bmJHVWxNaklsTWtNbE1qSm1hV3hzVTNSNWJHVWxNaklsTTBFbE4wSWxNakpqYjJ4dmNpVXlNaVV6UVNVeU1qSXhOaVV5UXpFM09DVXlRemt5SlRJeUpUSkRKVEl5ZEhsd1pTVXlNaVV6UVNVeU1uTnZiR2xrSlRJeUpUZEVKVEpESlRJeVlYUjBjbWxpZFhSbEpUSXlKVE5CSlRkQ0pUSXlZMjl1ZEdGcGJtVnlKVEl5SlROQlptRnNjMlVsTWtNbE1qSnliM1JoZEdGaWJHVWxNaklsTTBGMGNuVmxKVEpESlRJeWRtbHphV0pzWlNVeU1pVXpRWFJ5ZFdVbE1rTWxNakpqYjJ4c1lYQnpZV0pzWlNVeU1pVXpRV1poYkhObEpUSkRKVEl5WTI5c2JHRndjMlZrSlRJeUpUTkJabUZzYzJVbE1rTWxNakpzYVc1cllXSnNaU1V5TWlVelFYUnlkV1VsTWtNbE1qSnRZWEpyWlhKUFptWnpaWFFsTWpJbE0wRTFKVGRFSlRKREpUSXlhV1FsTWpJbE0wRWxNakl4Tm1aaU16bGpZV1ExWW1ZM05pVXlNaVV5UXlVeU1tTmhkR1ZuYjNKNUpUSXlKVE5CSlRJeVltRnphV01sTWpJbE1rTWxNakpzYjJOclpXUWxNaklsTTBGbVlXeHpaU1V5UXlVeU1tZHliM1Z3SlRJeUpUTkJKVEl5SlRJeUpUZEVKVEpESlRJeU1UWm1Zak01T0dFM04yUTVNek1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m9KVEl5SlROQkpUSXlhQ1V5TWlVeVF5VXlNbmdsTWpJbE0wRXhNQ1V5UXlVeU1ua2xNaklsTTBFd0pUZEVKVEpESlRJeWRHVjRkQ1V5TWlVelFTVXlNaVZGT0NWQ1JDVkNRaVZGT1NVNE55VTRSaVZGTnlVNE9TVTRP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XlReVV5TW1admJuUlRkSGxzWlNVeU1pVXpRU1UzUWlVeU1tTnZiRzl5SlRJeUpUTkJKVEl5TWpVMUpUSkRNalUxSlRKRE1qVTFKVEl5SlRKREpUSXljMmw2WlNVeU1pVXpRVEl4SlRKREpUSXlZbTlzWkNVeU1pVXpRWFJ5ZFdVbE4wUWxNa01sTWpKMGFYUnNaU1V5TWlVelFTVXlNaVZGTnlVNVJpVkJPU1ZGTlNWQ1JDVkJNaVV5TWlVeVF5VXlNbVJoZEdGQmRIUnlhV0oxZEdWekpUSXlKVE5CSlRWQ0pUZENKVEl5Ym1GdFpTVXlNaVV6UVNVeU1pVkZOU1ZDUVNVNFJpVkZOU1U0UmlWQ055VXlNaVV5UXlVeU1tbGtKVEl5SlROQkpUSXlNVFptWWpNNU9HSTFNRFl3TVRjbE1qSWxNa01sTWpKallYUmxaMjl5ZVNVeU1pVXpRU1V5TW1SbFptRjFiSFFsTWpJbE1rTWxNakowZVhCbEpUSXlKVE5CSlRJeWJuVnRZbVZ5SlRJeUpUSkRKVEl5ZG1Gc2RXVWxNaklsTTBFbE1qSWxNaklsTjBRbE1rTWxOMElsTWpKdVlXMWxKVEl5SlROQkpUSXlKVVUxSlRrd0pUaEVKVVUzSlVFM0pVSXdKVEl5SlRKREpUSXlhV1FsTWpJbE0wRWxNakl4Tm1aaU16azRZalV3Tm1SaE5TVXlNaVV5UXlVeU1tTmhkR1ZuYjNKNUpUSXlKVE5CSlRJeVpHVm1ZWFZzZENVeU1pVXlReVV5TW5SNWNHVWxNaklsTTBFbE1qSnpkSEpwYm1jbE1qSWxNa01sTWpKMllXeDFaU1V5TWlVelFTVXlNaVV5TWlVM1JDVXlReVUzUWlVeU1tNWhiV1VsTWpJbE0wRWxNaklsUlRZbE9Ea2xPREFsUlRZbE9VTWxPRGtsUlRnbE9EQWxPRFVsTWpJbE1rTWxNakpwWkNVeU1pVXpRU1V5TWpFMlptSXpPVGhpTlRBMk5ESTRKVEl5SlRKREpUSXlZMkYwWldkdmNua2xNaklsTTBFbE1qSmtaV1poZFd4MEpUSXlKVEpESlRJeWRIbHdaU1V5TWlVelFTVXlNbk4wY21sdVp5VXlNaVV5UXlVeU1uWmhiSFZsSlRJeUpUTkJKVEl5SlRJeUpUZEVKVEpESlRkQ0pUSXlibUZ0WlNVeU1pVXpRU1V5TWlWRk9DVkNSaVU1UlNWRk5pVTRSU1ZCTlNVeU1pVXlReVV5TW1sa0pUSXlKVE5CSlRJeU1UWm1Zak01T0dJMU1EWTVZamdsTWpJbE1rTWxNakpqWVhSbFoyOXllU1V5TWlVelFTVXlNbVJsWm1GMWJIUWxNaklsTWtNbE1qSjBlWEJsSlRJeUpUTkJKVEl5YkdsdWF5VXlNaVV5UXlVeU1uWmhiSFZsSlRJeUpUTkJKVEl5SlRJeUpUZEVKVEpESlRkQ0pUSXlibUZ0WlNVeU1pVXpRU1V5TWlWRk5DVkNSU1ZDUmlWRk55VkJReVZDUVNVeU1pVXlReVV5TW1sa0pUSXlKVE5CSlRJeU1UWm1Zak01T0dJMU1EWTVNVE1sTWpJbE1rTWxNakpqWVhSbFoyOXllU1V5TWlVelFTVXlNbVJsWm1GMWJIUWxNaklsTWtNbE1qSjBlWEJsSlRJeUpUTkJKVEl5YzNSeWFXNW5KVEl5SlRKREpUSXlkbUZzZFdVbE1qSWxNMEVsTWpJbE1qSWxOMFFsTlVRbE1rTWxNakp3Y205d2N5VXlNaVV6UVNVM1FpVXlNbnBwYm1SbGVDVXlNaVV6UVRFekpUSkRKVEl5ZHlVeU1pVXpRVEl3TXk0d056QTFOVFF4TmpjMk9UUTFOU1V5UXlVeU1tZ2xNaklsTTBFeU9DNDRORGd3TXpreU1UVTJPRFkyTkNVeVF5VXlNbmdsTWpJbE0wRXlOVFl1T1RNMk9ESTJOVFEzTnpBM055VXlReVV5TW5rbE1qSWxNMEV5TmpZdU5UQXpORFF3TWpJM05UWTRNVFVsTWtNbE1qSmhibWRzWlNVeU1pVXpRVEFsTjBRbE1rTWxNakp3WVhSb0pUSXlKVE5CSlRWQ0pUZENKVEl5WVdOMGFXOXVjeVV5TWlVelFTVTFRaVUzUWlVeU1uZ2xNaklsTTBFbE1qSXdKVEl5SlRKREpUSXlZV04wYVc5dUpUSXlKVE5CSlRJeWJXOTJaU1V5TWlVeVF5VXlNbmtsTWpJbE0wRWxNakl3SlRJeUpUZEVKVEpESlRkQ0pUSXllQ1V5TWlVelFTVXlNbmNsTWpJbE1rTWxNakpoWTNScGIyNGxNaklsTTBFbE1qSnNhVzVsSlRJeUpUSkRKVEl5ZVNVeU1pVXpRU1V5TWpBbE1qSWxOMFFsTWtNbE4wSWxNako0SlRJeUpUTkJKVEl5ZHlVeU1pVXlReVV5TW1GamRHbHZiaVV5TWlVelFTVXlNbXhwYm1VbE1qSWxNa01sTWpKNUpUSXlKVE5CSlRJeWFDVXlNaVUzUkNVeVF5VTNRaVV5TW5nbE1qSWxNMEVsTWpJd0pUSXlKVEpESlRJeVlXTjBhVzl1SlRJeUpUTkJKVEl5YkdsdVpTVXlNaVV5UXlVeU1ua2xNaklsTTBFbE1qSm9KVEl5SlRkRUpUSkRKVGRDSlRJeVlXTjBhVzl1SlRJeUpUTkJKVEl5WTJ4dmMyVWxNaklsTjBRbE5VUWxOMFFsTlVRbE1rTWxNakpzYVc1bFUzUjViR1VsTWpJbE0wRWxOMElsTWpKc2FXNWxRMjlzYjNJbE1qSWxNMEVsTWpJeU1qRWxNa014TWpnbE1rTTNNU1V5TWlVM1JDVXlReVV5TW1Ob2FXeGtjbVZ1SlRJeUpUTkJKVFZDSlRWRUpUSkRKVEl5Y21WemFYcGxSR2x5SlRJeUpUTkJKVFZDSlRJeWRHd2xNaklsTWtNbE1qSjBjaVV5TWlVeVF5VXlNbUp5SlRJeUpUSkRKVEl5WW13bE1qSWxOVVFsTWtNbE1qSnVZVzFsSlRJeUpUTkJKVEl5Y21WamRHRnVaMnhsSlRJeUpUSkRKVEl5Wm1sc2JGTjBlV3hsSlRJeUpUTkJKVGRDSlRJeVkyOXNiM0lsTWpJbE0wRWxNakl5TWpFbE1rTXhNamdsTWtNM01TVXlNaVV5UXlVeU1uUjVjR1VsTWpJbE0wRWxNakp6YjJ4cFpDVXlNaVUzUkNVeVF5VXlNbUYwZEhKcFluVjBaU1V5TWlVelFTVTNRaVV5TW1OdmJuUmhhVzVsY2lVeU1pVXpRV1poYkhObEpUSkRKVEl5Y205MFlYUmhZbXhsSlRJeUpUTkJkSEoxWlNVeVF5VXlNblpwYzJsaWJHVWxNaklsTTBGMGNuVmxKVEpESlRJeVkyOXNiR0Z3YzJGaWJHVWxNaklsTTBGbVlXeHpaU1V5UXlVeU1tTnZiR3hoY0hObFpDVXlNaVV6UVdaaGJITmxKVEpESlRJeWJHbHVhMkZpYkdVbE1qSWxNMEYwY25WbEpUSkRKVEl5YldGeWEyVnlUMlptYzJWMEpUSXlKVE5CTlNVM1JDVXlReVV5TW1sa0pUSXlKVE5CSlRJeU1UWm1Zak01T0dFM04yUTVNek1sTWpJbE1rTWxNakpqWVhSbFoyOXllU1V5TWlVelFTVXlNbUpoYzJsakpUSXlKVEpESlRJeWJHOWphMlZrSlRJeUpUTkJabUZzYzJVbE1rTWxNakpuY205MWNDVXlNaVV6UVNVeU1pVXlNaVUzUkNVeVF5VXlNakUyWm1Jek9HUmhOREZtTVdFM0pUSXlKVE5CSlRkQ0pUSXljR0Z5Wlc1MEpUSXlKVE5CSlRJeUpUSXlKVEpESlRJeWJHbHVheVV5TWlVelFTVXlNaVV5TWlVeVF5VXlNbk5vWVhCbFUzUjViR1VsTWpJbE0wRWxOMElsTWpKaGJIQm9ZU1V5TWlVelFURWxOMFFsTWtNbE1qSjBaWGgwUW14dlkyc2xNaklsTTBFbE5VSWxOMElsTWpKd2IzTnBkR2x2YmlVeU1pVXpRU1UzUWlVeU1uY2xNaklsTTBFbE1qSjNMVEl3SlRJeUpUSkRKVEl5YUNVeU1pVXpRU1V5TW1nbE1qSWxNa01sTWpKNEpUSXlKVE5CTVRBbE1rTWxNako1SlRJeUpUTkJNQ1UzUkNVeVF5VXlNblJsZUhRbE1qSWxNMEVsTWp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m1iMjUwVTNSNWJHVWxNaklsTTBFbE4wSWxOMFFsTWtNbE1qSjBhWFJzWlNVeU1pVXpRU1V5TWlWRk5TVTVReVU0TmlWRk5TVkNSQ1ZCTWlVeU1pVXlReVV5TW1SaGRHRkJkSFJ5YVdKMWRHVnpKVEl5SlROQkpUVkNKVGRDSlRJeWJtRnRaU1V5TWlVelFTVXlNaVZGTlNWQ1FTVTRSaVZGTlNVNFJpVkNOeVV5TWlVeVF5VXlNbWxrSlRJeUpUTkJKVEl5TVRabVlqTTRaR00yTmpSbE9URWxNaklsTWtNbE1qSmpZWFJsWjI5eWVTVXlNaVV6UVNVeU1tUmxabUYxYkhRbE1qSWxNa01sTWpKMGVYQmxKVEl5SlROQkpUSXliblZ0WW1WeUpUSXlKVEpESlRJeWRtRnNkV1VsTWpJbE0wRWxNaklsTWpJbE4wUWxNa01sTjBJbE1qSnVZVzFsSlRJeUpUTkJKVEl5SlVVMUpUa3dKVGhFSlVVM0pVRTNKVUl3SlRJeUpUSkRKVEl5YVdRbE1qSWxNMEVsTWpJeE5tWmlNemhrWXpZMk5ESTNPU1V5TWlVeVF5VXlNbU5oZEdWbmIzSjVKVEl5SlROQkpUSXlaR1ZtWVhWc2RDVXlNaVV5UXlVeU1uUjVjR1VsTWpJbE0wRWxNakp6ZEhKcGJtY2xNaklsTWtNbE1qSjJZV3gxWlNVeU1pVXpRU1V5TWlVeU1pVTNSQ1V5UXlVM1FpVXlNbTVoYldVbE1qSWxNMEVsTWpJbFJUWWxPRGtsT0RBbFJUWWxPVU1sT0RrbFJUZ2xPREFsT0RVbE1qSWxNa01sTWpKcFpDVXlNaVV6UVNVeU1qRTJabUl6T0dSak5qWTFZV1ZoSlRJeUpUSkRKVEl5WTJGMFpXZHZjbmtsTWpJbE0wRWxNakprWldaaGRXeDBKVEl5SlRKREpUSXlkSGx3WlNVeU1pVXpRU1V5TW5OMGNtbHVaeVV5TWlVeVF5VXlNblpoYkhWbEpUSXlKVE5CSlRJeUpUSXlKVGRFSlRKREpUZENKVEl5Ym1GdFpTVXlNaVV6UVNVeU1pVkZPQ1ZDUmlVNVJTVkZOaVU0UlNWQk5TVXlNaVV5UXlVeU1tbGtKVEl5SlROQkpUSXlNVFptWWpNNFpHTTJOalUxWmpZbE1qSWxNa01sTWpKallYUmxaMjl5ZVNVeU1pVXpRU1V5TW1SbFptRjFiSFFsTWpJbE1rTWxNakowZVhCbEpUSXlKVE5CSlRJeWJHbHVheVV5TWlVeVF5VXlNblpoYkhWbEpUSXlKVE5CSlRJeUpUSXlKVGRFSlRKREpUZENKVEl5Ym1GdFpTVXlNaVV6UVNVeU1pVkZOQ1ZDUlNWQ1JpVkZOeVZCUXlWQ1FTVXlNaVV5UXlVeU1tbGtKVEl5SlROQkpUSXlNVFptWWpNNFpHTTJOalUzTlRJbE1qSWxNa01sTWpKallYUmxaMjl5ZVNVeU1pVXpRU1V5TW1SbFptRjFiSFFsTWpJbE1rTWxNakowZVhCbEpUSXlKVE5CSlRJeWMzUnlhVzVuSlRJeUpUSkRKVEl5ZG1Gc2RXVWxNaklsTTBFbE1qSWxNaklsTjBRbE5VUWxNa01sTWpKd2NtOXdjeVV5TWlVelFTVTNRaVV5TW5wcGJtUmxlQ1V5TWlVelFUTWxNa01sTWpKM0pUSXlKVE5CTXprdU5UZzNNekF4TlRnM016QXhOakkwSlRKREpUSXlhQ1V5TWlVelFUUXdMak01TmpneU5UTTVOamd5TlRJMUpUSkRKVEl5ZUNVeU1pVXpRVFV3TVM0NE1Ea3hNRFUzTnpnNU5qY3hOQ1V5UXlVeU1ua2xNaklsTTBFME5qQXVOalkyTlRBd01EQXdNREF3TVNVeVF5VXlNbUZ1WjJ4bEpUSXlKVE5CTUNVM1JDVXlReVV5TW5CaGRHZ2xNaklsTTBFbE5VSWxOMElsTWpKaFkzUnBiMjV6SlRJeUpUTkJKVFZDSlRkQ0pUSXllQ1V5TWlVelFTVXlNakFsTWpJbE1rTWxNakpoWTNScGIyNGxNaklsTTBFbE1qSnRiM1psSlRJeUpUSkRKVEl5ZVNVeU1pVXpRU1V5TW1nbE1rWXlKVEl5SlRkRUpUSkRKVGRDSlRJeWVURWxNaklsTTBFbE1qSXRhQ1V5UmpZbE1qSWxNa01sTWpKNEpUSXlKVE5CSlRJeWR5VXlNaVV5UXlVeU1tRmpkR2x2YmlVeU1pVXpRU1V5TW1OMWNuWmxKVEl5SlRKREpUSXllVElsTWpJbE0wRWxNakl0YUNVeVJqWWxNaklsTWtNbE1qSjVKVEl5SlROQkpUSXlhQ1V5UmpJbE1qSWxNa01sTWpKNE1TVXlNaVV6UVNVeU1qQWxNaklsTWtNbE1qSjRNaVV5TWlVelFTVXlNbmNsTWpJbE4wUWxNa01sTjBJbE1qSjVNU1V5TWlVelFTVXlNbWdsTWtKb0pUSkdOaVV5TWlVeVF5VXlNbmdsTWpJbE0wRWxNakl3SlRJeUpUSkRKVEl5WVdOMGFXOXVKVEl5SlROQkpUSXlZM1Z5ZG1VbE1qSWxNa01sTWpKNU1pVXlNaVV6UVNVeU1tZ2xNa0pvSlRKR05pVXlNaVV5UXlVeU1ua2xNaklsTTBFbE1qSm9KVEpHTWlVeU1pVXlReVV5TW5neEpUSXlKVE5CSlRJeWR5VXlNaVV5UXlVeU1uZ3lKVEl5SlROQkpUSXlNQ1V5TWlVM1JDVXlReVUzUWlVeU1tRmpkR2x2YmlVeU1pVXpRU1V5TW1Oc2IzTmxKVEl5SlRkRUpUVkVKVGRFSlRWRUpUSkRKVEl5YkdsdVpWTjBlV3hsSlRJeUpUTkJKVGRDSlRJeWJHbHVaVU52Ykc5eUpUSXlKVE5CSlRJeU1UWTJKVEpETVRBMkpUSkRORGdsTWpJbE4wUWxNa01sTWpKamFHbHNaSEpsYmlVeU1pVXpRU1UxUWlVMVJDVXlReVV5TW5KbGMybDZaVVJwY2lVeU1pVXpRU1UxUWlVeU1uUnNKVEl5SlRKREpUSXlkSElsTWpJbE1rTWxNakppY2lVeU1pVXlReVV5TW1Kc0pUSXlKVFZFSlRKREpUSXlibUZ0WlNVeU1pVXpRU1V5TW5KdmRXNWtKVEl5SlRKREpUSXlabWxzYkZOMGVXeGxKVEl5SlROQkpUZENKVEl5WTI5c2IzSWxNaklsTTBFbE1qSXhOallsTWtNeE1EWWxNa00wT0NVeU1pVXlReVV5TW5SNWNHVWxNaklsTTBFbE1qSnpiMnhwWkNVeU1pVXlReVV5TW1SeVlYZFVlWEJsSlRJeUpUTkJKVEl5Ym05dVpTVXlNaVUzUkNVeVF5VXlNbUYwZEhKcFluVjBaU1V5TWlVelFTVTNRaVV5TW1OdmJuUmhhVzVsY2lVeU1pVXpRV1poYkhObEpUSkRKVEl5Y205MFlYUmhZbXhsSlRJeUpUTkJkSEoxWlNVeVF5VXlNblpwYzJsaWJHVWxNaklsTTBGMGNuVmxKVEpESlRJeVkyOXNiR0Z3YzJGaWJHVWxNaklsTTBGbVlXeHpaU1V5UXlVeU1tTnZiR3hoY0hObFpDVXlNaVV6UVdaaGJITmxKVEpESlRJeWJHbHVhMkZpYkdVbE1qSWxNMEYwY25WbEpUSkRKVEl5YldGeWEyVnlUMlptYzJWMEpUSXlKVE5CTlNVM1JDVXlReVV5TW1sa0pUSXlKVE5CSlRJeU1UWm1Zak00WkdFME1XWXhZVGNsTWpJbE1rTWxNakpqWVhSbFoyOXllU1V5TWlVelFTVXlNbUpoYzJsakpUSXlKVEpESlRJeWJHOWphMlZrSlRJeUpUTkJabUZzYzJVbE1rTWxNakpuY205MWNDVXlNaVV6UVNVeU1pVXlNaVUzUkNVeVF5VXlNakUyWm1Jek9Ua3laRGxqTURjbE1qSWxNMEVsTjBJbE1qSndZWEpsYm5RbE1qSWxNMEVsTWpJbE1qSWxNa01sTWpKc2FXNXJKVEl5SlROQkpUSXlKVEl5SlRKREpUSXljMmhoY0dWVGRIbHNaU1V5TWlVelFTVTNRaVV5TW1Gc2NHaGhKVEl5SlROQk1TVTNSQ1V5UXlVeU1uUmxlSFJDYkc5amF5VXlNaVV6UVNVMVFpVTNRaVV5TW5CdmMybDBhVzl1SlRJeUpUTkJKVGRDSlRJeWR5VXlNaVV6UVNVeU1uY2xNaklsTWtNbE1qSm9KVEl5SlROQkpUSXlhQ1V5TWlVeVF5VXlNbmdsTWpJbE0wRXdKVEpESlRJeWVTVXlNaVV6UVRBbE4wUWxNa01sTWpKMFpYaDBKVEl5SlROQkpUSXlKVVUzSlVGREpVRkRKVVUwSlVJNEpUZ3dKVVU1SlRrNEpVSTJKVVUySlVGRkpVSTFKVEl5SlRkRUpUVkVKVEpESlRJeVlXNWphRzl5Y3lVeU1pVXpRU1UxUWlVMVJDVXlReVV5TW1admJuUlRkSGxzWlNVeU1pVXpRU1UzUWlVeU1tTnZiRzl5SlRJeUpUTkJKVEl5TWpJeEpUSkRNVEk0SlRKRE56RWxNaklsTWtNbE1qSnphWHBsSlRJeUpUTkJNakVsTjBRbE1rTWxNakowYVhSc1pTVXlNaVV6UVNVeU1pVXlNaVV5UXlVeU1tUmhkR0ZCZEhSeWFXSjFkR1Z6SlRJeUpUTkJKVFZDSlRWRUpUSkRKVEl5Y0hKdmNITWxNaklsTTBFbE4wSWxNako2YVc1a1pYZ2xNaklsTTBFeE5DVXlReVV5TW5jbE1qSWxNMEV4TURrbE1rTWxNakpvSlRJeUpUTkJOREFsTWtNbE1qSjRKVEl5SlROQk16QTNKVEpESlRJeVlXNW5iR1VsTWpJbE0wRXdKVEpESlRJeWVTVXlNaVV6UVRReE5DNHhOalkyTmpZMk5qWTJOalk0SlRkRUpUSkRKVEl5Y0dGMGFDVXlNaVV6UVNVMVFpVTNRaVV5TW14cGJtVlRkSGxzWlNVeU1pVXpRU1UzUWlVeU1teHBibVZYYVdSMGFDVXlNaVV6UVRBbE4wUWxNa01sTWpKbWFXeHNVM1I1YkdVbE1qSWxNMEVsTjBJbE1qSjBlWEJsSlRJeUpUTkJKVEl5Ym05dVpTVXlNaVUzUkNVeVF5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iR2x1WlZOMGVXeGxKVEl5SlROQkpUZENKVGRFSlRKREpUSXlZMmhwYkdSeVpXNGxNaklsTTBFbE5VSWxOVVFsTWtNbE1qSnlaWE5wZW1WRWFYSWxNaklsTTBFbE5VSWxNakowYkNVeU1pVXlReVV5TW5SeUpUSXlKVEpESlRJeVluSWxNaklsTWtNbE1qSmliQ1V5TWlVMVJDVXlReVV5TW01aGJXVWxNaklsTTBFbE1qSnpkR0Z1WkdGeVpGUmxlSFFsTWpJbE1rTWxNakptYVd4c1UzUjViR1VsTWpJbE0wRWxOMElsTjBRbE1rTWxNakpoZEhSeWFXSjFkR1VsTWpJbE0wRWxOMElsTWpKamIyNTBZV2x1WlhJbE1qSWxNMEZtWVd4elpTVXlReVV5TW5KdmRHRjBZV0pzWlNVeU1pVXpRWFJ5ZFdVbE1rTWxNakoyYVhOcFlteGxKVEl5SlROQmRISjFaU1V5UXlVeU1tTnZiR3hoY0hOaFlteGxKVEl5SlROQlptRnNjMlVsTWtNbE1qSmpiMnhzWVhCelpXUWxNaklsTTBGbVlXeHpaU1V5UXlVeU1teHBibXRoWW14bEpUSXlKVE5CWm1Gc2MyVWxNa01sTWpKdFlYSnJaWEpQWm1aelpYUWxNaklsTTBFMUpUZEVKVEpESlRJeWFXUWxNaklsTTBFbE1qSXhObVppTXprNU1tUTVZekEzSlRJeUpUSkRKVEl5WTJGMFpXZHZjbmtsTWpJbE0wRWxNakp6ZEdGdVpHRnlaQ1V5TWlVeVF5VXlNbXh2WTJ0bFpDVXlNaVV6UVdaaGJITmxKVEpESlRJeVozSnZkWEFsTWpJbE0wRWxNaklsTWpJbE4wUWxNa01sTWpJeE5tWmlNemxqTkRNME5tWTJOeV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tZ2xNaklsTTBFbE1qSm9KVEl5SlRKREpUSXllQ1V5TWlVelFURXdKVEpESlRJeWVTVXlNaVV6UVRBbE4wUWxNa01sTWpKMFpYaDBKVEl5SlROQkpUSXlKVVUySlVFd0pUZzNKVVUxSlRnM0pUZzJKVVUzSlRnNUpUZz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Wm05dWRGTjBlV3hsSlRJeUpUTkJKVGRDSlRJeVkyOXNiM0lsTWpJbE0wRWxNakl5TlRVbE1rTXlOVFVsTWtNeU5UVWxNaklsTWtNbE1qSnphWHBsSlRJeUpUTkJNakVsTWtNbE1qSmliMnhrSlRJeUpUTkJkSEoxWlNVM1JDVXlReVV5TW5ScGRHeGxKVEl5SlROQkpUSXlKVVUzSlRsR0pVRTVKVVUxSlVKRUpVRXlKVEl5SlRKREpUSXlaR0YwWVVGMGRISnBZblYwWlhNbE1qSWxNMEVsTlVJbE4wSWxNakp1WVcxbEpUSXlKVE5CSlRJeUpVVTFKVUpCSlRoR0pVVTFKVGhHSlVJM0pUSXlKVEpESlRJeWFXUWxNaklsTTBFbE1qSXhObVppTXpsak5EWTBPVFJsTXlVeU1pVXlReVV5TW1OaGRHVm5iM0o1SlRJeUpUTkJKVEl5WkdWbVlYVnNkQ1V5TWlVeVF5VXlNblI1Y0dVbE1qSWxNMEVsTWpKdWRXMWlaWElsTWpJbE1rTWxNakoyWVd4MVpTVXlNaVV6UVNVeU1pVXlNaVUzUkNVeVF5VTNRaVV5TW01aGJXVWxNaklsTTBFbE1qSWxSVFVsT1RBbE9FUWxSVGNsUVRjbFFqQWxNaklsTWtNbE1qSnBaQ1V5TWlVelFTVXlNakUyWm1Jek9XTTBOalE1TXpJMEpUSXlKVEpESlRJeVkyRjBaV2R2Y25rbE1qSWxNMEVsTWpKa1pXWmhkV3gwSlRJeUpUSkRKVEl5ZEhsd1pTVXlNaVV6UVNVeU1uTjBjbWx1WnlVeU1pVXlReVV5TW5aaGJIVmxKVEl5SlROQkpUSXlKVEl5SlRkRUpUSkRKVGRDSlRJeWJtRnRaU1V5TWlVelFTVXlNaVZGTmlVNE9TVTRNQ1ZGTmlVNVF5VTRPU1ZGT0NVNE1DVTROU1V5TWlVeVF5VXlNbWxrSlRJeUpUTkJKVEl5TVRabVlqTTVZelEyTkRsaE5HWWxNaklsTWtNbE1qSmpZWFJsWjI5eWVTVXlNaVV6UVNVeU1tUmxabUYxYkhRbE1qSWxNa01sTWpKMGVYQmxKVEl5SlROQkpUSXljM1J5YVc1bkpUSXlKVEpESlRJeWRtRnNkV1VsTWpJbE0wRWxNaklsTWpJbE4wUWxNa01sTjBJbE1qSnVZVzFsSlRJeUpUTkJKVEl5SlVVNEpVSkdKVGxGSlVVMkpUaEZKVUUxSlRJeUpUSkRKVEl5YVdRbE1qSWxNMEVsTWpJeE5tWmlNemxqTkRZME9UZzJaU1V5TWlVeVF5VXlNbU5oZEdWbmIzSjVKVEl5SlROQkpUSXlaR1ZtWVhWc2RDVXlNaVV5UXlVeU1uUjVjR1VsTWpJbE0wRWxNakpzYVc1ckpUSXlKVEpESlRJeWRtRnNkV1VsTWpJbE0wRWxNaklsTWpJbE4wUWxNa01sTjBJbE1qSnVZVzFsSlRJeUpUTkJKVEl5SlVVMEpVSkZKVUpHSlVVM0pVRkRKVUpCSlRJeUpUSkRKVEl5YVdRbE1qSWxNMEVsTWpJeE5tWmlNemxqTkRZME9URTBaaVV5TWlVeVF5VXlNbU5oZEdWbmIzSjVKVEl5SlROQkpUSXlaR1ZtWVhWc2RDVXlNaVV5UXlVeU1uUjVjR1VsTWpJbE0wRWxNakp6ZEhKcGJtY2xNaklsTWtNbE1qSjJZV3gxWlNVeU1pVXpRU1V5TWlVeU1pVTNSQ1UxUkNVeVF5VXlNbkJ5YjNCekpUSXlKVE5CSlRkQ0pUSXllbWx1WkdWNEpUSXlKVE5CTVRnbE1rTWxNakozSlRJeUpUTkJNakF6TGpBM01EVTFOREUyTnpZNU5EVTFKVEpESlRJeWFDVXlNaVV6UVRJNExqZzBPREF6T1RJeE5UWTROalkwSlRKREpUSXllQ1V5TWlVelFUUXlNQzR4TmprM016ZzVORFEyT1RrNU15VXlReVV5TW5rbE1qSWxNMEUyTmpVdU9UWXhOalkwT1RZNU1ERTRKVEpESlRJeVlXNW5iR1VsTWpJbE0wRXdKVGRFSlRKREpUSXljR0YwYUNVeU1pVXpRU1UxUWlVM1Fp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iR2x1WlZOMGVXeGxKVEl5SlROQkpUZENKVEl5YkdsdVpVTnZiRzl5SlRJeUpUTkJKVEl5TVRZMkpUSkRNVEEySlRKRE5EZ2xNaklsTjBRbE1rTWxNakpqYUdsc1pISmxiaVV5TWlVelFTVTFRaVUxUkNVeVF5VXlNbkpsYzJsNlpVUnBjaVV5TWlVelFTVTFRaVV5TW5Sc0pUSXlKVEpESlRJeWRISWxNaklsTWtNbE1qSmljaVV5TWlVeVF5VXlNbUpzSlRJeUpUVkVKVEpESlRJeWJtRnRaU1V5TWlVelFTVXlNbkpsWTNSaGJtZHNaU1V5TWlVeVF5VXlNbVpwYkd4VGRIbHNaU1V5TWlVelFTVTNRaVV5TW1OdmJHOXlKVEl5SlROQkpUSXlNVFkySlRKRE1UQTJKVEpETkRnbE1qSWxNa01sTWpKMGVYQmxKVEl5SlROQkpUSXljMjlzYVdRbE1qSWxNa01sTWpKa2NtRjNWSGx3WlNVeU1pVXpRU1V5TW01dmJtVWxNaklsTjBRbE1rTWxNakpoZEhSeWFXSjFkR1VsTWpJbE0wRWxOMElsTWpKamIyNTBZV2x1WlhJbE1qSWxNMEZtWVd4elpTVXlReVV5TW5KdmRHRjBZV0pzWlNVeU1pVXpRWFJ5ZFdVbE1rTWxNakoyYVhOcFlteGxKVEl5SlROQmRISjFaU1V5UXlVeU1tTnZiR3hoY0hOaFlteGxKVEl5SlROQlptRnNjMlVsTWtNbE1qSmpiMnhzWVhCelpXUWxNaklsTTBGbVlXeHpaU1V5UXlVeU1teHBibXRoWW14bEpUSXlKVE5CZEhKMVpTVXlReVV5TW0xaGNtdGxjazltWm5ObGRDVXlNaVV6UVRVbE4wUWxNa01sTWpKcFpDVXlNaVV6UVNVeU1qRTJabUl6T1dNME16UTJaalkzSlRJeUpUSkRKVEl5WTJGMFpXZHZjbmtsTWpJbE0wRWxNakppWVhOcFl5VXlNaVV5UXlVeU1teHZZMnRsWkNVeU1pVXpRV1poYkhObEpUSkRKVEl5WjNKdmRYQWxNaklsTTBFbE1qSWxNaklsTjBRbE1rTWxNakl4Tm1aaU16azRZVGMzWkRjMkpUSXlKVE5CSlRkQ0pUSXljR0Z5Wlc1MEpUSXlKVE5CSlRJeUpUSXlKVEpESlRJeWJHbHVheVV5TWlVelFTVXlNaVV5TWlVeVF5VXlNbk5vWVhCbFUzUjViR1VsTWpJbE0wRWxOMElsTWpKaGJIQm9ZU1V5TWlVelFURWxOMFFsTWtNbE1qSjBaWGgwUW14dlkyc2xNaklsTTBFbE5VSWxOMElsTWpKd2IzTnBkR2x2YmlVeU1pVXpRU1UzUWlVeU1uY2xNaklsTTBFbE1qSjNMVEl3SlRJeUpUSkRKVEl5YUNVeU1pVXpRU1V5TW1nbE1qSWxNa01sTWpKNEpUSXlKVE5CTVRBbE1rTWxNako1SlRJeUpUTkJNQ1UzUkNVeVF5VXlNblJsZUhRbE1qSWxNMEVsTWpJbFJUVWxPVVlsUWtFbFJUUWxRa0VsT0VVbFJUY2xPRVVsUWpBbFJUWWxPVU1sT0RrbFJUY2xPVVlsUVRJbFJUa2xPRGNsT0VZbFJUVWxRVVlsUWtNbFJUZ2xRVGNsT0RnbFJUVWxPVUlsUWtVbFJUWWxPRVlsT1RBbFJUVWxPRVlsT1RZbE1qQXlNeVV5TUNWRk5pVTVPU1ZCUmlWRk55VTRNaVZDT1NWRk9DVkNOeVZCUmlWRk55VkNSQ1U1TVNWRk5TVkJOU1U1TVNWRk55VkNRU1ZCTmlVeU1DZ3lmak1sUlRRbFFrRWxRa0VsUlRVbFFUUWxRVGtwSlVWR0pVSkRKVGhESlVVMUpVRkdKVUpESlVVMUpUZzFKVUUxSlVVMUpVRkdKVUpESlVVMkpVSTRKVUk0SlVVNEpVRkdKVGhFSlVWR0pVSkRKVGhESlVVMkpUbEZKVGd4SlVVNUpUZ3dKVGxHSlVVMEpVSTRKVGhCSlVVM0pVSkJKVUpHSlVVMkpUazVKVUpCSlVVNEpUZ3pKVUpFSlVVNUpUazNKVUZGSlVVM0pVRkVKVGswSlVVMEpVSTRKVGhGSlVVMUpUbEdKVUpCSlVVM0pVRXhKVGd3SlVVMkpVSTRKVUk0SlVVNEpVRTNKVGc0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VptOXVkRk4wZVd4bEpUSXlKVE5CSlRkQ0pUSXlZMjlzYjNJbE1qSWxNMEVsTWpJd0pUSkRNQ1V5UXpBbE1qSWxNa01sTWpKemFYcGxKVEl5SlROQk1UVWxNa01sTWpKaWIyeGtKVEl5SlROQmRISjFaU1UzUkNVeVF5VXlNblJwZEd4bEpUSXlKVE5CSlRJeUpVVTNKVGxHSlVFNUpVVTFKVUpFSlVFeUpUSXlKVEpESlRJeVpHRjBZVUYwZEhKcFluVjBaWE1sTWpJbE0wRWxOVUlsTjBJbE1qSnVZVzFsSlRJeUpUTkJKVEl5SlVVMUpVSkJKVGhHSlVVMUpUaEdKVUkzSlRJeUpUSkRKVEl5YVdRbE1qSWxNMEVsTWpJeE5tWmlNems0WWpVd05qRmpaQ1V5TWlVeVF5VXlNbU5oZEdWbmIzSjVKVEl5SlROQkpUSXlaR1ZtWVhWc2RDVXlNaVV5UXlVeU1uUjVjR1VsTWpJbE0wRWxNakp1ZFcxaVpYSWxNaklsTWtNbE1qSjJZV3gxWlNVeU1pVXpRU1V5TWlVeU1pVTNSQ1V5UXlVM1FpVXlNbTVoYldVbE1qSWxNMEVsTWpJbFJUVWxPVEFsT0VRbFJUY2xRVGNsUWpBbE1qSWxNa01sTWpKcFpDVXlNaVV6UVNVeU1qRTJabUl6T1RoaU5UQTJNREpsSlRJeUpUSkRKVEl5WTJGMFpXZHZjbmtsTWpJbE0wRWxNakprWldaaGRXeDBKVEl5SlRKREpUSXlkSGx3WlNVeU1pVXpRU1V5TW5OMGNtbHVaeVV5TWlVeVF5VXlNblpoYkhWbEpUSXlKVE5CSlRJeUpUSXlKVGRFSlRKREpUZENKVEl5Ym1GdFpTVXlNaVV6UVNVeU1pVkZOaVU0T1NVNE1DVkZOaVU1UXlVNE9TVkZPQ1U0TUNVNE5TVXlNaVV5UXlVeU1tbGtKVEl5SlROQkpUSXlNVFptWWpNNU9HSTFNRFprT0RVbE1qSWxNa01sTWpKallYUmxaMjl5ZVNVeU1pVXpRU1V5TW1SbFptRjFiSFFsTWpJbE1rTWxNakowZVhCbEpUSXlKVE5CSlRJeWMzUnlhVzVuSlRJeUpUSkRKVEl5ZG1Gc2RXVWxNaklsTTBFbE1qSWxNaklsTjBRbE1rTWxOMElsTWpKdVlXMWxKVEl5SlROQkpUSXlKVVU0SlVKR0pUbEZKVVUySlRoRkpVRTFKVEl5SlRKREpUSXlhV1FsTWpJbE0wRWxNakl4Tm1aaU16azRZalV3Tm1Rek15VXlNaVV5UXlVeU1tTmhkR1ZuYjNKNUpUSXlKVE5CSlRJeVpHVm1ZWFZzZENVeU1pVXlReVV5TW5SNWNHVWxNaklsTTBFbE1qSnNhVzVySlRJeUpUSkRKVEl5ZG1Gc2RXVWxNaklsTTBFbE1qSWxNaklsTjBRbE1rTWxOMElsTWpKdVlXMWxKVEl5SlROQkpUSXlKVVUwSlVKRkpVSkdKVVUzSlVGREpVSkJKVEl5SlRKREpUSXlhV1FsTWpJbE0wRWxNakl4Tm1aaU16azRZalV3Tm1RNVlTVXlNaVV5UXlVeU1tTmhkR1ZuYjNKNUpUSXlKVE5CSlRJeVpHVm1ZWFZzZENVeU1pVXlReVV5TW5SNWNHVWxNaklsTTBFbE1qSnpkSEpwYm1jbE1qSWxNa01sTWpKMllXeDFaU1V5TWlVelFTVXlNaVV5TWlVM1JDVTFSQ1V5UXlVeU1uQnliM0J6SlRJeUpUTkJKVGRDSlRJeWVtbHVaR1Y0SlRJeUpUTkJNVElsTWtNbE1qSjNKVEl5SlROQk1qQXpMak0yTmpBeU1ESXhNalV6T0RVbE1rTWxNakpvSlRJeUpUTkJPVFl1TkRReE5qSXlNVEF6TXpnM01pVXlReVV5TW5nbE1qSWxNMEV5TlRZdU56azFOekk0TXprMU9EY3hOQ1V5UXlVeU1tRnVaMnhsSlRJeUpUTkJNQ1V5UXlVeU1ua2xNaklsTTBFeU9UY3VOVGN6TlRJNU5ERXhOelkwTWpR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UTI5c2IzSWxNaklsTTBFbE1qSXlNamtsTWtNeU1qa2xNa015TWprbE1qSWxOMFFsTWtNbE1qSmphR2xzWkhKbGJpVXlNaVV6UVNVMVFpVTFSQ1V5UXlVeU1uSmxjMmw2WlVScGNpVXlNaVV6UVNVMVFpVXlNblJzSlRJeUpUSkRKVEl5ZEhJbE1qSWxNa01sTWpKaWNpVXlNaVV5UXlVeU1tSnNKVEl5SlRWRUpUSkRKVEl5Ym1GdFpTVXlNaVV6UVNVeU1uSmxZM1JoYm1kc1pTVXlNaVV5UXlVeU1tWnBiR3hUZEhsc1pTVXlNaVV6UVNVM1FpVXlNbU52Ykc5eUpUSXlKVE5CSlRJeU1qSTVKVEpETWpJNUpUSkRNakk1SlRJeUpUSkRKVEl5ZEhsd1pTVXlNaVV6UVNVeU1uTnZiR2xrSlRJeUpUZEVKVEpESlRJeVlYUjBjbWxpZFhSbEpUSXlKVE5CSlRkQ0pUSXlZMjl1ZEdGcGJtVnlKVEl5SlROQlptRnNjMlVsTWtNbE1qSnliM1JoZEdGaWJHVWxNaklsTTBGMGNuVmxKVEpESlRJeWRtbHphV0pzWlNVeU1pVXpRWFJ5ZFdVbE1rTWxNakpqYjJ4c1lYQnpZV0pzWlNVeU1pVXpRV1poYkhObEpUSkRKVEl5WTI5c2JHRndjMlZrSlRJeUpUTkJabUZzYzJVbE1rTWxNakpzYVc1cllXSnNaU1V5TWlVelFYUnlkV1VsTWtNbE1qSnRZWEpyWlhKUFptWnpaWFFsTWpJbE0wRTFKVGRFSlRKREpUSXlhV1FsTWpJbE0wRWxNakl4Tm1aaU16azRZVGMzWkRjMkpUSXlKVEpESlRJeVkyRjBaV2R2Y25rbE1qSWxNMEVsTWpKaVlYTnBZeVV5TWlVeVF5VXlNbXh2WTJ0bFpDVXlNaVV6UVdaaGJITmxKVEpESlRJeVozSnZkWEFsTWpJbE0wRWxNaklsTWpJbE4wUWxNa01sTWpJeE5tWmlNemxqTkRNME5qSXhNaVV5TWlVelFTVTNRaVV5TW5CaGNtVnVkQ1V5TWlVelFTVXlNaVV5TWlVeVF5VXlNbXhwYm1zbE1qSWxNMEVsTWpJbE1qSWxNa01sTWpKemFHRndaVk4wZVd4bEpUSXlKVE5CSlRkQ0pUSXlZV3h3YUdFbE1qSWxNMEV4SlRkRUpUSkRKVEl5ZEdWNGRFSnNiMk5ySlRJeUpUTkJKVFZDSlRkQ0pUSXljRzl6YVhScGIyNGxNaklsTTBFbE4wSWxNakozSlRJeUpUTkJKVEl5ZHlVeU1pVXlReVV5TW1nbE1qSWxNMEVsTWpKb0pUSXlKVEpESlRJeWVDVXlNaVV6UVRBbE1rTWxNako1SlRJeUpUTkJNQ1UzUkNVeVF5VXlNblJsZUhRbE1qSWxNMEVsTWpJbFJUY2xRVU1sUVVNbFJUUWxRa0VsT0VNbFJUa2xPVGdsUWpZbFJUWWxRVVVsUWpVbE1qSWxOMFFsTlVRbE1rTWxNakpoYm1Ob2IzSnpKVEl5SlROQkpUVkNKVFZFSlRKREpUSXlabTl1ZEZOMGVXeGxKVEl5SlROQkpUZENKVEl5WTI5c2IzSWxNaklsTTBFbE1qSXhOallsTWtNeE1EWWxNa01sTWpBME9DVXlNaVV5UXlVeU1uTnBlbVVsTWpJbE0wRXlNU1UzUkNVeVF5VXlNblJwZEd4bEpUSXlKVE5CSlRJeUpUSXlKVEpESlRJeVpHRjBZVUYwZEhKcFluVjBaWE1sTWpJbE0wRWxOVUlsTlVRbE1rTWxNakp3Y205d2N5VXlNaVV6UVNVM1FpVXlNbnBwYm1SbGVDVXlNaVV6UVRFMkpUSkRKVEl5ZHlVeU1pVXpRVEV3TlM0ME5UUTFORFUwTlRRMU5EVTBOQ1V5UXlVeU1tZ2xNaklsTTBFME1DVXlReVV5TW5nbE1qSWxNMEUwTnpNdU16RTJPVGc1T0Rrek56TXdPQ1V5UXlVeU1ua2xNaklsTTBFMU1EQXVPREkwTXpFME5UYzBNekUwTkNVeVF5VXlNbUZ1WjJ4bEpUSXlKVE5CTUNVM1JDVXlReVV5TW5CaGRHZ2xNaklsTTBFbE5VSWxOMElsTWpKc2FXNWxVM1I1YkdVbE1qSWxNMEVsTjBJbE1qSnNhVzVsVjJsa2RHZ2xNaklsTTBFd0pUZEVKVEpESlRJeVptbHNiRk4wZVd4bEpUSXlKVE5CSlRkQ0pUSXlkSGx3WlNVeU1pVXpRU1V5TW01dmJtVWxNaklsTjBRbE1rTWxNakpoWTNScGIyNXpKVEl5SlROQkpUVkNKVGRDSlRJeWVDVXlNaVV6UVNVeU1qQWxNaklsTWtNbE1qSmhZM1JwYjI0bE1qSWxNMEVsTWpKdGIzWmxKVEl5SlRKREpUSXllU1V5TWlVelFTVXlNakFsTWpJbE4wUWxNa01sTjBJbE1qSjRKVEl5SlROQkpUSXlkeVV5TWlVeVF5VXlNbUZqZEdsdmJpVXlNaVV6UVNVeU1teHBibVVsTWpJbE1rTWxNako1SlRJeUpUTkJKVEl5TUNVeU1pVTNSQ1V5UXlVM1FpVXlNbmdsTWpJbE0wRWxNakozSlRJeUpUSkRKVEl5WVdOMGFXOXVKVEl5SlROQkpUSXliR2x1WlNVeU1pVXlReVV5TW5rbE1qSWxNMEVsTWpKb0pUSXlKVGRFSlRKREpUZENKVEl5ZUNVeU1pVXpRU1V5TWpBbE1qSWxNa01sTWpKaFkzUnBiMjRsTWpJbE0wRWxNakpzYVc1bEpUSXlKVEpESlRJeWVTVXlNaVV6UVNVeU1tZ2xNaklsTjBRbE1rTWxOMElsTWpKaFkzUnBiMjRsTWpJbE0wRWxNakpqYkc5elpTVXlNaVUzUkNVMVJDVTNSQ1UxUkNVeVF5VXlNbXhwYm1WVGRIbHNaU1V5TWlVelFTVTNRaVV5TW14cGJtVkRiMnh2Y2lVeU1pVXpRU1V5TWpFMk5TVXlRekUzTVNVeVF6RXlPU1V5TWlVM1JDVXlReVV5TW1Ob2FXeGtjbVZ1SlRJeUpUTkJKVFZDSlRWRUpUSkRKVEl5Y21WemFYcGxSR2x5SlRJeUpUTkJKVFZDSlRJeWRHd2xNaklsTWtNbE1qSjBjaVV5TWlVeVF5VXlNbUp5SlRJeUpUSkRKVEl5WW13bE1qSWxOVVFsTWtNbE1qSnVZVzFsSlRJeUpUTkJKVEl5YzNSaGJtUmhjbVJVWlhoMEpUSXlKVEpESlRJeVptbHNiRk4wZVd4bEpUSXlKVE5CSlRkQ0pUSXlZMjlzYjNJbE1qSWxNMEVsTWpJeE5qVWxNa014TnpFbE1rTXhNamtsTWpJbE1rTWxNakowZVhCbEpUSXlKVE5CSlRJeWMyOXNhV1FsTWpJbE4wUWxNa01sTWpKaGRIUnlhV0oxZEdVbE1qSWxNMEVsTjBJbE1qSmpiMjUwWVdsdVpYSWxNaklsTTBGbVlXeHpaU1V5UXlVeU1uSnZkR0YwWVdKc1pTVXlNaVV6UVhSeWRXVWxNa01sTWpKMmFYTnBZbXhsSlRJeUpUTkJkSEoxWlNVeVF5VXlNbU52Ykd4aGNITmhZbXhsSlRJeUpUTkJabUZzYzJVbE1rTWxNakpqYjJ4c1lYQnpaV1FsTWpJbE0wRm1ZV3h6WlNVeVF5VXlNbXhwYm10aFlteGxKVEl5SlROQlptRnNjMlVsTWtNbE1qSnRZWEpyWlhKUFptWnpaWFFsTWpJbE0wRTFKVGRFSlRKREpUSXlhV1FsTWpJbE0wRWxNakl4Tm1aaU16bGpORE0wTmpJeE1pVXlNaVV5UXlVeU1tTmhkR1ZuYjNKNUpUSXlKVE5CSlRJeWMzUmhibVJoY21RbE1qSWxNa01sTWpKc2IyTnJaV1FsTWpJbE0wRm1ZV3h6WlNVeVF5VXlNbWR5YjNWd0pUSXlKVE5CSlRJeUpUSXlKVGRFSlRKREpUSXlNVFptWWpNNFpHRXhaRFptWW1FbE1qSWxNMEVsTjBJbE1qSndZWEpsYm5RbE1qSWxNMEVsTWpJbE1qSWxNa01sTWpKc2FXNXJKVEl5SlROQkpUSXlKVEl5SlRKREpUSXljMmhoY0dWVGRIbHNaU1V5TWlVelFTVTNRaVV5TW1Gc2NHaGhKVEl5SlROQk1TVTNSQ1V5UXlVeU1uUmxlSFJDYkc5amF5VXlNaVV6UVNVMVFpVTNRaVV5TW5CdmMybDBhVzl1SlRJeUpUTkJKVGRDSlRJeWR5VXlNaVV6UVNVeU1uY3RNakFsTWpJbE1rTWxNakpvSlRJeUpUTkJKVEl5YUNVeU1pVXlReVV5TW5nbE1qSWxNMEV4TUNVeVF5VXlNbmtsTWpJbE0wRXdKVGRFSlRKREpUSXlkR1Y0ZENVeU1pVXpRU1V5TW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V5UXlVeU1tWnZiblJUZEhsc1pTVXlNaVV6UVNVM1FpVTNSQ1V5UXlVeU1uUnBkR3hsSlRJeUpUTkJKVEl5SlVVMUpUbERKVGcySlVVMUpVSkVKVUV5SlRJeUpUSkRKVEl5WkdGMFlVRjBkSEpwWW5WMFpYTWxNaklsTTBFbE5VSWxOMElsTWpKdVlXMWxKVEl5SlROQkpUSXlKVVUxSlVKQkpUaEdKVVUxSlRoR0pVSTNKVEl5SlRKREpUSXlhV1FsTWpJbE0wRWxNakl4Tm1aaU16aGtZVFF3WmpWbE9TVXlNaVV5UXlVeU1tTmhkR1ZuYjNKNUpUSXlKVE5CSlRJeVpHVm1ZWFZzZENVeU1pVXlReVV5TW5SNWNHVWxNaklsTTBFbE1qSnVkVzFpWlhJbE1qSWxNa01sTWpKMllXeDFaU1V5TWlVelFTVXlNaVV5TWlVM1JDVXlReVUzUWlVeU1tNWhiV1VsTWpJbE0wRWxNaklsUlRVbE9UQWxPRVFsUlRjbFFUY2xRakFsTWpJbE1rTWxNakpwWkNVeU1pVXpRU1V5TWpFMlptSXpPR1JoTkRFd1pEUTJKVEl5SlRKREpUSXlZMkYwWldkdmNua2xNaklsTTBFbE1qSmtaV1poZFd4MEpUSXlKVEpESlRJeWRIbHdaU1V5TWlVelFTVXlNbk4wY21sdVp5VXlNaVV5UXlVeU1uWmhiSFZsSlRJeUpUTkJKVEl5SlRJeUpUZEVKVEpESlRkQ0pUSXlibUZ0WlNVeU1pVXpRU1V5TWlWRk5pVTRPU1U0TUNWRk5pVTVReVU0T1NWRk9DVTRNQ1U0TlNVeU1pVXlReVV5TW1sa0pUSXlKVE5CSlRJeU1UWm1Zak00WkdFME1UQTBOV01sTWpJbE1rTWxNakpqWVhSbFoyOXllU1V5TWlVelFTVXlNbVJsWm1GMWJIUWxNaklsTWtNbE1qSjBlWEJsSlRJeUpUTkJKVEl5YzNSeWFXNW5KVEl5SlRKREpUSXlkbUZzZFdVbE1qSWxNMEVsTWpJbE1qSWxOMFFsTWtNbE4wSWxNakp1WVcxbEpUSXlKVE5CSlRJeUpVVTRKVUpHSlRsRkpVVTJKVGhGSlVFMUpUSXlKVEpESlRJeWFXUWxNaklsTTBFbE1qSXhObVppTXpoa1lUUXhNREpqTmlVeU1pVXlReVV5TW1OaGRHVm5iM0o1SlRJeUpUTkJKVEl5WkdWbVlYVnNkQ1V5TWlVeVF5VXlNblI1Y0dVbE1qSWxNMEVsTWpKc2FXNXJKVEl5SlRKREpUSXlkbUZzZFdVbE1qSWxNMEVsTWpJbE1qSWxOMFFsTWtNbE4wSWxNakp1WVcxbEpUSXlKVE5CSlRJeUpVVTBKVUpGSlVKR0pVVTNKVUZESlVKQkpUSXlKVEpESlRJeWFXUWxNaklsTTBFbE1qSXhObVppTXpoa1lUUXhNRE00TWlVeU1pVXlReVV5TW1OaGRHVm5iM0o1SlRJeUpUTkJKVEl5WkdWbVlYVnNkQ1V5TWlVeVF5VXlNblI1Y0dVbE1qSWxNMEVsTWpKemRISnBibWNsTWpJbE1rTWxNakoyWVd4MVpTVXlNaVV6UVNVeU1pVXlNaVUzUkNVMVJDVXlReVV5TW5CeWIzQnpKVEl5SlROQkpUZENKVEl5ZW1sdVpHVjRKVEl5SlROQk1pVXlReVV5TW5jbE1qSWxNMEV6T1M0MU9EY3pNREUxT0Rjek1ERTJNalFsTWtNbE1qSm9KVEl5SlROQk5EQXVNemsyT0RJMU16azJPREkxTWpVbE1rTWxNako0SlRJeUpUTkJNVE00TGpBek5UY3hOREk0TlRjeE5ESTRKVEpESlRJeVlXNW5iR1VsTWpJbE0wRXdKVEpESlRJeWVTVXlNaVV6UVRRMk1DNDBNamMwT0RreE56YzBPRGt5SlRkRUpUSkRKVEl5Y0dGMGFDVXlNaVV6UVNVMVFpVTNRaVV5TW1GamRHbHZibk1sTWpJbE0wRWxOVUlsTjBJbE1qSjRKVEl5SlROQkpUSXlNQ1V5TWlVeVF5VXlNbUZqZEdsdmJpVXlNaVV6UVNVeU1tMXZkbVVsTWpJbE1rTWxNako1SlRJeUpUTkJKVEl5YUNVeVJqSWxNaklsTjBRbE1rTWxOMElsTWpKNU1TVXlNaVV6UVNVeU1pMW9KVEpHTmlVeU1pVXlReVV5TW5nbE1qSWxNMEVsTWpKM0pUSXlKVEpESlRJeVlXTjBhVzl1SlRJeUpUTkJKVEl5WTNWeWRtVWxNaklsTWtNbE1qSjVNaVV5TWlVelFTVXlNaTFvSlRKR05pVXlNaVV5UXlVeU1ua2xNaklsTTBFbE1qSm9KVEpHTWlVeU1pVXlReVV5TW5neEpUSXlKVE5CSlRJeU1DVXlNaVV5UXlVeU1uZ3lKVEl5SlROQkpUSXlkeVV5TWlVM1JDVXlReVUzUWlVeU1ua3hKVEl5SlROQkpUSXlhQ1V5UW1nbE1rWTJKVEl5SlRKREpUSXllQ1V5TWlVelFTVXlNakFsTWpJbE1rTWxNakpoWTNScGIyNGxNaklsTTBFbE1qSmpkWEoyWlNVeU1pVXlReVV5TW5reUpUSXlKVE5CSlRJeWFDVXlRbWdsTWtZMkpUSXlKVEpESlRJeWVTVXlNaVV6UVNVeU1tZ2xNa1l5SlRJeUpUSkRKVEl5ZURFbE1qSWxNMEVsTWpKM0pUSXlKVEpESlRJeWVESWxNaklsTTBFbE1qSXdKVEl5SlRkRUpUSkRKVGRDSlRJeVlXTjBhVzl1SlRJeUpUTkJKVEl5WTJ4dmMyVWxNaklsTjBRbE5VUWxOMFFsTlVRbE1rTWxNakpzYVc1bFUzUjViR1VsTWpJbE0wRWxOMElsTWpKc2FXNWxRMjlzYjNJbE1qSWxNMEVsTWpJeU1qRWxNa014TWpnbE1rTTNNU1V5TWlVM1JDVXlReVV5TW1Ob2FXeGtjbVZ1SlRJeUpUTkJKVFZDSlRWRUpUSkRKVEl5Y21WemFYcGxSR2x5SlRJeUpUTkJKVFZDSlRJeWRHd2xNaklsTWtNbE1qSjBjaVV5TWlVeVF5VXlNbUp5SlRJeUpUSkRKVEl5WW13bE1qSWxOVVFsTWtNbE1qSnVZVzFsSlRJeUpUTkJKVEl5Y205MWJtUWxNaklsTWtNbE1qSm1hV3hzVTNSNWJHVWxNaklsTTBFbE4wSWxNakpqYjJ4dmNpVXlNaVV6UVNVeU1qSXlNU1V5UXpFeU9DVXlRemN4SlRJeUpUSkRKVEl5ZEhsd1pTVXlNaVV6UVNVeU1uTnZiR2xrSlRJeUpUZEVKVEpESlRJeVlYUjBjbWxpZFhSbEpUSXlKVE5CSlRkQ0pUSXlZMjl1ZEdGcGJtVnlKVEl5SlROQlptRnNjMlVsTWtNbE1qSnliM1JoZEdGaWJHVWxNaklsTTBGMGNuVmxKVEpESlRJeWRtbHphV0pzWlNVeU1pVXpRWFJ5ZFdVbE1rTWxNakpqYjJ4c1lYQnpZV0pzWlNVeU1pVXpRV1poYkhObEpUSkRKVEl5WTI5c2JHRndjMlZrSlRJeUpUTkJabUZzYzJVbE1rTWxNakpzYVc1cllXSnNaU1V5TWlVelFYUnlkV1VsTWtNbE1qSnRZWEpyWlhKUFptWnpaWFFsTWpJbE0wRTFKVGRFSlRKREpUSXlhV1FsTWpJbE0wRWxNakl4Tm1aaU16aGtZVEZrTm1aaVlTVXlNaVV5UXlVeU1tTmhkR1ZuYjNKNUpUSXlKVE5CSlRJeVltRnphV01sTWpJbE1rTWxNakpzYjJOclpXUWxNaklsTTBGbVlXeHpaU1V5UXlVeU1tZHliM1Z3SlRJeUpUTkJKVEl5SlRJeUpUZEVKVEpESlRJeU1UWm1Zak01WTJGa05XSmtabVl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m9KVEl5SlROQkpUSXlhQ1V5TWlVeVF5VXlNbmdsTWpJbE0wRXhNQ1V5UXlVeU1ua2xNaklsTTBFd0pUZEVKVEpESlRJeWRHVjRkQ1V5TWlVelFTVXlNaVZGTmlWQ055VkNNU1ZGTlNWQ1FTVkJOaVZGTmlVNU5TVkNNQ1ZGTmlVNU9TVkNRU1V6UTNOd1lXNGxNakJ6ZEhsc1pTVXpSQ1UxUXlVeU1tWnZiblF0YzJsNlpTVXpRV2x1YUdWeWFYUWxNMElsTlVNbE1qSWxNMFVsUlRjbE9Ea2xPRGdsTTBNbE1rWnpjR0Z1SlROR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EpUSXlabTl1ZEZOMGVXeGxKVEl5SlROQkpUZENKVEl5WTI5c2IzSWxNaklsTTBFbE1qSXlOVFVsTWtNeU5UVWxNa015TlRVbE1qSWxNa01sTWpKemFYcGxKVEl5SlROQk1qRWxNa01sTWpKaWIyeGtKVEl5SlROQmRISjFaU1UzUkNVeVF5VXlNblJwZEd4bEpUSXlKVE5CSlRJeUpVVTNKVGxHSlVFNUpVVTFKVUpFSlVFeUpUSXlKVEpESlRJeVpHRjBZVUYwZEhKcFluVjBaWE1sTWpJbE0wRWxOVUlsTjBJbE1qSnVZVzFsSlRJeUpUTkJKVEl5SlVVMUpVSkJKVGhHSlVVMUpUaEdKVUkzSlRJeUpUSkRKVEl5YVdRbE1qSWxNMEVsTWpJeE5tWmlNemxqWWpBMVpXSTVaQ1V5TWlVeVF5VXlNbU5oZEdWbmIzSjVKVEl5SlROQkpUSXlaR1ZtWVhWc2RDVXlNaVV5UXlVeU1uUjVjR1VsTWpJbE0wRWxNakp1ZFcxaVpYSWxNaklsTWtNbE1qSjJZV3gxWlNVeU1pVXpRU1V5TWlVeU1pVTNSQ1V5UXlVM1FpVXlNbTVoYldVbE1qSWxNMEVsTWpJbFJUVWxPVEFsT0VRbFJUY2xRVGNsUWpBbE1qSWxNa01sTWpKcFpDVXlNaVV6UVNVeU1qRTJabUl6T1dOaU1EVmxOVFZsSlRJeUpUSkRKVEl5WTJGMFpXZHZjbmtsTWpJbE0wRWxNakprWldaaGRXeDBKVEl5SlRKREpUSXlkSGx3WlNVeU1pVXpRU1V5TW5OMGNtbHVaeVV5TWlVeVF5VXlNblpoYkhWbEpUSXlKVE5CSlRJeUpUSXlKVGRFSlRKREpUZENKVEl5Ym1GdFpTVXlNaVV6UVNVeU1pVkZOaVU0T1NVNE1DVkZOaVU1UXlVNE9TVkZPQ1U0TUNVNE5TVXlNaVV5UXlVeU1tbGtKVEl5SlROQkpUSXlNVFptWWpNNVkySXdOV1V4WXpFbE1qSWxNa01sTWpKallYUmxaMjl5ZVNVeU1pVXpRU1V5TW1SbFptRjFiSFFsTWpJbE1rTWxNakowZVhCbEpUSXlKVE5CSlRJeWMzUnlhVzVuSlRJeUpUSkRKVEl5ZG1Gc2RXVWxNaklsTTBFbE1qSWxNaklsTjBRbE1rTWxOMElsTWpKdVlXMWxKVEl5SlROQkpUSXlKVVU0SlVKR0pUbEZKVVUySlRoRkpVRTFKVEl5SlRKREpUSXlhV1FsTWpJbE0wRWxNakl4Tm1aaU16bGpZakExWldJelpDVXlNaVV5UXlVeU1tTmhkR1ZuYjNKNUpUSXlKVE5CSlRJeVpHVm1ZWFZzZENVeU1pVXlReVV5TW5SNWNHVWxNaklsTTBFbE1qSnNhVzVySlRJeUpUSkRKVEl5ZG1Gc2RXVWxNaklsTTBFbE1qSWxNaklsTjBRbE1rTWxOMElsTWpKdVlXMWxKVEl5SlROQkpUSXlKVVUwSlVKRkpVSkdKVVUzSlVGREpVSkJKVEl5SlRKREpUSXlhV1FsTWpJbE0wRWxNakl4Tm1aaU16bGpZakExWldNNVlTVXlNaVV5UXlVeU1tTmhkR1ZuYjNKNUpUSXlKVE5CSlRJeVpHVm1ZWFZzZENVeU1pVXlReVV5TW5SNWNHVWxNaklsTTBFbE1qSnpkSEpwYm1jbE1qSWxNa01sTWpKMllXeDFaU1V5TWlVelFTVXlNaVV5TWlVM1JDVTFSQ1V5UXlVeU1uQnliM0J6SlRJeUpUTkJKVGRDSlRJeWVtbHVaR1Y0SlRJeUpUTkJNalVsTWtNbE1qSjNKVEl5SlROQk1qQXpMakEzTURVMU5ERTJOelk1TkRVMUpUSkRKVEl5YUNVeU1pVXpRVEk0TGpnME9EQXpPVEl4TlRZNE5qWTBKVEpESlRJeWVDVXlNaVV6UVRZeE55NHlNak0zT1RNME5UUXhPRGsySlRKREpUSXllU1V5TWlVelFUSTJPQzQzTWpVME9UQXhPVFl3TnpjMkpUSkRKVEl5WVc1bmJHVWxNaklsTTBFd0pUZEVKVEpESlRJeWNHRjBhQ1V5TWlVelFTVTFRaVUzUW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WJHbHVaVk4wZVd4bEpUSXlKVE5CSlRkQ0pUSXliR2x1WlVOdmJHOXlKVEl5SlROQkpUSXlNakUySlRKRE1UYzRKVEpET1RJbE1qSWxOMFFsTWtNbE1qSmphR2xzWkhKbGJpVXlNaVV6UVNVMVFpVTFSQ1V5UXlVeU1uSmxjMmw2WlVScGNpVXlNaVV6UVNVMVFpVXlNblJzSlRJeUpUSkRKVEl5ZEhJbE1qSWxNa01sTWpKaWNpVXlNaVV5UXlVeU1tSnNKVEl5SlRWRUpUSkRKVEl5Ym1GdFpTVXlNaVV6UVNVeU1uSmxZM1JoYm1kc1pTVXlNaVV5UXlVeU1tWnBiR3hUZEhsc1pTVXlNaVV6UVNVM1FpVXlNbU52Ykc5eUpUSXlKVE5CSlRJeU1qRTJKVEpETVRjNEpUSkRPVElsTWpJbE1rTWxNakowZVhCbEpUSXlKVE5CSlRJeWMyOXNhV1FsTWpJbE4wUWxNa01sTWpKaGRIUnlhV0oxZEdVbE1qSWxNMEVsTjBJbE1qSmpiMjUwWVdsdVpYSWxNaklsTTBGbVlXeHpaU1V5UXlVeU1uSnZkR0YwWVdKc1pTVXlNaVV6UVhSeWRXVWxNa01sTWpKMmFYTnBZbXhsSlRJeUpUTkJkSEoxWlNVeVF5VXlNbU52Ykd4aGNITmhZbXhsSlRJeUpUTkJabUZzYzJVbE1rTWxNakpqYjJ4c1lYQnpaV1FsTWpJbE0wRm1ZV3h6WlNVeVF5VXlNbXhwYm10aFlteGxKVEl5SlROQmRISjFaU1V5UXlVeU1tMWhjbXRsY2s5bVpuTmxkQ1V5TWlVelFUVWxOMFFsTWtNbE1qSnBaQ1V5TWlVelFTVXlNakUyWm1Jek9XTmhaRFZpWkdabUpUSXlKVEpESlRJeVkyRjBaV2R2Y25rbE1qSWxNMEVsTWpKaVlYTnBZeVV5TWlVeVF5VXlNbXh2WTJ0bFpDVXlNaVV6UVdaaGJITmxKVEpESlRJeVozSnZkWEFsTWpJbE0wRWxNaklsTWpJbE4wUWxNa01sTWpJeE5tWmlNemhrWXpZM01URXpaQ1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tZ2xNaklsTTBFbE1qSm9KVEl5SlRKREpUSXllQ1V5TWlVelFURXdKVEpESlRJeWVTVXlNaVV6UVRBbE4wUWxNa01sTWpKMFpYaDBKVEl5SlROQkpUS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Wm05dWRGTjBlV3hsSlRJeUpUTkJKVGRDSlRkRUpUSkRKVEl5ZEdsMGJHVWxNaklsTTBFbE1qSWxSVFVsT1VNbE9EWWxSVFVsUWtRbFFUSWxNaklsTWtNbE1qSmtZWFJoUVhSMGNtbGlkWFJsY3lVeU1pVXpRU1UxUWlVM1FpVXlNbTVoYldVbE1qSWxNMEVsTWpJbFJUVWxRa0VsT0VZbFJUVWxPRVlsUWpjbE1qSWxNa01sTWpKcFpDVXlNaVV6UVNVeU1qRTJabUl6T0dSa1pqTTVOREUzSlRJeUpUSkRKVEl5WTJGMFpXZHZjbmtsTWpJbE0wRWxNakprWldaaGRXeDBKVEl5SlRKREpUSXlkSGx3WlNVeU1pVXpRU1V5TW01MWJXSmxjaVV5TWlVeVF5VXlNblpoYkhWbEpUSXlKVE5CSlRJeUpUSXlKVGRFSlRKREpUZENKVEl5Ym1GdFpTVXlNaVV6UVNVeU1pVkZOU1U1TUNVNFJDVkZOeVZCTnlWQ01DVXlNaVV5UXlVeU1tbGtKVEl5SlROQkpUSXlNVFptWWpNNFpHUm1Nems0TVdZbE1qSWxNa01sTWpKallYUmxaMjl5ZVNVeU1pVXpRU1V5TW1SbFptRjFiSFFsTWpJbE1rTWxNakowZVhCbEpUSXlKVE5CSlRJeWMzUnlhVzVuSlRJeUpUSkRKVEl5ZG1Gc2RXVWxNaklsTTBFbE1qSWxNaklsTjBRbE1rTWxOMElsTWpKdVlXMWxKVEl5SlROQkpUSXlKVVUySlRnNUpUZ3dKVVUySlRsREpUZzVKVVU0SlRnd0pUZzFKVEl5SlRKREpUSXlhV1FsTWpJbE0wRWxNakl4Tm1aaU16aGtaR1l6T1RrMVlpVXlNaVV5UXlVeU1tTmhkR1ZuYjNKNUpUSXlKVE5CSlRJeVpHVm1ZWFZzZENVeU1pVXlReVV5TW5SNWNHVWxNaklsTTBFbE1qSnpkSEpwYm1jbE1qSWxNa01sTWpKMllXeDFaU1V5TWlVelFTVXlNaVV5TWlVM1JDVXlReVUzUWlVeU1tNWhiV1VsTWpJbE0wRWxNaklsUlRnbFFrWWxPVVVsUlRZbE9FVWxRVFVsTWpJbE1rTWxNakpwWkNVeU1pVXpRU1V5TWpFMlptSXpPR1JrWmpNNVlqZGxKVEl5SlRKREpUSXlZMkYwWldkdmNua2xNaklsTTBFbE1qSmtaV1poZFd4MEpUSXlKVEpESlRJeWRIbHdaU1V5TWlVelFTVXlNbXhwYm1zbE1qSWxNa01sTWpKMllXeDFaU1V5TWlVelFTVXlNaVV5TWlVM1JDVXlReVUzUWlVeU1tNWhiV1VsTWpJbE0wRWxNaklsUlRRbFFrVWxRa1lsUlRjbFFVTWxRa0VsTWpJbE1rTWxNakpwWkNVeU1pVXpRU1V5TWpFMlptSXpPR1JrWmpNNVpqY3pKVEl5SlRKREpUSXlZMkYwWldkdmNua2xNaklsTTBFbE1qSmtaV1poZFd4MEpUSXlKVEpESlRJeWRIbHdaU1V5TWlVelFTVXlNbk4wY21sdVp5VXlNaVV5UXlVeU1uWmhiSFZsSlRJeUpUTkJKVEl5SlRJeUpUZEVKVFZFSlRKREpUSXljSEp2Y0hNbE1qSWxNMEVsTjBJbE1qSjZhVzVrWlhnbE1qSWxNMEUwSlRKREpUSXlkeVV5TWlVelFUTTVMalU0TnpNd01UVTROek13TVRZeU5DVXlReVV5TW1nbE1qSWxNMEUwTUM0ek9UWTRNalV6T1RZNE1qVXlOU1V5UXlVeU1uZ2xNaklsTTBFNE5ERXVPREV6TkRreU1EWXpORGt4TnlVeVF5VXlNbUZ1WjJ4bEpUSXlKVE5CTUNVeVF5VXlNbmtsTWpJbE0wRTBOakF1TkRJM05EZzVNVGMzTkRnNU1pVTNSQ1V5UXlVeU1uQmhkR2dsTWpJbE0wRWxOVUlsTjBJbE1qSmhZM1JwYjI1ekpUSXlKVE5CSlRWQ0pUZENKVEl5ZUNVeU1pVXpRU1V5TWpBbE1qSWxNa01sTWpKaFkzUnBiMjRsTWpJbE0wRWxNakp0YjNabEpUSXlKVEpESlRJeWVTVXlNaVV6UVNVeU1tZ2xNa1l5SlRJeUpUZEVKVEpESlRkQ0pUSXllVEVsTWpJbE0wRWxNakl0YUNVeVJqWWxNaklsTWtNbE1qSjRKVEl5SlROQkpUSXlkeVV5TWlVeVF5VXlNbUZqZEdsdmJpVXlNaVV6UVNVeU1tTjFjblpsSlRJeUpUSkRKVEl5ZVRJbE1qSWxNMEVsTWpJdGFDVXlSallsTWpJbE1rTWxNako1SlRJeUpUTkJKVEl5YUNVeVJqSWxNaklsTWtNbE1qSjRNU1V5TWlVelFTVXlNakFsTWpJbE1rTWxNako0TWlVeU1pVXpRU1V5TW5jbE1qSWxOMFFsTWtNbE4wSWxNako1TVNVeU1pVXpRU1V5TW1nbE1rSm9KVEpHTmlVeU1pVXlReVV5TW5nbE1qSWxNMEVsTWpJd0pUSXlKVEpESlRJeVlXTjBhVzl1SlRJeUpUTkJKVEl5WTNWeWRtVWxNaklsTWtNbE1qSjVNaVV5TWlVelFTVXlNbWdsTWtKb0pUSkdOaVV5TWlVeVF5VXlNbmtsTWpJbE0wRWxNakpvSlRKR01pVXlNaVV5UXlVeU1uZ3hKVEl5SlROQkpUSXlkeVV5TWlVeVF5VXlNbmd5SlRJeUpUTkJKVEl5TUNVeU1pVTNSQ1V5UXlVM1FpVXlNbUZqZEdsdmJpVXlNaVV6UVNVeU1tTnNiM05sSlRJeUpUZEVKVFZFSlRkRUpUVkVKVEpESlRJeWJHbHVaVk4wZVd4bEpUSXlKVE5CSlRkQ0pUSXliR2x1WlVOdmJHOXlKVEl5SlROQkpUSXlNakUySlRKRE1UYzRKVEpET1RJbE1qSWxOMFFsTWtNbE1qSmphR2xzWkhKbGJpVXlNaVV6UVNVMVFpVTFSQ1V5UXlVeU1uSmxjMmw2WlVScGNpVXlNaVV6UVNVMVFpVXlNblJzSlRJeUpUSkRKVEl5ZEhJbE1qSWxNa01sTWpKaWNpVXlNaVV5UXlVeU1tSnNKVEl5SlRWRUpUSkRKVEl5Ym1GdFpTVXlNaVV6UVNVeU1uSnZkVzVrSlRJeUpUSkRKVEl5Wm1sc2JGTjBlV3hsSlRJeUpUTkJKVGRDSlRJeVkyOXNiM0lsTWpJbE0wRWxNakl5TVRZbE1rTXhOemdsTWtNNU1pVXlNaVV5UXlVeU1uUjVjR1VsTWpJbE0wRWxNakp6YjJ4cFpDVXlNaVUzUkNVeVF5VXlNbUYwZEhKcFluVjBaU1V5TWlVelFTVTNRaVV5TW1OdmJuUmhhVzVsY2lVeU1pVXpRV1poYkhObEpUSkRKVEl5Y205MFlYUmhZbXhsSlRJeUpUTkJkSEoxWlNVeVF5VXlNblpwYzJsaWJHVWxNaklsTTBGMGNuVmxKVEpESlRJeVkyOXNiR0Z3YzJGaWJHVWxNaklsTTBGbVlXeHpaU1V5UXlVeU1tTnZiR3hoY0hObFpDVXlNaVV6UVdaaGJITmxKVEpESlRJeWJHbHVhMkZpYkdVbE1qSWxNMEYwY25WbEpUSkRKVEl5YldGeWEyVnlUMlptYzJWMEpUSXlKVE5CTlNVM1JDVXlReVV5TW1sa0pUSXlKVE5CSlRJeU1UWm1Zak00WkdNMk56RXhNMlFsTWpJbE1rTWxNakpqWVhSbFoyOXllU1V5TWlVelFTVXlNbUpoYzJsakpUSXlKVEpESlRJeWJHOWphMlZrSlRJeUpUTkJabUZzYzJVbE1rTWxNakpuY205MWNDVXlNaVV6UVNVeU1pVXlNaVUzUkNVeVF5VXlNakUyWm1Jek9XTmhaRFZpTkRjekpUSXlKVE5CSlRkQ0pUSXljR0Z5Wlc1MEpUSXlKVE5CSlRJeUpUSXlKVEpESlRJeWJHbHVheVV5TWlVelFTVXlNaVV5TWlVeVF5VXlNbk5vWVhCbFUzUjViR1VsTWpJbE0wRWxOMElsTWpKaGJIQm9ZU1V5TWlVelFURWxOMFFsTWtNbE1qSjBaWGgwUW14dlkyc2xNaklsTTBFbE5VSWxOMElsTWpKd2IzTnBkR2x2YmlVeU1pVXpRU1UzUWlVeU1uY2xNaklsTTBFbE1qSjNMVEl3SlRJeUpUSkRKVEl5YUNVeU1pVXpRU1V5TW1nbE1qSWxNa01sTWpKNEpUSXlKVE5CTVRBbE1rTWxNako1SlRJeUpUTkJNQ1UzUkNVeVF5VXlNblJsZUhRbE1qSWxNMEVsTWpJbFJUWWxPRVVsUVRVbFJUVWxPRFVsUVRVbFJUa2xPVGNsUWpnbFJUWWxPVU1sUWtFbFJUVWxRVVVsUVRJbFJUWWxRalVsT0RFbFJUUWxRamdsT0VVbFJUa2xRVUlsT1RnbFJUY2xRaklsUWtVbFJUWWxRalVsT0VJbFJUY2xRa0lsT1RnbFJVWWxRa01sT0VNbFJUVWxRVVVsT1VVbFJUY2xPRVVsUWpBbFJUVWxPRFVsUVRnbFJUVWxPVUlsUVVRbFJUVWxPRUVsUVRnbFJUWWxPREFsT0RFbFJUVWxRVVVsUVRJbFJUWWxRalVsT0RFbFJUVWxPRGtsT0VFbFJUVWxRak1sUWpBbFJUVWxRVEVsUVVJbFJUZ2xRakFsUWp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m1iMjUwVTNSNWJHVWxNaklsTTBFbE4wSWxNakpqYjJ4dmNpVXlNaVV6UVNVeU1qQWxNa013SlRKRE1DVXlNaVV5UXlVeU1uTnBlbVVsTWpJbE0wRXhOU1V5UXlVeU1tSnZiR1FsTWpJbE0wRjBjblZsSlRkRUpUSkRKVEl5ZEdsMGJHVWxNaklsTTBFbE1qSWxSVGNsT1VZbFFUa2xSVFVsUWtRbFFUSWxNaklsTWtNbE1qSmtZWFJoUVhSMGNtbGlkWFJsY3lVeU1pVXpRU1UxUWlVM1FpVXlNbTVoYldVbE1qSWxNMEVsTWpJbFJUVWxRa0VsT0VZbFJUVWxPRVlsUWpjbE1qSWxNa01sTWpKcFpDVXlNaVV6UVNVeU1qRTJabUl6T1dOaU1EVmtNekEzSlRJeUpUSkRKVEl5WTJGMFpXZHZjbmtsTWpJbE0wRWxNakprWldaaGRXeDBKVEl5SlRKREpUSXlkSGx3WlNVeU1pVXpRU1V5TW01MWJXSmxjaVV5TWlVeVF5VXlNblpoYkhWbEpUSXlKVE5CSlRJeUpUSXlKVGRFSlRKREpUZENKVEl5Ym1GdFpTVXlNaVV6UVNVeU1pVkZOU1U1TUNVNFJDVkZOeVZCTnlWQ01DVXlNaVV5UXlVeU1tbGtKVEl5SlROQkpUSXlNVFptWWpNNVkySXdOV1ZsTURVbE1qSWxNa01sTWpKallYUmxaMjl5ZVNVeU1pVXpRU1V5TW1SbFptRjFiSFFsTWpJbE1rTWxNakowZVhCbEpUSXlKVE5CSlRJeWMzUnlhVzVuSlRJeUpUSkRKVEl5ZG1Gc2RXVWxNaklsTTBFbE1qSWxNaklsTjBRbE1rTWxOMElsTWpKdVlXMWxKVEl5SlROQkpUSXlKVVUySlRnNUpUZ3dKVVUySlRsREpUZzVKVVU0SlRnd0pUZzFKVEl5SlRKREpUSXlhV1FsTWpJbE0wRWxNakl4Tm1aaU16bGpZakExWlRJM09DVXlNaVV5UXlVeU1tTmhkR1ZuYjNKNUpUSXlKVE5CSlRJeVpHVm1ZWFZzZENVeU1pVXlReVV5TW5SNWNHVWxNaklsTTBFbE1qSnpkSEpwYm1jbE1qSWxNa01sTWpKMllXeDFaU1V5TWlVelFTVXlNaVV5TWlVM1JDVXlReVUzUWlVeU1tNWhiV1VsTWpJbE0wRWxNaklsUlRnbFFrWWxPVVVsUlRZbE9FVWxRVFVsTWpJbE1rTWxNakpwWkNVeU1pVXpRU1V5TWpFMlptSXpPV05pTURWbFl6UWxNaklsTWtNbE1qSmpZWFJsWjI5eWVTVXlNaVV6UVNVeU1tUmxabUYxYkhRbE1qSWxNa01sTWpKMGVYQmxKVEl5SlROQkpUSXliR2x1YXlVeU1pVXlReVV5TW5aaGJIVmxKVEl5SlROQkpUSXlKVEl5SlRkRUpUSkRKVGRDSlRJeWJtRnRaU1V5TWlVelFTVXlNaVZGTkNWQ1JTVkNSaVZGTnlWQlF5VkNRU1V5TWlVeVF5VXlNbWxrSlRJeUpUTkJKVEl5TVRabVlqTTVZMkl3TldVMVpqZ2xNaklsTWtNbE1qSmpZWFJsWjI5eWVTVXlNaVV6UVNVeU1tUmxabUYxYkhRbE1qSWxNa01sTWpKMGVYQmxKVEl5SlROQkpUSXljM1J5YVc1bkpUSXlKVEpESlRJeWRtRnNkV1VsTWpJbE0wRWxNaklsTWpJbE4wUWxOVVFsTWtNbE1qSndjbTl3Y3lVeU1pVXpRU1UzUWlVeU1ucHBibVJsZUNVeU1pVXpRVEkwSlRKREpUSXlkeVV5TWlVelFUSXdNeTR6TmpZd01qQXlNVEkxTXpnMUpUSkRKVEl5YUNVeU1pVXpRVGsyTGpRME1UWXlNakV3TXpNNE56SWxNa01sTWpKNEpUSXlKVE5CTmpFMkxqazROVEE1T0RZNE5UYzBORGdsTWtNbE1qSjVKVEl5SlROQk1qazNMalUzTXpVeU9UUXhNVGMyTkRJMEpUSkRKVEl5WVc1bmJHVWxNaklsTTBFd0pUZEVKVEpESlRJeWNHRjBhQ1V5TWlVelFTVTFRaVUzUW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WJHbHVaVk4wZVd4bEpUSXlKVE5CSlRkQ0pUSXliR2x1WlVOdmJHOXlKVEl5SlROQkpUSXlNakk1SlRKRE1qSTVKVEpETWpJNUpUSXlKVGRFSlRKREpUSXlZMmhwYkdSeVpXNGxNaklsTTBFbE5VSWxOVVFsTWtNbE1qSnlaWE5wZW1WRWFYSWxNaklsTTBFbE5VSWxNakowYkNVeU1pVXlReVV5TW5SeUpUSXlKVEpESlRJeVluSWxNaklsTWtNbE1qSmliQ1V5TWlVMVJDVXlReVV5TW01aGJXVWxNaklsTTBFbE1qSnlaV04wWVc1bmJHVWxNaklsTWtNbE1qSm1hV3hzVTNSNWJHVWxNaklsTTBFbE4wSWxNakpqYjJ4dmNpVXlNaVV6UVNVeU1qSXlPU1V5UXpJeU9TVXlRekl5T1NVeU1pVXlReVV5TW5SNWNHVWxNaklsTTBFbE1qSnpiMnhwWkNVeU1pVTNSQ1V5UXlVeU1tRjBkSEpwWW5WMFpTVXlNaVV6UVNVM1FpVXlNbU52Ym5SaGFXNWxjaVV5TWlVelFXWmhiSE5sSlRKREpUSXljbTkwWVhSaFlteGxKVEl5SlROQmRISjFaU1V5UXlVeU1uWnBjMmxpYkdVbE1qSWxNMEYwY25WbEpUSkRKVEl5WTI5c2JHRndjMkZpYkdVbE1qSWxNMEZtWVd4elpTVXlReVV5TW1OdmJHeGhjSE5sWkNVeU1pVXpRV1poYkhObEpUSkRKVEl5YkdsdWEyRmliR1VsTWpJbE0wRjBjblZsSlRKREpUSXliV0Z5YTJWeVQyWm1jMlYwSlRJeUpUTkJOU1UzUkNVeVF5VXlNbWxrSlRJeUpUTkJKVEl5TVRabVlqTTVZMkZrTldJME56TWxNaklsTWtNbE1qSmpZWFJsWjI5eWVTVXlNaVV6UVNVeU1tSmhjMmxqSlRJeUpUSkRKVEl5Ykc5amEyVmtKVEl5SlROQlptRnNjMlVsTWtNbE1qSm5jbTkxY0NVeU1pVXpRU1V5TWlVeU1pVTNSQ1V5UXlVeU1qRTJabUl6T1dNME16UTJNR1k1SlRJeUpUTkJKVGRDSlRJeWNHRnlaVzUwSlRJeUpUTkJKVEl5SlRJeUpUSkRKVEl5YkdsdWF5VXlNaVV6UVNVeU1pVXlNaVV5UXlVeU1uTm9ZWEJsVTNSNWJHVWxNaklsTTBFbE4wSWxNakpoYkhCb1lTVXlNaVV6UVRFbE4wUWxNa01sTWpKMFpYaDBRbXh2WTJzbE1qSWxNMEVsTlVJbE4wSWxNakp3YjNOcGRHbHZiaVV5TWlVelFTVTNRaVV5TW5jbE1qSWxNMEVsTWpKM0xUSXdKVEl5SlRKREpUSXlhQ1V5TWlVelFTVXlNbWdxTUM0M05TVXlNaVV5UXlVeU1uZ2xNaklsTTBFbE1qSXhNQ1V5TWlVeVF5VXlNbmtsTWpJbE0wRWxNakpvS2pBdU1qVWxNaklsTjBRbE1rTWxNakowWlhoMEpUSXlKVE5CSlRJeUpUSXlKVGRFSlRWRUpUSkRKVEl5WVc1amFHOXljeVV5TWlVelFTVTFRaVUzUWlVeU1uZ2xNaklsTTBFbE1qSjNKVEpHTWlVeU1pVXlReVV5TW5rbE1qSWxNMEVsTWpJd0pUSXlKVGRFSlRKREpUZENKVEl5ZUNVeU1pVXpRU1V5TW5jbE1rWXlKVEl5SlRKREpUSXllU1V5TWlVelFTVXlNbWdsTWpJbE4wUWxNa01sTjBJbE1qSjRKVEl5SlROQkpUSXlkeW93TGpJMUpUSXlKVEpESlRJeWVTVXlNaVV6UVNVeU1tZ2xNa1l5SlRJeUpUZEVKVEpESlRkQ0pUSXllQ1V5TWlVelFTVXlNbmNxTUM0M05TVXlNaVV5UXlVeU1ua2xNaklsTTBFbE1qSm9KVEpHTWlVeU1pVTNSQ1UxUkNVeVF5VXlNbVp2Ym5SVGRIbHNaU1V5TWlVelFTVTNRaVUzUkNVeVF5VXlNblJwZEd4bEpUSXlKVE5CSlRJeUpVVTBKVUk0SlRnNUpVVTRKVUUzSlRreUpVVTFKVUpFSlVFeUpUSXlKVEpESlRJeVpHRjBZVUYwZEhKcFluVjBaWE1sTWpJbE0wRWxOVUlsTjBJbE1qSnVZVzFsSlRJeUpUTkJKVEl5SlVVMUpVSkJKVGhHSlVVMUpUaEdKVUkzSlRJeUpUSkRKVEl5YVdRbE1qSWxNMEVsTWpJeE5tWmlNemxqTkRZME9XVXhPU1V5TWlVeVF5VXlNbU5oZEdWbmIzSjVKVEl5SlROQkpUSXlaR1ZtWVhWc2RDVXlNaVV5UXlVeU1uUjVjR1VsTWpJbE0wRWxNakp1ZFcxaVpYSWxNaklsTWtNbE1qSjJZV3gxWlNVeU1pVXpRU1V5TWlVeU1pVTNSQ1V5UXlVM1FpVXlNbTVoYldVbE1qSWxNMEVsTWpJbFJUVWxPVEFsT0VRbFJUY2xRVGNsUWpBbE1qSWxNa01sTWpKcFpDVXlNaVV6UVNVeU1qRTJabUl6T1dNME5qUTVNakZrSlRJeUpUSkRKVEl5WTJGMFpXZHZjbmtsTWpJbE0wRWxNakprWldaaGRXeDBKVEl5SlRKREpUSXlkSGx3WlNVeU1pVXpRU1V5TW5OMGNtbHVaeVV5TWlVeVF5VXlNblpoYkhWbEpUSXlKVE5CSlRJeUpUSXlKVGRFSlRKREpUZENKVEl5Ym1GdFpTVXlNaVV6UVNVeU1pVkZOaVU0T1NVNE1DVkZOaVU1UXlVNE9TVkZPQ1U0TUNVNE5TVXlNaVV5UXlVeU1tbGtKVEl5SlROQkpUSXlNVFptWWpNNVl6UTJORGt5TTJNbE1qSWxNa01sTWpKallYUmxaMjl5ZVNVeU1pVXpRU1V5TW1SbFptRjFiSFFsTWpJbE1rTWxNakowZVhCbEpUSXlKVE5CSlRJeWMzUnlhVzVuSlRJeUpUSkRKVEl5ZG1Gc2RXVWxNaklsTTBFbE1qSWxNaklsTjBRbE1rTWxOMElsTWpKdVlXMWxKVEl5SlROQkpUSXlKVVU0SlVKR0pUbEZKVVUySlRoRkpVRTFKVEl5SlRKREpUSXlhV1FsTWpJbE0wRWxNakl4Tm1aaU16bGpORFkwT1RRNVpDVXlNaVV5UXlVeU1tTmhkR1ZuYjNKNUpUSXlKVE5CSlRJeVpHVm1ZWFZzZENVeU1pVXlReVV5TW5SNWNHVWxNaklsTTBFbE1qSnNhVzVySlRJeUpUSkRKVEl5ZG1Gc2RXVWxNaklsTTBFbE1qSWxNaklsTjBRbE1rTWxOMElsTWpKdVlXMWxKVEl5SlROQkpUSXlKVVUwSlVKRkpVSkdKVVUzSlVGREpVSkJKVEl5SlRKREpUSXlhV1FsTWpJbE0wRWxNakl4Tm1aaU16bGpORFkwT1RSaFlTVXlNaVV5UXlVeU1tTmhkR1ZuYjNKNUpUSXlKVE5CSlRJeVpHVm1ZWFZzZENVeU1pVXlReVV5TW5SNWNHVWxNaklsTTBFbE1qSnpkSEpwYm1jbE1qSWxNa01sTWpKMllXeDFaU1V5TWlVelFTVXlNaVV5TWlVM1JDVTFSQ1V5UXlVeU1uQnliM0J6SlRJeUpUTkJKVGRDSlRJeWVtbHVaR1Y0SlRJeUpUTkJNVFVsTWtNbE1qSjNKVEl5SlROQk5UTXVOREU0T1RVeE1URTVNREF3TVRnMEpUSkRKVEl5YUNVeU1pVXpRVEl3SlRKREpUSXllQ1V5TWlVelFUUTVOQzQ0T1RNeU9ERXdNVE14TVRjM05pVXlReVV5TW1GdVoyeGxKVEl5SlROQk1DVXlReVV5TW5rbE1qSWxNMEUxTkRrdU5URTNPVGN6T0RVMk1qQTRPU1UzUkNVeVF5VXlNbkJoZEdnbE1qSWxNMEVsTlVJbE4wSWxNakpoWTNScGIyNXpKVEl5SlROQkpUVkNKVGRDSlRJeWVDVXlNaVV6UVNVeU1uY2xNa1l5SlRJeUpUSkRKVEl5WVdOMGFXOXVKVEl5SlROQkpUSXliVzky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U52Ykc5eUpUSXlKVE5CSlRJeU1UWTJKVEpETVRBMkpUSkRORGdsTWpJbE4wUWxNa01sTWpKamFHbHNaSEpsYmlVeU1pVXpRU1UxUWlVMVJDVXlReVV5TW5KbGMybDZaVVJwY2lVeU1pVXpRU1UxUWlVeU1uUnNKVEl5SlRKREpUSXlkSElsTWpJbE1rTWxNakppY2lVeU1pVXlReVV5TW1Kc0pUSXlKVFZFSlRKREpUSXlibUZ0WlNVeU1pVXpRU1V5TW5SeWFXRnVaMnhsSlRJeUpUSkRKVEl5Wm1sc2JGTjBlV3hsSlRJeUpUTkJKVGRDSlRJeVkyOXNiM0lsTWpJbE0wRWxNakl4TmpZbE1rTXhNRFlsTWtNME9DVXlNaVV5UXlVeU1uUjVjR1VsTWpJbE0wRWxNakp6YjJ4cFpDVXlNaVV5UXlVeU1tUnlZWGRVZVhCbEpUSXlKVE5CSlRJeWJtOXVaU1V5TWlVM1JDVXlReVV5TW1GMGRISnBZblYwWlNVeU1pVXpRU1UzUWlVeU1tTnZiblJoYVc1bGNpVXlNaVV6UVdaaGJITmxKVEpESlRJeWNtOTBZWFJoWW14bEpUSXlKVE5CZEhKMVpTVXlReVV5TW5acGMybGliR1VsTWpJbE0wRjBjblZsSlRKREpUSXlZMjlzYkdGd2MyRmliR1VsTWpJbE0wRm1ZV3h6WlNVeVF5VXlNbU52Ykd4aGNITmxaQ1V5TWlVelFXWmhiSE5sSlRKREpUSXliR2x1YTJGaWJHVWxNaklsTTBGMGNuVmxKVEpESlRJeWJXRnlhMlZ5VDJabWMyVjBKVEl5SlROQk5TVTNSQ1V5UXlVeU1tbGtKVEl5SlROQkpUSXlNVFptWWpNNVl6UXpORFl3WmprbE1qSWxNa01sTWpKallYUmxaMjl5ZVNVeU1pVXpRU1V5TW1KaGMybGpKVEl5SlRKREpUSXliRzlqYTJWa0pUSXlKVE5CWm1Gc2MyVWxNa01sTWpKbmNtOTFjQ1V5TWlVelFTVXlNaVV5TWlVM1JDVXlReVV5TWpFMlptSXpPR0V6WXpWak5URmtKVEl5SlROQkpUZENKVEl5YkdsdWEyVnlWSGx3WlNVeU1pVXpRU1V5TW1KeWIydGxiaVV5TWlVeVF5VXlNbXhwYm1WVGRIbHNaU1V5TWlVelFTVTNRaVV5TW14cGJtVkRiMnh2Y2lVeU1pVXpRU1V5TWpFNU1TVXlRekU1TVNVeVF6RTVNU1V5TWlVeVF5VXlNbUpsWjJsdVFYSnliM2RUZEhsc1pTVXlNaVV6UVNVeU1uTnZiR2xrUTJseVkyeGxKVEl5SlRKREpUSXliR2x1WlZkcFpIUm9KVEl5SlROQk9DVTNSQ1V5UXlVeU1tNWhiV1VsTWpJbE0wRWxNakpzYVc1clpYSWxNaklsTWtNbE1qSm1jbTl0SlRJeUpUTkJKVGRDSlRJeWVDVXlNaVV6UVRNekxqazVPVGs1T1RrNU9UazVPVGs1SlRKREpUSXllU1V5TWlVelFUUTRNUzQ1T1RrNU9UazVPVGs1T1RrNUpUZEVKVEpESlRJeWFXUWxNaklsTTBFbE1qSXhObVppTXpoaE0yTTFZelV4WkNVeU1pVXlReVV5TW5SdkpUSXlKVE5CSlRkQ0pUSXllQ1V5TWlVelFURXdNVE11TXpNek16TXpNek16TXpNek15VXlReVV5TW5rbE1qSWxNMEUwT0RFdU9UazVPVGs1T1RrNU9UazVPU1UzUkNVeVF5VXlNblJsZUhRbE1qSWxNMEVsTWpJbE1qSWxNa01sTWpKc2IyTnJaV1FsTWpJbE0wRjBjblZsSlRKREpUSXljRzlwYm5SekpUSXlKVE5CSlRWQ0pUZENKVEl5ZUNVeU1pVXpRVFV5TXk0Mk5qWTJOalkyTmpZMk5qWTJKVEpESlRJeWVTVXlNaVV6UVRRNE1TNDVPVGs1T1RrNU9UazVPVGs1SlRkRUpUSkRKVGRDSlRJeWVDVXlNaVV6UVRVeU15NDJOalkyTmpZMk5qWTJOalkySlRKREpUSXllU1V5TWlVelFUUTRNUzQ1T1RrNU9UazVPVGs1T1RrNUpUZEVKVFZFSlRKREpUSXlaR0YwWVVGMGRISnBZblYwWlhNbE1qSWxNMEVsTlVJbE5VUWxNa01sTWpKbmNtOTFjQ1V5TWlVelFTVXlNaVV5TWlVeVF5VXlNbkJ5YjNCekpUSXlKVE5CSlRkQ0pUSXllbWx1WkdWNEpUSXlKVE5CTUNVM1JDVXlReVV5TW5SbGVIUkNiRzlqYXlVeU1pVXpRU1UxUWlVMVJDVTNSQ1UzUkNVeVF5VXlNbU52YlcxbGJuUnpKVEl5SlROQkpUVkNKVFZFSlRKREpUSXljR3gxWjJsdWN5VXlNaVV6UVNVM1FpVTNSQ1V5UXlVeU1tRnBRMjl1ZEdGcGJtVnljeVV5TWlVelFTVTNRaVUzUkNVeVF5VXlNbWx1YzJWeWRGQmhaMlZQY0hSekpUSXlKVE5CSlRkQ0pUZEVKVEpESlRJeWNHOXpkRkJoZVcxbGJuUWxNaklsTTBFbE4wSWxOMFFsTjBRPSIsCgkiRmlsZUlkIiA6ICI0NjMyY2FjYS02YzcxLTQ1MjMtYmNlOS03MTUzZDA5ZDBiNjYiCn0K"/>
    </extobj>
  </extobjs>
</s:customData>
</file>

<file path=customXml/itemProps8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6480</Words>
  <Application>WPS 演示</Application>
  <PresentationFormat>宽屏</PresentationFormat>
  <Paragraphs>856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57" baseType="lpstr">
      <vt:lpstr>Arial</vt:lpstr>
      <vt:lpstr>宋体</vt:lpstr>
      <vt:lpstr>Wingdings</vt:lpstr>
      <vt:lpstr>微软雅黑</vt:lpstr>
      <vt:lpstr>Arial</vt:lpstr>
      <vt:lpstr>汉仪闫锐敏行楷简</vt:lpstr>
      <vt:lpstr>Artifakt Element Black</vt:lpstr>
      <vt:lpstr>华文行楷</vt:lpstr>
      <vt:lpstr>黑体</vt:lpstr>
      <vt:lpstr>造字工房格黑体</vt:lpstr>
      <vt:lpstr>方正粗黑宋简体</vt:lpstr>
      <vt:lpstr>Wingdings</vt:lpstr>
      <vt:lpstr>潮字社混元简繁</vt:lpstr>
      <vt:lpstr>汉仪元隆黑-105W</vt:lpstr>
      <vt:lpstr>字魂逍遥行书</vt:lpstr>
      <vt:lpstr>文道潮黑体</vt:lpstr>
      <vt:lpstr>梦源黑体 CN W15</vt:lpstr>
      <vt:lpstr>锐字洪荒之力简 中黑</vt:lpstr>
      <vt:lpstr>印品酷黑体</vt:lpstr>
      <vt:lpstr>三极黑宋体 纤细</vt:lpstr>
      <vt:lpstr>汉仪行楷简</vt:lpstr>
      <vt:lpstr>字魂方悦黑</vt:lpstr>
      <vt:lpstr>方正铭石体 简</vt:lpstr>
      <vt:lpstr>方正小标宋简体</vt:lpstr>
      <vt:lpstr>汉仪力量黑简</vt:lpstr>
      <vt:lpstr>华文隶书</vt:lpstr>
      <vt:lpstr>微软雅黑</vt:lpstr>
      <vt:lpstr>汉仪综艺体简</vt:lpstr>
      <vt:lpstr>方正颜宋体</vt:lpstr>
      <vt:lpstr>阿里巴巴普惠体 M</vt:lpstr>
      <vt:lpstr>方正字迹-龙吟体 简</vt:lpstr>
      <vt:lpstr>汉仪雅酷黑简</vt:lpstr>
      <vt:lpstr>汉仪黑方简</vt:lpstr>
      <vt:lpstr>三极榜楷简体</vt:lpstr>
      <vt:lpstr>汉仪颜楷简</vt:lpstr>
      <vt:lpstr>Arial Unicode MS</vt:lpstr>
      <vt:lpstr>Calibri</vt:lpstr>
      <vt:lpstr>梦源黑体 CN W15</vt:lpstr>
      <vt:lpstr>华康黑体W12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紫沫无燕</cp:lastModifiedBy>
  <cp:revision>181</cp:revision>
  <dcterms:created xsi:type="dcterms:W3CDTF">2026-09-24T07:37:00Z</dcterms:created>
  <dcterms:modified xsi:type="dcterms:W3CDTF">2026-10-06T13:22:25Z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B237E82CA4A945ABB78EFF374FF52396_11</vt:lpwstr>
  </property>
</Properties>
</file>