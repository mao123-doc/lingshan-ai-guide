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-1.jpg" ContentType="image/jpg"/>
  <Override PartName="/ppt/media/image-13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问答准确率 (%)</c:v>
                </c:pt>
              </c:strCache>
            </c:strRef>
          </c:tx>
          <c:spPr>
            <a:solidFill>
              <a:srgbClr val="B08D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42A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仅结构化</c:v>
                </c:pt>
                <c:pt idx="1">
                  <c:v>仅向量</c:v>
                </c:pt>
                <c:pt idx="2">
                  <c:v>向量+重排</c:v>
                </c:pt>
                <c:pt idx="3">
                  <c:v>仅关键词</c:v>
                </c:pt>
                <c:pt idx="4">
                  <c:v>全检索无重排</c:v>
                </c:pt>
                <c:pt idx="5">
                  <c:v>全检索无改写</c:v>
                </c:pt>
                <c:pt idx="6">
                  <c:v>完整方案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66.0</c:v>
                </c:pt>
                <c:pt idx="1">
                  <c:v>94.0</c:v>
                </c:pt>
                <c:pt idx="2">
                  <c:v>94.0</c:v>
                </c:pt>
                <c:pt idx="3">
                  <c:v>96.0</c:v>
                </c:pt>
                <c:pt idx="4">
                  <c:v>90.0</c:v>
                </c:pt>
                <c:pt idx="5">
                  <c:v>98.0</c:v>
                </c:pt>
                <c:pt idx="6">
                  <c:v>98.0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事实召回率 (%)</c:v>
                </c:pt>
              </c:strCache>
            </c:strRef>
          </c:tx>
          <c:spPr>
            <a:solidFill>
              <a:srgbClr val="B08D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42A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仅结构化</c:v>
                </c:pt>
                <c:pt idx="1">
                  <c:v>仅向量</c:v>
                </c:pt>
                <c:pt idx="2">
                  <c:v>向量+重排</c:v>
                </c:pt>
                <c:pt idx="3">
                  <c:v>仅关键词</c:v>
                </c:pt>
                <c:pt idx="4">
                  <c:v>全检索无重排</c:v>
                </c:pt>
                <c:pt idx="5">
                  <c:v>全检索无改写</c:v>
                </c:pt>
                <c:pt idx="6">
                  <c:v>完整方案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69.4</c:v>
                </c:pt>
                <c:pt idx="1">
                  <c:v>96.0</c:v>
                </c:pt>
                <c:pt idx="2">
                  <c:v>95.0</c:v>
                </c:pt>
                <c:pt idx="3">
                  <c:v>97.7</c:v>
                </c:pt>
                <c:pt idx="4">
                  <c:v>93.3</c:v>
                </c:pt>
                <c:pt idx="5">
                  <c:v>99.3</c:v>
                </c:pt>
                <c:pt idx="6">
                  <c:v>98.0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42A2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478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封面定位：10 秒内让评委知道这是一个 AI 景区导游系统。避免堆技术名词。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3 个真实游客问题说明痛点：知识、个体状态、时间、空间、决策多约束并存。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这一页是整套汇报的逻辑锚点：知识（多路RAG）、理解（场景状态）、决策（约束规划）三者汇聚为 AI 数字人导游。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极简流程：游客 → 状态解析 → Hybrid RAG + Route Planner → LLM → 数字人/语音/地图。不画工程架构大图。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结合真实案例解释：语义问题→Vector；精确名称/编号→Keyword；票价/时间等结构化事实→Structured。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3 个问题让不懂 RAG 的评委 15 秒内理解：为什么单一向量检索有盲区。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最重要的数据页之一。图表按仓库真实消融结果绘制（94/66/96/98；组件 98/90/98），注明模型身份差异与单次运行观察值。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展示真实输入解析为结构化状态。字段来自 scene-state.ts 的 SceneStateSchema。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路线不是 LLM 随机生成，而是由约束驱动的确定性搜索；配真实路网资产（23 POI / 30 边 / 2 演艺 / 3 设施）与 60 用例验证。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三张指标卡突出系统化评测体系本身是竞赛亮点；注明评测边界（离线评测≠用户满意度）。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全片最重要的一页：用真实演示主线展示三个创新如何协同。来源：docs/competition/demo-script.md。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优先真实截图/素材：数字人形象为项目真实素材（Live2D 角色）。数字人是表现层，不包装成算法创新。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证明系统可迁移、可推广。不堆虚假市场规模，强调数据与算法解耦带来的复用价值。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收尾：三个核心能力 + 三个真实实验数字 + 一句话总结。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Dev/ppt-build/assets/cover_daf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502920"/>
            <a:ext cx="3639312" cy="5349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28432" y="502920"/>
            <a:ext cx="3639312" cy="5349240"/>
          </a:xfrm>
          <a:prstGeom prst="rect">
            <a:avLst/>
          </a:prstGeom>
          <a:ln w="15875">
            <a:solidFill>
              <a:srgbClr val="B08D57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11777472" y="0"/>
            <a:ext cx="411480" cy="685800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02920" y="566928"/>
            <a:ext cx="50292" cy="237744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30936" y="5029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人工·智能算法精英大赛  ·  AI+场景创新赛道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02920" y="221284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面向真实景区复杂场景的 AI 数字人导游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" y="2907792"/>
            <a:ext cx="822960" cy="27432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307238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融合多路知识检索 · 游客状态理解 · 多约束路线规划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37033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从「回答旅游问题」进一步走向「理解游客、规划行程、辅助游览决策」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806440"/>
            <a:ext cx="722376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59436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t>项目仓库  github.com/Mao123-doc/lingshan-ai-guide     |    全国总决赛汇报 · 2026.09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2920" y="61996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全部实验数据来自仓库 evaluation/results 真实记录，未虚构指标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场景与痛点  ·  02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传统景区导览难以处理复杂、动态、个性化的游客需求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17904"/>
            <a:ext cx="3584448" cy="2395728"/>
          </a:xfrm>
          <a:prstGeom prst="roundRect">
            <a:avLst>
              <a:gd name="adj" fmla="val 171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645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“我带着 70 岁的父母，限时 5 小时，怎么游览？”</a:t>
            </a:r>
          </a:p>
        </p:txBody>
      </p:sp>
      <p:sp>
        <p:nvSpPr>
          <p:cNvPr id="10" name="Text 8"/>
          <p:cNvSpPr/>
          <p:nvPr/>
        </p:nvSpPr>
        <p:spPr>
          <a:xfrm>
            <a:off x="795528" y="2048256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11" name="Shape 9"/>
          <p:cNvSpPr/>
          <p:nvPr/>
        </p:nvSpPr>
        <p:spPr>
          <a:xfrm>
            <a:off x="795528" y="3044952"/>
            <a:ext cx="2999232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🚨【物理拓扑盲区】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普通 FAQ 缺乏坡度与台阶模型，盲目推荐轮椅攀登 216 级长阶天梯！</a:t>
            </a:r>
          </a:p>
        </p:txBody>
      </p:sp>
      <p:sp>
        <p:nvSpPr>
          <p:cNvPr id="13" name="Shape 11"/>
          <p:cNvSpPr/>
          <p:nvPr/>
        </p:nvSpPr>
        <p:spPr>
          <a:xfrm>
            <a:off x="4251960" y="1517904"/>
            <a:ext cx="3584448" cy="2395728"/>
          </a:xfrm>
          <a:prstGeom prst="roundRect">
            <a:avLst>
              <a:gd name="adj" fmla="val 171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/>
          <a:p/>
        </p:txBody>
      </p:sp>
      <p:sp>
        <p:nvSpPr>
          <p:cNvPr id="14" name="Text 12"/>
          <p:cNvSpPr/>
          <p:nvPr/>
        </p:nvSpPr>
        <p:spPr>
          <a:xfrm>
            <a:off x="450799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15" name="Text 13"/>
          <p:cNvSpPr/>
          <p:nvPr/>
        </p:nvSpPr>
        <p:spPr>
          <a:xfrm>
            <a:off x="4297680" y="1645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“14:30 有演出，我现在在正门，怎么去梵宫？”</a:t>
            </a:r>
          </a:p>
        </p:txBody>
      </p:sp>
      <p:sp>
        <p:nvSpPr>
          <p:cNvPr id="16" name="Shape 14"/>
          <p:cNvSpPr/>
          <p:nvPr/>
        </p:nvSpPr>
        <p:spPr>
          <a:xfrm>
            <a:off x="4544568" y="3044952"/>
            <a:ext cx="2999232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9768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🚨【时空时效错配】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正门至梵宫 1.4km (步行需 22min)，演出提前 15min 停检，盲目推荐导致游客狂奔依然扑空！</a:t>
            </a:r>
          </a:p>
        </p:txBody>
      </p:sp>
      <p:sp>
        <p:nvSpPr>
          <p:cNvPr id="18" name="Shape 16"/>
          <p:cNvSpPr/>
          <p:nvPr/>
        </p:nvSpPr>
        <p:spPr>
          <a:xfrm>
            <a:off x="8001000" y="1517904"/>
            <a:ext cx="3584448" cy="2395728"/>
          </a:xfrm>
          <a:prstGeom prst="roundRect">
            <a:avLst>
              <a:gd name="adj" fmla="val 171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/>
          <a:p/>
        </p:txBody>
      </p:sp>
      <p:sp>
        <p:nvSpPr>
          <p:cNvPr id="19" name="Text 17"/>
          <p:cNvSpPr/>
          <p:nvPr/>
        </p:nvSpPr>
        <p:spPr>
          <a:xfrm>
            <a:off x="825703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20" name="Text 18"/>
          <p:cNvSpPr/>
          <p:nvPr/>
        </p:nvSpPr>
        <p:spPr>
          <a:xfrm>
            <a:off x="7818120" y="1645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“灵山大佛门票多少钱？20 分钟能游览完吗？”</a:t>
            </a:r>
          </a:p>
        </p:txBody>
      </p:sp>
      <p:sp>
        <p:nvSpPr>
          <p:cNvPr id="21" name="Shape 19"/>
          <p:cNvSpPr/>
          <p:nvPr/>
        </p:nvSpPr>
        <p:spPr>
          <a:xfrm>
            <a:off x="8293608" y="3044952"/>
            <a:ext cx="2999232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81812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🚨【事实数值幻觉】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门票全票 210 元非 50 元；20 分钟根本无法游园，大模型过度谄媚强行编造！</a:t>
            </a:r>
          </a:p>
        </p:txBody>
      </p:sp>
      <p:sp>
        <p:nvSpPr>
          <p:cNvPr id="23" name="Shape 21"/>
          <p:cNvSpPr/>
          <p:nvPr/>
        </p:nvSpPr>
        <p:spPr>
          <a:xfrm>
            <a:off x="502920" y="4224528"/>
            <a:ext cx="11185855" cy="1737360"/>
          </a:xfrm>
          <a:prstGeom prst="roundRect">
            <a:avLst>
              <a:gd name="adj" fmla="val 2368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8680" y="44256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景区智能导览真正面对的是 —— 多个问题同时存在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" y="4937760"/>
            <a:ext cx="1572768" cy="475488"/>
          </a:xfrm>
          <a:prstGeom prst="roundRect">
            <a:avLst>
              <a:gd name="adj" fmla="val 96154"/>
            </a:avLst>
          </a:prstGeom>
          <a:solidFill>
            <a:srgbClr val="8A6B3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" y="4937760"/>
            <a:ext cx="157276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景区知识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587752" y="4937760"/>
            <a:ext cx="1572768" cy="475488"/>
          </a:xfrm>
          <a:prstGeom prst="roundRect">
            <a:avLst>
              <a:gd name="adj" fmla="val 96154"/>
            </a:avLst>
          </a:prstGeom>
          <a:solidFill>
            <a:srgbClr val="8A6B3C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87752" y="4937760"/>
            <a:ext cx="157276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游客个体状态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306824" y="4937760"/>
            <a:ext cx="1572768" cy="475488"/>
          </a:xfrm>
          <a:prstGeom prst="roundRect">
            <a:avLst>
              <a:gd name="adj" fmla="val 96154"/>
            </a:avLst>
          </a:prstGeom>
          <a:solidFill>
            <a:srgbClr val="8A6B3C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306824" y="4937760"/>
            <a:ext cx="157276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时间约束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025896" y="4937760"/>
            <a:ext cx="1572768" cy="475488"/>
          </a:xfrm>
          <a:prstGeom prst="roundRect">
            <a:avLst>
              <a:gd name="adj" fmla="val 96154"/>
            </a:avLst>
          </a:prstGeom>
          <a:solidFill>
            <a:srgbClr val="8A6B3C"/>
          </a:solidFill>
          <a:ln/>
        </p:spPr>
        <p:txBody>
          <a:bodyPr wrap="square"/>
          <a:p/>
        </p:txBody>
      </p:sp>
      <p:sp>
        <p:nvSpPr>
          <p:cNvPr id="32" name="Text 30"/>
          <p:cNvSpPr/>
          <p:nvPr/>
        </p:nvSpPr>
        <p:spPr>
          <a:xfrm>
            <a:off x="6025896" y="4937760"/>
            <a:ext cx="157276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空间约束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744968" y="4937760"/>
            <a:ext cx="1572768" cy="475488"/>
          </a:xfrm>
          <a:prstGeom prst="roundRect">
            <a:avLst>
              <a:gd name="adj" fmla="val 96154"/>
            </a:avLst>
          </a:prstGeom>
          <a:solidFill>
            <a:srgbClr val="8A6B3C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744968" y="4937760"/>
            <a:ext cx="157276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游览决策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【探索性预调研 n=50，不外推至全部游客】：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▪ 82.0% (41/50) 曾因排队错过演艺   ▪ 66.0% (33/50) 遭遇台阶陡坡折返（行动受限样本 93.3%，28/30）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▪ 74.0% (37/50) 曾遭遇通用大模型事实幻觉   ▪ 90.0% (45/50) 表达使用意愿！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问题抽象  ·  03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真正的智能导游，需要同时解决「知识、理解、决策」三个问题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3310128" cy="3063240"/>
          </a:xfrm>
          <a:prstGeom prst="roundRect">
            <a:avLst>
              <a:gd name="adj" fmla="val 1343"/>
            </a:avLst>
          </a:prstGeom>
          <a:solidFill>
            <a:srgbClr val="FFFFFF"/>
          </a:solidFill>
          <a:ln w="9525">
            <a:solidFill>
              <a:srgbClr val="B08D5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60120" y="246888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80720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知道景区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60120" y="3429000"/>
            <a:ext cx="731520" cy="27432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357530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多路混合 RAG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941064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可靠获取景区知识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 · 专名 · 结构化事实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1600200"/>
            <a:ext cx="3310128" cy="3063240"/>
          </a:xfrm>
          <a:prstGeom prst="roundRect">
            <a:avLst>
              <a:gd name="adj" fmla="val 1343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26280" y="246888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280720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理解游客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26280" y="3429000"/>
            <a:ext cx="731520" cy="27432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26280" y="357530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场景状态解析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26280" y="3941064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感知个体约束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· 行动能力 · 偏好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0" y="1600200"/>
            <a:ext cx="3310128" cy="3063240"/>
          </a:xfrm>
          <a:prstGeom prst="roundRect">
            <a:avLst>
              <a:gd name="adj" fmla="val 1343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09244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092440" y="246888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92440" y="280720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规划游览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092440" y="3429000"/>
            <a:ext cx="731520" cy="27432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092440" y="357530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多约束路线规划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92440" y="3941064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生成可执行决策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满足硬约束与时间线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0" y="2514600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23760" y="2514600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789920" y="2514600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776472" y="4718304"/>
            <a:ext cx="3749040" cy="1133856"/>
          </a:xfrm>
          <a:prstGeom prst="ellipse">
            <a:avLst/>
          </a:prstGeom>
          <a:solidFill>
            <a:srgbClr val="242A2E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776472" y="471830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数字人导游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3776472" y="5303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理解游客 → 检索知识 → 辅助决策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95144" y="4645152"/>
            <a:ext cx="0" cy="365760"/>
          </a:xfrm>
          <a:prstGeom prst="line">
            <a:avLst/>
          </a:prstGeom>
          <a:noFill/>
          <a:ln w="15875">
            <a:solidFill>
              <a:srgbClr val="E4DED4"/>
            </a:solidFill>
            <a:prstDash val="solid"/>
          </a:ln>
        </p:spPr>
        <p:txBody>
          <a:bodyPr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36" name="Shape 34"/>
          <p:cNvSpPr/>
          <p:nvPr/>
        </p:nvSpPr>
        <p:spPr>
          <a:xfrm>
            <a:off x="2295144" y="5010912"/>
            <a:ext cx="3355848" cy="0"/>
          </a:xfrm>
          <a:prstGeom prst="line">
            <a:avLst/>
          </a:prstGeom>
          <a:noFill/>
          <a:ln w="1587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861304" y="4645152"/>
            <a:ext cx="0" cy="365760"/>
          </a:xfrm>
          <a:prstGeom prst="line">
            <a:avLst/>
          </a:prstGeom>
          <a:noFill/>
          <a:ln w="1587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650992" y="5010912"/>
            <a:ext cx="210312" cy="0"/>
          </a:xfrm>
          <a:prstGeom prst="line">
            <a:avLst/>
          </a:prstGeom>
          <a:noFill/>
          <a:ln w="1587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427464" y="4645152"/>
            <a:ext cx="0" cy="365760"/>
          </a:xfrm>
          <a:prstGeom prst="line">
            <a:avLst/>
          </a:prstGeom>
          <a:noFill/>
          <a:ln w="1587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5650992" y="5010912"/>
            <a:ext cx="3776472" cy="0"/>
          </a:xfrm>
          <a:prstGeom prst="line">
            <a:avLst/>
          </a:prstGeom>
          <a:noFill/>
          <a:ln w="1587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650992" y="5010912"/>
            <a:ext cx="0" cy="256032"/>
          </a:xfrm>
          <a:prstGeom prst="line">
            <a:avLst/>
          </a:prstGeom>
          <a:noFill/>
          <a:ln w="15875">
            <a:solidFill>
              <a:srgbClr val="E4DED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系统方案  ·  04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构建覆盖「问—懂—查—规划—交互」的 AI 导游闭环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1975104" cy="1234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3816" y="1883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3816" y="21762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3816" y="257860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/ 语音 / 图片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06040" y="2212848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25496" y="1737360"/>
            <a:ext cx="1975104" cy="1234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44952" y="1883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44952" y="21762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意图与游客状态解析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44952" y="257860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 · 在哪 · 还有多少时间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37176" y="2212848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56632" y="1737360"/>
            <a:ext cx="1975104" cy="1234440"/>
          </a:xfrm>
          <a:prstGeom prst="roundRect">
            <a:avLst>
              <a:gd name="adj" fmla="val 3333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76088" y="1883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76088" y="21762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 RAG + 约束规划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76088" y="257860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多路检索 + 确定性路线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68312" y="2212848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87768" y="1737360"/>
            <a:ext cx="1975104" cy="1234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507224" y="1883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07224" y="21762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07224" y="257860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有证据的回答与解释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99448" y="2212848"/>
            <a:ext cx="2377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18904" y="1737360"/>
            <a:ext cx="1975104" cy="1234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738360" y="1883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38360" y="217627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数字人 / 语音 / 地图 / 推荐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738360" y="257860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可交互的游览决策输出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3429000"/>
            <a:ext cx="11002975" cy="1051560"/>
          </a:xfrm>
          <a:prstGeom prst="roundRect">
            <a:avLst>
              <a:gd name="adj" fmla="val 3913"/>
            </a:avLst>
          </a:prstGeom>
          <a:solidFill>
            <a:srgbClr val="F1EAE0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6012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一句话方案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39044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游客的自然语言需求先被解析为结构化状态，再通过「多路检索拿事实 + 确定性规划算路线」，最后由大模型组织成有温度的回答——每一步都有据可查。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436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支撑层（辅助信息，不构成创新点）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4360" y="5047488"/>
            <a:ext cx="1975104" cy="329184"/>
          </a:xfrm>
          <a:prstGeom prst="roundRect">
            <a:avLst>
              <a:gd name="adj" fmla="val 138889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94360" y="5038344"/>
            <a:ext cx="197510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· TypeScript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79192" y="5047488"/>
            <a:ext cx="1975104" cy="329184"/>
          </a:xfrm>
          <a:prstGeom prst="roundRect">
            <a:avLst>
              <a:gd name="adj" fmla="val 138889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79192" y="5038344"/>
            <a:ext cx="197510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· Ant Design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64024" y="5047488"/>
            <a:ext cx="1975104" cy="329184"/>
          </a:xfrm>
          <a:prstGeom prst="roundRect">
            <a:avLst>
              <a:gd name="adj" fmla="val 138889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764024" y="5038344"/>
            <a:ext cx="197510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ChromaDB + BGE 中文模型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4360" y="5468112"/>
            <a:ext cx="1975104" cy="329184"/>
          </a:xfrm>
          <a:prstGeom prst="roundRect">
            <a:avLst>
              <a:gd name="adj" fmla="val 138889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94360" y="5458968"/>
            <a:ext cx="197510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edge-tts · ASR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679192" y="5468112"/>
            <a:ext cx="1975104" cy="329184"/>
          </a:xfrm>
          <a:prstGeom prst="roundRect">
            <a:avLst>
              <a:gd name="adj" fmla="val 138889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679192" y="5458968"/>
            <a:ext cx="197510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Live2D 数字人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64024" y="5468112"/>
            <a:ext cx="1975104" cy="329184"/>
          </a:xfrm>
          <a:prstGeom prst="roundRect">
            <a:avLst>
              <a:gd name="adj" fmla="val 138889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764024" y="5458968"/>
            <a:ext cx="197510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Agnes LLM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9436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后端框架、数据库与中间件只是支撑层；核心价值在中间「懂—查—规划」智能链路。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 01 · Hybrid RAG  ·  05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多路混合 RAG：让不同性质的问题获得互补证据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5532120" cy="4160520"/>
          </a:xfrm>
          <a:prstGeom prst="roundRect">
            <a:avLst>
              <a:gd name="adj" fmla="val 98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检索流水线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176272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23113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游客问题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口语化 · 多约束 · 混合表达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2960" y="2871216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5840" y="29260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问题分析 / Query Analysis</a:t>
            </a:r>
          </a:p>
        </p:txBody>
      </p:sp>
      <p:sp>
        <p:nvSpPr>
          <p:cNvPr id="15" name="Text 13"/>
          <p:cNvSpPr/>
          <p:nvPr/>
        </p:nvSpPr>
        <p:spPr>
          <a:xfrm>
            <a:off x="1005840" y="316382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识别问题类型，仅用于 Trace 标注与结果解释</a:t>
            </a:r>
          </a:p>
        </p:txBody>
      </p:sp>
      <p:sp>
        <p:nvSpPr>
          <p:cNvPr id="16" name="Shape 14"/>
          <p:cNvSpPr/>
          <p:nvPr/>
        </p:nvSpPr>
        <p:spPr>
          <a:xfrm>
            <a:off x="822960" y="3566160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1EAE0"/>
          </a:solidFill>
          <a:ln w="12700">
            <a:solidFill>
              <a:srgbClr val="B08D5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362102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三路并行检索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385876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· Keyword · Structured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2960" y="4261104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05840" y="43159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RRF 统一候选 + Rerank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05840" y="455371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k=60 融合，精排上下文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22960" y="4956048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5840" y="50109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→ LLM 生成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5840" y="524865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带证据的回答 + 完整 Trace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5508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不同问题 → 不同解释重点（三路并行召回）</a:t>
            </a:r>
          </a:p>
        </p:txBody>
      </p:sp>
      <p:sp>
        <p:nvSpPr>
          <p:cNvPr id="26" name="Shape 24"/>
          <p:cNvSpPr/>
          <p:nvPr/>
        </p:nvSpPr>
        <p:spPr>
          <a:xfrm>
            <a:off x="6355080" y="1975104"/>
            <a:ext cx="5303520" cy="1225296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611112" y="2176272"/>
            <a:ext cx="1783080" cy="384048"/>
          </a:xfrm>
          <a:prstGeom prst="roundRect">
            <a:avLst>
              <a:gd name="adj" fmla="val 119048"/>
            </a:avLst>
          </a:prstGeom>
          <a:solidFill>
            <a:srgbClr val="8A6B3C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611112" y="2167128"/>
            <a:ext cx="17830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语义召回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11112" y="2633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 / 同义表达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76488" y="2176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“梵宫有多大规模？”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76488" y="2688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 中文向量，处理说法差异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3364992"/>
            <a:ext cx="5303520" cy="1225296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611112" y="3566160"/>
            <a:ext cx="1783080" cy="384048"/>
          </a:xfrm>
          <a:prstGeom prst="roundRect">
            <a:avLst>
              <a:gd name="adj" fmla="val 119048"/>
            </a:avLst>
          </a:prstGeom>
          <a:solidFill>
            <a:srgbClr val="8A6B3C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611112" y="3557016"/>
            <a:ext cx="17830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Keyword 精确命中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11112" y="40233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精确专名 / 编号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76488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“百子戏弥勒”在哪个区域？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476488" y="40782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专名、短词、原文命中不漂移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55080" y="4754880"/>
            <a:ext cx="5303520" cy="1225296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611112" y="4956048"/>
            <a:ext cx="1783080" cy="384048"/>
          </a:xfrm>
          <a:prstGeom prst="roundRect">
            <a:avLst>
              <a:gd name="adj" fmla="val 119048"/>
            </a:avLst>
          </a:prstGeom>
          <a:solidFill>
            <a:srgbClr val="8A6B3C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611112" y="4946904"/>
            <a:ext cx="178308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Structured 字段级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11112" y="5413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结构化事实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476488" y="4956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《吉祥颂》14:00 场次多久？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476488" y="5468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 · 时长 · 票价 · 开放窗口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" y="5870448"/>
            <a:ext cx="11185855" cy="475488"/>
          </a:xfrm>
          <a:prstGeom prst="roundRect">
            <a:avLst>
              <a:gd name="adj" fmla="val 8654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创新不是「用了 RAG」，而是为不同类型的事实设计互补检索通道，并用 Trace 证明每路真实执行、召回了什么、如何影响最终回答。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 01 · Hybrid RAG  ·  06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单一向量检索存在盲区：不同问题需要不同的信息获取机制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1185855" cy="1298448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7739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“灵山大佛有多高？”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3042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 · 常见问答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810512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BF1EC"/>
          </a:solidFill>
          <a:ln w="9525">
            <a:solidFill>
              <a:srgbClr val="E7C9B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74920" y="1883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48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单一向量检索的盲区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4920" y="212140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向量可召回相似问法，但缺少精确事实对齐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098280" y="1810512"/>
            <a:ext cx="2560320" cy="786384"/>
          </a:xfrm>
          <a:prstGeom prst="roundRect">
            <a:avLst>
              <a:gd name="adj" fmla="val 9302"/>
            </a:avLst>
          </a:prstGeom>
          <a:solidFill>
            <a:srgbClr val="F1EAE0"/>
          </a:solidFill>
          <a:ln w="12700">
            <a:solidFill>
              <a:srgbClr val="B08D5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235440" y="1883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对应通道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235440" y="21214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语义召回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999232"/>
            <a:ext cx="11185855" cy="1298448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3218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“百子戏弥勒” 在哪个区域？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749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精确专名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255264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BF1EC"/>
          </a:solidFill>
          <a:ln w="9525">
            <a:solidFill>
              <a:srgbClr val="E7C9B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74920" y="3328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48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单一向量检索的盲区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35661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近义词干扰下，向量可能被语义「带偏」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98280" y="3255264"/>
            <a:ext cx="2560320" cy="786384"/>
          </a:xfrm>
          <a:prstGeom prst="roundRect">
            <a:avLst>
              <a:gd name="adj" fmla="val 9302"/>
            </a:avLst>
          </a:prstGeom>
          <a:solidFill>
            <a:srgbClr val="F1EAE0"/>
          </a:solidFill>
          <a:ln w="12700">
            <a:solidFill>
              <a:srgbClr val="B08D5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235440" y="3328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对应通道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35440" y="35661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Keyword 精确命中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443984"/>
            <a:ext cx="11185855" cy="1298448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2960" y="4663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《吉祥颂》14:00 场次演出多长时间？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" y="51937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结构化事实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4700016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BF1EC"/>
          </a:solidFill>
          <a:ln w="9525">
            <a:solidFill>
              <a:srgbClr val="E7C9B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074920" y="4773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48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单一向量检索的盲区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4920" y="501091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向量难以稳定对齐「时刻 · 时长」字段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98280" y="4700016"/>
            <a:ext cx="2560320" cy="786384"/>
          </a:xfrm>
          <a:prstGeom prst="roundRect">
            <a:avLst>
              <a:gd name="adj" fmla="val 9302"/>
            </a:avLst>
          </a:prstGeom>
          <a:solidFill>
            <a:srgbClr val="F1EAE0"/>
          </a:solidFill>
          <a:ln w="12700">
            <a:solidFill>
              <a:srgbClr val="B08D57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235440" y="4773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对应通道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235440" y="501091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Structured 字段级保证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8182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77240" y="58064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多路检索的价值：为不同类型的事实设计互补通道，减少「看似相关、实则漏检」，让回答有证据可依。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实验验证 · 消融  ·  07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权威基线 96.0% (48/50) ｜ 受控消融完整方案单次观察值 98.0%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19495" y="651052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/>
            </a:pPr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6492240" cy="4041648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17007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检索方式消融（Accuracy %）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77240" y="2103120"/>
          <a:ext cx="5943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7315200" y="170078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组件消融（同一测试集）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10543031" y="1892808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94.0%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2331720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Structured only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891271" y="2354579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891271" y="2354579"/>
            <a:ext cx="1677741" cy="201168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43031" y="2322576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66.0%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2761488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Keyword only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891271" y="2784348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891271" y="2784348"/>
            <a:ext cx="2440350" cy="20116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43031" y="2752344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96.0%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20840" y="3191256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Full retrieval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891271" y="3214116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891271" y="3214116"/>
            <a:ext cx="2491191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543031" y="3182112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98.0%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20840" y="3621024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Vector + Rerank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891271" y="3643884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891271" y="3643884"/>
            <a:ext cx="238951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543031" y="3611880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94.0%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20840" y="4050791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Full − Rerank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91271" y="4073652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891271" y="4073652"/>
            <a:ext cx="2287828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543031" y="4041648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90.0%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20840" y="4480560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Full − Rewrite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91271" y="4503420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891271" y="4503420"/>
            <a:ext cx="2491191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543031" y="4471416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98.0%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20840" y="4956048"/>
            <a:ext cx="3886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98.0% = Full retrieval / Full − Rewrite 的单次受控运行观察值；权威基线仍为 96.0% (48/50)。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20840" y="1545336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7 组受控消融（同一 50 题测试集）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20840" y="1901952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Vector only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891271" y="1924812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891271" y="1924812"/>
            <a:ext cx="2389510" cy="20116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43031" y="1892808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94.0%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20840" y="2331720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Structured only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891271" y="2354579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891271" y="2354579"/>
            <a:ext cx="1677741" cy="201168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543031" y="2322576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66.0%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20840" y="2761488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Keyword only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891271" y="2784348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7891271" y="2784348"/>
            <a:ext cx="2440350" cy="20116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543031" y="2752344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96.0%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20840" y="3191256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Full retrieval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891271" y="3214116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891271" y="3214116"/>
            <a:ext cx="2491191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543031" y="3182112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98.0%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720840" y="3621024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Vector + Rerank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891271" y="3643884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891271" y="3643884"/>
            <a:ext cx="238951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543031" y="3611880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94.0%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720840" y="4050791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Full − Rerank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891271" y="4073652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891271" y="4073652"/>
            <a:ext cx="2287828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543031" y="4041648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90.0%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720840" y="4480560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Full − Rewrite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891271" y="4503420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7891271" y="4503420"/>
            <a:ext cx="2491191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543031" y="4471416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98.0%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20840" y="4956048"/>
            <a:ext cx="3886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98.0% = Full retrieval / Full − Rewrite 的单次受控运行观察值；权威基线仍为 96.0% (48/50)。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20840" y="1545336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7 组受控消融（同一 50 题测试集）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720840" y="1901952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Vector only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891271" y="1924812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7891271" y="1924812"/>
            <a:ext cx="2389510" cy="20116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543031" y="1892808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94.0%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720840" y="2331720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Structured only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891271" y="2354579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7891271" y="2354579"/>
            <a:ext cx="1677741" cy="201168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543031" y="2322576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66.0%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720840" y="2761488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Keyword only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891271" y="2784348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7891271" y="2784348"/>
            <a:ext cx="2440350" cy="20116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543031" y="2752344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96.0%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720840" y="3191256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Full retrieval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891271" y="3214116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7891271" y="3214116"/>
            <a:ext cx="2491191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543031" y="3182112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98.0%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720840" y="3621024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Vector + Rerank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891271" y="3643884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7891271" y="3643884"/>
            <a:ext cx="238951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543031" y="3611880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94.0%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720840" y="4050791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Full − Rerank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891271" y="4073652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7891271" y="4073652"/>
            <a:ext cx="2287828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543031" y="4041648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90.0%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20840" y="4480560"/>
            <a:ext cx="11704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Full − Rewrite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891271" y="4503420"/>
            <a:ext cx="2542032" cy="2011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7891271" y="4503420"/>
            <a:ext cx="2491191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543031" y="4471416"/>
            <a:ext cx="530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98.0%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720840" y="4956048"/>
            <a:ext cx="3886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98.0% = Full retrieval / Full − Rewrite 的单次受控运行观察值；权威基线仍为 96.0% (48/50)。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 02 · 场景状态理解  ·  08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理解「游客是谁、想去哪、还有多少时间」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17904"/>
            <a:ext cx="5120640" cy="4023360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 w="9525">
            <a:solidFill>
              <a:srgbClr val="B08D5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真实游客输入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157984"/>
            <a:ext cx="4480560" cy="1920240"/>
          </a:xfrm>
          <a:prstGeom prst="roundRect">
            <a:avLst>
              <a:gd name="adj" fmla="val 2857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51560" y="2340864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100"/>
            </a:pPr>
            <a:r>
              <a:t>我带腿脚不方便的妈妈，现在在正门，预计下午四点前返程（限时5小时），还想看两点的《吉祥颂》，怎么走？</a:t>
            </a:r>
          </a:p>
        </p:txBody>
      </p:sp>
      <p:sp>
        <p:nvSpPr>
          <p:cNvPr id="12" name="Text 10"/>
          <p:cNvSpPr/>
          <p:nvPr/>
        </p:nvSpPr>
        <p:spPr>
          <a:xfrm>
            <a:off x="822960" y="4306824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一段自然语言里同时包含：同行人、行动能力、当前时间、时间预算、演艺偏好、当前位置——这正是真实游客的说话方式。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0" y="1499616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系统解析出的 Scene State（结构化游客状态）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920240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44768" y="2011680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当前地点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44768" y="2249424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南门入口（south_gate）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83980" y="1920240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85148" y="2011680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当前时间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85148" y="2249424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>
              <a:defRPr sz="1400" b="1"/>
            </a:pPr>
            <a:r>
              <a:t>11:00</a:t>
            </a:r>
          </a:p>
        </p:txBody>
      </p:sp>
      <p:sp>
        <p:nvSpPr>
          <p:cNvPr id="20" name="Shape 18"/>
          <p:cNvSpPr/>
          <p:nvPr/>
        </p:nvSpPr>
        <p:spPr>
          <a:xfrm>
            <a:off x="5943600" y="2761488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44768" y="2852928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剩余时间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44768" y="3090672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>
              <a:defRPr sz="1300" b="1"/>
            </a:pPr>
            <a:r>
              <a:t>300 分 (5小时)</a:t>
            </a:r>
          </a:p>
        </p:txBody>
      </p:sp>
      <p:sp>
        <p:nvSpPr>
          <p:cNvPr id="23" name="Shape 21"/>
          <p:cNvSpPr/>
          <p:nvPr/>
        </p:nvSpPr>
        <p:spPr>
          <a:xfrm>
            <a:off x="8983980" y="2761488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185148" y="2852928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85148" y="3090672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老人（with_elderly）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3602736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44768" y="3694176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行动能力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44768" y="3931920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行动受限（limited）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83980" y="3602736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185148" y="3694176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演艺偏好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85148" y="3931920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《灵山吉祥颂》14:00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4443984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144768" y="4535424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必去 / 已游景点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44768" y="4773168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由需求与路线引擎共同维护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83980" y="4443984"/>
            <a:ext cx="2674620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185148" y="4535424"/>
            <a:ext cx="2272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缺失关键字段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85148" y="4773168"/>
            <a:ext cx="22722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—— 若缺失则主动追问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5779008"/>
            <a:ext cx="11185855" cy="566928"/>
          </a:xfrm>
          <a:prstGeom prst="roundRect">
            <a:avLst>
              <a:gd name="adj" fmla="val 7258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77240" y="5815584"/>
            <a:ext cx="10637215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>
              <a:defRPr sz="900"/>
            </a:pPr>
            <a:r>
              <a:t>13维状态向量：currentLocation (正门) · currentTime (11:00) · remainingMinutes (300) · deadline (16:00) · partyType (elderly) · mobility (limited) · mustVisit · preferredPerformance (吉祥颂14:00, 缓冲20min) · visited · missingCriticalFields</a:t>
            </a:r>
          </a:p>
        </p:txBody>
      </p:sp>
      <p:sp>
        <p:nvSpPr>
          <p:cNvPr id="40" name="Text 38"/>
          <p:cNvSpPr/>
          <p:nvPr/>
        </p:nvSpPr>
        <p:spPr>
          <a:xfrm>
            <a:off x="777240" y="60533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关键：系统形成可复用的「游客状态」，而不是只做一次性问答；信息不足时用自然语言追问，不猜不编。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 03 · 多约束路线规划  ·  09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路线生成由真实约束驱动，而不是模型「随口推荐」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17904"/>
            <a:ext cx="5577840" cy="4297680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7007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约束输入 → 确定性规划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084832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2075688"/>
            <a:ext cx="157276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必去景点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23744" y="2084832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23744" y="2075688"/>
            <a:ext cx="157276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时间预算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24528" y="2084832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  <a:ln/>
        </p:spPr>
        <p:txBody>
          <a:bodyPr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4224528" y="2075688"/>
            <a:ext cx="157276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当前位置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2505456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2496312"/>
            <a:ext cx="157276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行动能力 / 无障碍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23744" y="2505456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523744" y="2496312"/>
            <a:ext cx="157276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演艺场次与时长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24528" y="2505456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224528" y="2496312"/>
            <a:ext cx="157276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已游景点 · 开放窗口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" y="2834640"/>
            <a:ext cx="5029200" cy="502920"/>
          </a:xfrm>
          <a:prstGeom prst="roundRect">
            <a:avLst>
              <a:gd name="adj" fmla="val 12903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2880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运筹规划内核：Dijkstra 空间过滤 + 24 宽 Beam Search + 14 项 Route Validator</a:t>
            </a:r>
          </a:p>
        </p:txBody>
      </p:sp>
      <p:sp>
        <p:nvSpPr>
          <p:cNvPr id="24" name="Text 22"/>
          <p:cNvSpPr/>
          <p:nvPr/>
        </p:nvSpPr>
        <p:spPr>
          <a:xfrm>
            <a:off x="82296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00">
                <a:solidFill>
                  <a:srgbClr val="64748B"/>
                </a:solidFill>
              </a:defRPr>
            </a:pPr>
            <a:r>
              <a:rPr lang="en-US" sz="95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负责理解与解释，但「路线可行」由算法裁决 —— 模型不能绕过硬约束宣布一条路线可行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68680" y="4334256"/>
            <a:ext cx="109728" cy="109728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69848" y="426110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无障碍子图过滤 (坡度 &lt; 2.5° 剔除台阶)</a:t>
            </a:r>
          </a:p>
        </p:txBody>
      </p:sp>
      <p:sp>
        <p:nvSpPr>
          <p:cNvPr id="27" name="Shape 25"/>
          <p:cNvSpPr/>
          <p:nvPr/>
        </p:nvSpPr>
        <p:spPr>
          <a:xfrm>
            <a:off x="868680" y="4700016"/>
            <a:ext cx="109728" cy="109728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69848" y="462686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演艺前置 15~20min 安检排队缓冲 + 倒排调度</a:t>
            </a:r>
          </a:p>
        </p:txBody>
      </p:sp>
      <p:sp>
        <p:nvSpPr>
          <p:cNvPr id="29" name="Shape 27"/>
          <p:cNvSpPr/>
          <p:nvPr/>
        </p:nvSpPr>
        <p:spPr>
          <a:xfrm>
            <a:off x="868680" y="5065776"/>
            <a:ext cx="109728" cy="109728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69848" y="499262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14 项形式化守恒仲裁器 (0 硬违规放行)</a:t>
            </a:r>
          </a:p>
        </p:txBody>
      </p:sp>
      <p:sp>
        <p:nvSpPr>
          <p:cNvPr id="31" name="Shape 29"/>
          <p:cNvSpPr/>
          <p:nvPr/>
        </p:nvSpPr>
        <p:spPr>
          <a:xfrm>
            <a:off x="868680" y="5431536"/>
            <a:ext cx="109728" cy="109728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69848" y="535838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不可行 → 拒绝并给替代方案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14996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真实路网与验证结果</a:t>
            </a:r>
            <a:endParaRPr lang="en-US" sz="1250" dirty="0"/>
          </a:p>
        </p:txBody>
      </p:sp>
      <p:pic>
        <p:nvPicPr>
          <p:cNvPr id="34" name="Image 0" descr="D:/Dev/ppt-build/assets/fangong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01952"/>
            <a:ext cx="5303520" cy="148132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355080" y="34015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灵山梵宫（《吉祥颂》演出地，LS-013）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355080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23 个景点 POI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9006840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▪ 30 条当前登记道路边（31 条目标口径待补齐核验）</a:t>
            </a:r>
          </a:p>
        </p:txBody>
      </p:sp>
      <p:sp>
        <p:nvSpPr>
          <p:cNvPr id="38" name="Text 35"/>
          <p:cNvSpPr/>
          <p:nvPr/>
        </p:nvSpPr>
        <p:spPr>
          <a:xfrm>
            <a:off x="6355080" y="4041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2 场演艺（时刻·时长）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9006840" y="4041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3 类设施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355080" y="4517136"/>
            <a:ext cx="5303520" cy="1170432"/>
          </a:xfrm>
          <a:prstGeom prst="roundRect">
            <a:avLst>
              <a:gd name="adj" fmla="val 3516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6583680" y="4645152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60/60</a:t>
            </a:r>
            <a:endParaRPr lang="en-US" sz="2100" dirty="0"/>
          </a:p>
        </p:txBody>
      </p:sp>
      <p:sp>
        <p:nvSpPr>
          <p:cNvPr id="42" name="Text 39"/>
          <p:cNvSpPr/>
          <p:nvPr/>
        </p:nvSpPr>
        <p:spPr>
          <a:xfrm>
            <a:off x="6583680" y="5102352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9C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可行性分类正确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8199120" y="4645152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8199120" y="5102352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9C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硬约束违规 hard violations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814560" y="4645152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814560" y="5102352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9C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不可行 P / R / F1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02920" y="596188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/>
            </a:pPr>
            <a:r>
              <a:t>【23 个路线节点 + 30 条当前登记道路边（31 条目标口径待补齐核验）】：60 组边界案例测试 100% (60/60) 形式化合规，物理硬违规恒为 0！</a:t>
            </a:r>
          </a:p>
          <a:p>
            <a:pPr>
              <a:defRPr sz="950"/>
            </a:pPr>
            <a:r>
              <a:t>确定性可复现：核心路线重复执行 9 次完全一致。部分小径步行时长标记为 estimated 预估值，体现学术严谨自省。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实验验证 · 系统化评测  ·  10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建立覆盖「知识—理解—决策」的系统化评测体系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19495" y="651052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baseline_20260917_020000 · scene_benchmark_v1 · route_validator_v1 · git 0522c386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1536192"/>
            <a:ext cx="3584448" cy="329184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173736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RAG / Knowledge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084832"/>
            <a:ext cx="3035808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96.0%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/ 50 通过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108960"/>
            <a:ext cx="3035808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5528" y="3346704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60120" y="321868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题 Fact Contract 评测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5528" y="365760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352958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recall 0.970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5528" y="3968496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0120" y="3840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Retrieval success 50/50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5528" y="4279392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0120" y="415137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失败题保留，不隐藏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4517136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QA API · 每题独立 session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70248" y="1536192"/>
            <a:ext cx="3584448" cy="329184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B08D5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44568" y="173736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Scene Understanding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44568" y="2084832"/>
            <a:ext cx="3035808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/ 40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544568" y="274320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field accuracy 1.0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44568" y="3108960"/>
            <a:ext cx="3035808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62856" y="3346704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27448" y="321868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老人 / 儿童 / 轮椅 / 行动受限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62856" y="365760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727448" y="352958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时间约束 · 演艺偏好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62856" y="3968496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727448" y="3840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必去 / 已游景点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62856" y="4279392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727448" y="415137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缺失关键字段识别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44568" y="4517136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确定性场景抽取 · gold case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037576" y="1536192"/>
            <a:ext cx="3584448" cy="329184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311896" y="173736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Route Planning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11896" y="2084832"/>
            <a:ext cx="3035808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/ 60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8311896" y="274320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 violations = 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311896" y="3108960"/>
            <a:ext cx="3035808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330184" y="3346704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494776" y="321868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可行性分类全部正确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330184" y="365760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494776" y="352958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不可行 P / R / F1 = 1.0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330184" y="3968496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494776" y="3840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组不可行用例诚实拒绝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330184" y="4279392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494776" y="415137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确定性重复执行一致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311896" y="4517136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结构化约束验证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2920" y="5047488"/>
            <a:ext cx="11185855" cy="841248"/>
          </a:xfrm>
          <a:prstGeom prst="roundRect">
            <a:avLst>
              <a:gd name="adj" fmla="val 4891"/>
            </a:avLst>
          </a:prstGeom>
          <a:solidFill>
            <a:srgbClr val="F1EAE0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77240" y="5157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评测证据链（全部版本化）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77240" y="5468112"/>
            <a:ext cx="1627632" cy="310896"/>
          </a:xfrm>
          <a:prstGeom prst="roundRect">
            <a:avLst>
              <a:gd name="adj" fmla="val 14705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77240" y="5458968"/>
            <a:ext cx="162763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Contract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60320" y="5468112"/>
            <a:ext cx="1627632" cy="310896"/>
          </a:xfrm>
          <a:prstGeom prst="roundRect">
            <a:avLst>
              <a:gd name="adj" fmla="val 14705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2560320" y="5458968"/>
            <a:ext cx="162763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Retrieval Gold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343400" y="5468112"/>
            <a:ext cx="1627632" cy="310896"/>
          </a:xfrm>
          <a:prstGeom prst="roundRect">
            <a:avLst>
              <a:gd name="adj" fmla="val 14705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343400" y="5458968"/>
            <a:ext cx="162763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 Gold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26480" y="5468112"/>
            <a:ext cx="1627632" cy="310896"/>
          </a:xfrm>
          <a:prstGeom prst="roundRect">
            <a:avLst>
              <a:gd name="adj" fmla="val 14705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126480" y="5458968"/>
            <a:ext cx="162763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 Validator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909560" y="5468112"/>
            <a:ext cx="1627632" cy="310896"/>
          </a:xfrm>
          <a:prstGeom prst="roundRect">
            <a:avLst>
              <a:gd name="adj" fmla="val 14705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909560" y="5458968"/>
            <a:ext cx="162763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Smoke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692640" y="5468112"/>
            <a:ext cx="1627632" cy="310896"/>
          </a:xfrm>
          <a:prstGeom prst="roundRect">
            <a:avLst>
              <a:gd name="adj" fmla="val 14705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9692640" y="5458968"/>
            <a:ext cx="162763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Ablation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2920" y="6035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离线评测 ≠ 用户满意度；路线为结构化约束验证，步行时长标记 estimated。项目后续计划补充真实游客研究与运营方数据核验。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场景还原 · 完整案例  ·  11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典型场景实测：限时 5 小时带老人看演出游大佛 2.5D 物理动线复盘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11185855" cy="786384"/>
          </a:xfrm>
          <a:prstGeom prst="roundRect">
            <a:avLst>
              <a:gd name="adj" fmla="val 5233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游客输入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1463040"/>
            <a:ext cx="95399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我带腿脚不方便的妈妈，现在在正门，预计下午四点前返程（限时5小时），还想看两点的《吉祥颂》，怎么走？</a:t>
            </a:r>
          </a:p>
        </p:txBody>
      </p:sp>
      <p:sp>
        <p:nvSpPr>
          <p:cNvPr id="11" name="Shape 9"/>
          <p:cNvSpPr/>
          <p:nvPr/>
        </p:nvSpPr>
        <p:spPr>
          <a:xfrm>
            <a:off x="502920" y="2487168"/>
            <a:ext cx="2670048" cy="2286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31520" y="2688336"/>
            <a:ext cx="868680" cy="310896"/>
          </a:xfrm>
          <a:prstGeom prst="roundRect">
            <a:avLst>
              <a:gd name="adj" fmla="val 147059"/>
            </a:avLst>
          </a:prstGeom>
          <a:solidFill>
            <a:srgbClr val="8A6B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679192"/>
            <a:ext cx="21488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  <a:defRPr sz="1100" b="1">
                <a:solidFill>
                  <a:srgbClr val="92400E"/>
                </a:solidFill>
                <a:latin typeface="Microsoft YaHei"/>
              </a:defRPr>
            </a:pPr>
            <a:r>
              <a:rPr sz="1500"/>
              <a:t>11:00 正门启程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50" b="1">
                <a:solidFill>
                  <a:srgbClr val="1F2937"/>
                </a:solidFill>
                <a:latin typeface="Microsoft YaHei"/>
              </a:defRPr>
            </a:pPr>
            <a:r>
              <a:t>11:50 抵达九龙灌浴</a:t>
            </a:r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无障碍平缓坡道 (坡度 1.8° &lt; 2.5°) · 步行 420m / 8min · 观演 30min · 自动过滤天梯</a:t>
            </a:r>
          </a:p>
        </p:txBody>
      </p:sp>
      <p:sp>
        <p:nvSpPr>
          <p:cNvPr id="16" name="Text 14"/>
          <p:cNvSpPr/>
          <p:nvPr/>
        </p:nvSpPr>
        <p:spPr>
          <a:xfrm>
            <a:off x="3172968" y="3493008"/>
            <a:ext cx="1828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37560" y="2487168"/>
            <a:ext cx="2670048" cy="2286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566160" y="2688336"/>
            <a:ext cx="868680" cy="310896"/>
          </a:xfrm>
          <a:prstGeom prst="roundRect">
            <a:avLst>
              <a:gd name="adj" fmla="val 147059"/>
            </a:avLst>
          </a:prstGeom>
          <a:solidFill>
            <a:srgbClr val="8A6B3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566160" y="2679192"/>
            <a:ext cx="21488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r>
              <a:rPr sz="1500"/>
              <a:t>12:30 动态纠偏</a:t>
            </a:r>
          </a:p>
        </p:txBody>
      </p:sp>
      <p:sp>
        <p:nvSpPr>
          <p:cNvPr id="20" name="Text 18"/>
          <p:cNvSpPr/>
          <p:nvPr/>
        </p:nvSpPr>
        <p:spPr>
          <a:xfrm>
            <a:off x="3566160" y="31089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50" b="1">
                <a:solidFill>
                  <a:srgbClr val="1F2937"/>
                </a:solidFill>
                <a:latin typeface="Microsoft YaHei"/>
              </a:defRPr>
            </a:pPr>
            <a:r>
              <a:t>秒级动态增量纠偏</a:t>
            </a:r>
          </a:p>
        </p:txBody>
      </p:sp>
      <p:sp>
        <p:nvSpPr>
          <p:cNvPr id="21" name="Text 19"/>
          <p:cNvSpPr/>
          <p:nvPr/>
        </p:nvSpPr>
        <p:spPr>
          <a:xfrm>
            <a:off x="3566160" y="356616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拍照超时 10min · 自动压缩非核心林道漫步 10min · 锁定 16:00 离园与 14:00 演出死线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07608" y="3493008"/>
            <a:ext cx="1828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72200" y="2487168"/>
            <a:ext cx="2670048" cy="2286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400800" y="2688336"/>
            <a:ext cx="868680" cy="310896"/>
          </a:xfrm>
          <a:prstGeom prst="roundRect">
            <a:avLst>
              <a:gd name="adj" fmla="val 147059"/>
            </a:avLst>
          </a:prstGeom>
          <a:solidFill>
            <a:srgbClr val="8A6B3C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0" y="2679192"/>
            <a:ext cx="21488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r>
              <a:rPr sz="1500"/>
              <a:t>13:40 梵宫检票</a:t>
            </a:r>
          </a:p>
        </p:txBody>
      </p:sp>
      <p:sp>
        <p:nvSpPr>
          <p:cNvPr id="26" name="Text 24"/>
          <p:cNvSpPr/>
          <p:nvPr/>
        </p:nvSpPr>
        <p:spPr>
          <a:xfrm>
            <a:off x="6400800" y="31089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50" b="1">
                <a:solidFill>
                  <a:srgbClr val="1F2937"/>
                </a:solidFill>
                <a:latin typeface="Microsoft YaHei"/>
              </a:defRPr>
            </a:pPr>
            <a:r>
              <a:t>前置 20min 缓冲</a:t>
            </a:r>
          </a:p>
        </p:txBody>
      </p:sp>
      <p:sp>
        <p:nvSpPr>
          <p:cNvPr id="27" name="Text 25"/>
          <p:cNvSpPr/>
          <p:nvPr/>
        </p:nvSpPr>
        <p:spPr>
          <a:xfrm>
            <a:off x="6400800" y="356616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前置 20 分钟排队安检缓冲 · 顺利入场观看 14:00~14:20《吉祥颂》· 24 宽 Beam Search 严格对齐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42248" y="3493008"/>
            <a:ext cx="1828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006840" y="2487168"/>
            <a:ext cx="2670048" cy="2286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235440" y="2688336"/>
            <a:ext cx="868680" cy="310896"/>
          </a:xfrm>
          <a:prstGeom prst="roundRect">
            <a:avLst>
              <a:gd name="adj" fmla="val 147059"/>
            </a:avLst>
          </a:prstGeom>
          <a:solidFill>
            <a:srgbClr val="8A6B3C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235440" y="2679192"/>
            <a:ext cx="21488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r>
              <a:rPr sz="1500"/>
              <a:t>15:10 无障碍电瓶车接驳</a:t>
            </a:r>
          </a:p>
        </p:txBody>
      </p:sp>
      <p:sp>
        <p:nvSpPr>
          <p:cNvPr id="32" name="Text 30"/>
          <p:cNvSpPr/>
          <p:nvPr/>
        </p:nvSpPr>
        <p:spPr>
          <a:xfrm>
            <a:off x="9235440" y="31089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50" b="1">
                <a:solidFill>
                  <a:srgbClr val="1F2937"/>
                </a:solidFill>
                <a:latin typeface="Microsoft YaHei"/>
              </a:defRPr>
            </a:pPr>
            <a:r>
              <a:t>16:00 准时返正门（全程 300min）</a:t>
            </a:r>
          </a:p>
        </p:txBody>
      </p:sp>
      <p:sp>
        <p:nvSpPr>
          <p:cNvPr id="33" name="Text 31"/>
          <p:cNvSpPr/>
          <p:nvPr/>
        </p:nvSpPr>
        <p:spPr>
          <a:xfrm>
            <a:off x="9235440" y="356616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避开陡坡登顶直达大佛 · 14 项形式化守恒仲裁通过检查 · 总耗时 300 分钟 · 当前结构化约束测试中 0 次物理硬违规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5029200"/>
            <a:ext cx="11185855" cy="1298448"/>
          </a:xfrm>
          <a:prstGeom prst="roundRect">
            <a:avLst>
              <a:gd name="adj" fmla="val 3169"/>
            </a:avLst>
          </a:prstGeom>
          <a:solidFill>
            <a:srgbClr val="FBF1EC"/>
          </a:solidFill>
          <a:ln w="9525">
            <a:solidFill>
              <a:srgbClr val="E7C9B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77240" y="51572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/>
            </a:pPr>
          </a:p>
        </p:txBody>
      </p:sp>
      <p:sp>
        <p:nvSpPr>
          <p:cNvPr id="36" name="Text 34"/>
          <p:cNvSpPr/>
          <p:nvPr/>
        </p:nvSpPr>
        <p:spPr>
          <a:xfrm>
            <a:off x="777240" y="544982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00"/>
              <a:t>【诚实拒绝与优雅降级】</a:t>
            </a:r>
          </a:p>
          <a:p>
            <a:r>
              <a:rPr sz="1100"/>
              <a:t>▪ 20 分钟无法同时完成正门往返与 14:00 演出，系统拒绝编造路线；</a:t>
            </a:r>
          </a:p>
          <a:p>
            <a:r>
              <a:rPr sz="1100"/>
              <a:t>▪ 自动剥离演艺偏好，生成正门广场与佛足坛微游览方案（18min），保留可执行替代。</a:t>
            </a:r>
          </a:p>
        </p:txBody>
      </p:sp>
      <p:sp>
        <p:nvSpPr>
          <p:cNvPr id="37" name="Text 35"/>
          <p:cNvSpPr/>
          <p:nvPr/>
        </p:nvSpPr>
        <p:spPr>
          <a:xfrm>
            <a:off x="6583680" y="544982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100"/>
              <a:t>主动澄清机制已在 P8 展示：缺失时间或位置时先追问，不猜测、不编造。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产品闭环  ·  12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产品工程落地：双屏架构分流 + 证据追溯抽屉 + 202.4 QPS 纯规划吞吐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69494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7240" y="1810512"/>
            <a:ext cx="384048" cy="384048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17007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左屏 · QAPage (事实问答)</a:t>
            </a:r>
          </a:p>
        </p:txBody>
      </p:sp>
      <p:sp>
        <p:nvSpPr>
          <p:cNvPr id="12" name="Text 10"/>
          <p:cNvSpPr/>
          <p:nvPr/>
        </p:nvSpPr>
        <p:spPr>
          <a:xfrm>
            <a:off x="1371600" y="20299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Live2D 情绪驱动 (倾听/欢喜/致歉) · 实时渲染 · 口型同步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615184"/>
            <a:ext cx="69494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7240" y="2871216"/>
            <a:ext cx="384048" cy="384048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7614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证据追溯抽屉 (Evidence Drawer)</a:t>
            </a:r>
          </a:p>
        </p:txBody>
      </p:sp>
      <p:sp>
        <p:nvSpPr>
          <p:cNvPr id="17" name="Text 15"/>
          <p:cNvSpPr/>
          <p:nvPr/>
        </p:nvSpPr>
        <p:spPr>
          <a:xfrm>
            <a:off x="1371600" y="309067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出处、向量相似度 0.89、时延 2.88s · 语音识别播报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675888"/>
            <a:ext cx="69494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3931920"/>
            <a:ext cx="384048" cy="384048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8221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右屏 · RecommendPage (决策看板)</a:t>
            </a:r>
          </a:p>
        </p:txBody>
      </p:sp>
      <p:sp>
        <p:nvSpPr>
          <p:cNvPr id="22" name="Text 20"/>
          <p:cNvSpPr/>
          <p:nvPr/>
        </p:nvSpPr>
        <p:spPr>
          <a:xfrm>
            <a:off x="1371600" y="415137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物理时空动线看板 (米数、坡度、无障碍) · 流式回答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736592"/>
            <a:ext cx="69494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77240" y="4992624"/>
            <a:ext cx="384048" cy="384048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724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8828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实景导航无缝串联</a:t>
            </a:r>
          </a:p>
        </p:txBody>
      </p:sp>
      <p:sp>
        <p:nvSpPr>
          <p:cNvPr id="27" name="Text 25"/>
          <p:cNvSpPr/>
          <p:nvPr/>
        </p:nvSpPr>
        <p:spPr>
          <a:xfrm>
            <a:off x="1371600" y="521208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t>一键原生调起高德/百度地图 SDK 闭环 · 约束路线推荐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-18288000" y="5852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29" name="Shape 27"/>
          <p:cNvSpPr/>
          <p:nvPr/>
        </p:nvSpPr>
        <p:spPr>
          <a:xfrm>
            <a:off x="-18288000" y="614476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-18288000" y="6135624"/>
            <a:ext cx="20116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/>
        </p:txBody>
      </p:sp>
      <p:sp>
        <p:nvSpPr>
          <p:cNvPr id="31" name="Shape 29"/>
          <p:cNvSpPr/>
          <p:nvPr/>
        </p:nvSpPr>
        <p:spPr>
          <a:xfrm>
            <a:off x="-18288000" y="614476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-18288000" y="6135624"/>
            <a:ext cx="20116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/>
        </p:txBody>
      </p:sp>
      <p:sp>
        <p:nvSpPr>
          <p:cNvPr id="33" name="Shape 31"/>
          <p:cNvSpPr/>
          <p:nvPr/>
        </p:nvSpPr>
        <p:spPr>
          <a:xfrm>
            <a:off x="-18288000" y="614476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-18288000" y="6135624"/>
            <a:ext cx="20116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/>
        </p:txBody>
      </p:sp>
      <p:sp>
        <p:nvSpPr>
          <p:cNvPr id="35" name="Shape 33"/>
          <p:cNvSpPr/>
          <p:nvPr/>
        </p:nvSpPr>
        <p:spPr>
          <a:xfrm>
            <a:off x="-18288000" y="651052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-18288000" y="6501384"/>
            <a:ext cx="20116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/>
        </p:txBody>
      </p:sp>
      <p:sp>
        <p:nvSpPr>
          <p:cNvPr id="37" name="Shape 35"/>
          <p:cNvSpPr/>
          <p:nvPr/>
        </p:nvSpPr>
        <p:spPr>
          <a:xfrm>
            <a:off x="-18288000" y="651052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-18288000" y="6501384"/>
            <a:ext cx="20116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/>
        </p:txBody>
      </p:sp>
      <p:sp>
        <p:nvSpPr>
          <p:cNvPr id="39" name="Shape 37"/>
          <p:cNvSpPr/>
          <p:nvPr/>
        </p:nvSpPr>
        <p:spPr>
          <a:xfrm>
            <a:off x="7818120" y="1554480"/>
            <a:ext cx="3840480" cy="448056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40" name="Image 0" descr="D:/Dev/ppt-build/assets/character_portra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0" y="1783080"/>
            <a:ext cx="3200400" cy="32004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7772400" y="4983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100" b="1">
                <a:solidFill>
                  <a:srgbClr val="0F766E"/>
                </a:solidFill>
              </a:defRPr>
            </a:pPr>
            <a:r>
              <a:rPr lang="en-US" sz="12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数字人导游（Live2D）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02920" y="5413248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000" b="1">
                <a:solidFill>
                  <a:srgbClr val="0F766E"/>
                </a:solidFill>
                <a:latin typeface="Microsoft YaHei"/>
              </a:defRPr>
            </a:pPr>
            <a:r>
              <a:t>【硬核工程交付指标与实测性能】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🖥️ 边云协同实测：单台 4 核 8G 纯规划接口 (/api/route/plan) 实测 202.4 QPS 吞吐 (P50=7.8ms, P95=13.4ms, 0 错误率；线程池隔离，不含 LLM/ASR/TTS/图像识别全链路)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📦 轻量离线容灾：核心路网拓扑仅 35KB (23 节点 + 30 条登记边；31 条目标待核验)，支持客户端秒级离线加载与应急动线渲染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💰 极低运维成本：年综合运维成本约 1.39 万元 (&lt;1.5 万元/年；一次性实施 5.0 万元独立核算)，情景模型预计 3~6 个月收回投入 (情景假设测算)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应用推广  ·  13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推广应用价值：三阶轻量化落地与情景 ROI 模型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36192"/>
            <a:ext cx="4206240" cy="301752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9" name="Image 0" descr="D:/Dev/ppt-build/assets/bg_ba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36192"/>
            <a:ext cx="4206240" cy="1097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788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灵山胜境（首个落地景区）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3182112"/>
            <a:ext cx="3657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已验证：50 题评测 · 场景 40/40 · 路线 60/60 · 真实产品闭环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100" b="0">
                <a:solidFill>
                  <a:srgbClr val="374151"/>
                </a:solidFill>
                <a:latin typeface="Microsoft YaHei"/>
              </a:defRPr>
            </a:pPr>
            <a:r>
              <a:t>景区专属资产：知识库 · 23 个路线节点 · 30 条当前登记道路边（31 条目标待核验） · 演艺时刻 · 设施规则——全部数据与算法解耦，配置驱动。</a:t>
            </a:r>
          </a:p>
        </p:txBody>
      </p:sp>
      <p:sp>
        <p:nvSpPr>
          <p:cNvPr id="13" name="Text 10"/>
          <p:cNvSpPr/>
          <p:nvPr/>
        </p:nvSpPr>
        <p:spPr>
          <a:xfrm>
            <a:off x="5029200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三阶轻量化务实落地体系 (时间轴)</a:t>
            </a:r>
          </a:p>
        </p:txBody>
      </p:sp>
      <p:sp>
        <p:nvSpPr>
          <p:cNvPr id="14" name="Shape 11"/>
          <p:cNvSpPr/>
          <p:nvPr/>
        </p:nvSpPr>
        <p:spPr>
          <a:xfrm>
            <a:off x="5029200" y="1938528"/>
            <a:ext cx="2103120" cy="566928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029200" y="19385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古镇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242048" y="1938528"/>
            <a:ext cx="2103120" cy="566928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242048" y="19385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博物馆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454896" y="1938528"/>
            <a:ext cx="2103120" cy="566928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454896" y="19385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主题园区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0" y="2651760"/>
            <a:ext cx="2103120" cy="566928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029200" y="26517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景区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242048" y="2651760"/>
            <a:ext cx="2103120" cy="566928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242048" y="26517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454896" y="2651760"/>
            <a:ext cx="2103120" cy="566928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9454896" y="26517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文旅综合体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29200" y="349300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000"/>
            </a:pPr>
            <a:r>
              <a:t>🟢 第一阶段 · 轻量版 (1 周 · 零测绘)：基于现有矢量导览图提取 23 景点路网契约 (2~3人天)，导入导游词，极速上线智能问答与基础游览；</a:t>
            </a:r>
          </a:p>
          <a:p>
            <a:pPr>
              <a:defRPr sz="1000"/>
            </a:pPr>
            <a:r>
              <a:t>🟡 第二阶段 · 标准版 (2 周 · 动态协同)：对接演艺排期与观光车时刻，开启多约束时空规划与 14 项守恒仲裁器；</a:t>
            </a:r>
          </a:p>
          <a:p>
            <a:pPr>
              <a:defRPr sz="1000"/>
            </a:pPr>
            <a:r>
              <a:t>🔴 第三阶段 · 深度数智版 (4 周 · 深度融合)：接入闸机客流与高精测绘，实现全园动态客流削峰填谷。</a:t>
            </a:r>
          </a:p>
        </p:txBody>
      </p:sp>
      <p:sp>
        <p:nvSpPr>
          <p:cNvPr id="27" name="Shape 24"/>
          <p:cNvSpPr/>
          <p:nvPr/>
        </p:nvSpPr>
        <p:spPr>
          <a:xfrm>
            <a:off x="502920" y="4480560"/>
            <a:ext cx="4389120" cy="1554480"/>
          </a:xfrm>
          <a:prstGeom prst="roundRect">
            <a:avLst>
              <a:gd name="adj" fmla="val 2711"/>
            </a:avLst>
          </a:prstGeom>
          <a:solidFill>
            <a:srgbClr val="FBF1EC"/>
          </a:solidFill>
          <a:ln w="9525">
            <a:solidFill>
              <a:srgbClr val="E7C9B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85800" y="4572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100" b="1">
                <a:solidFill>
                  <a:srgbClr val="92400E"/>
                </a:solidFill>
              </a:defRPr>
            </a:pPr>
            <a:r>
              <a:t>需要替换（场景专属资产 · 配置驱动）</a:t>
            </a:r>
          </a:p>
        </p:txBody>
      </p:sp>
      <p:sp>
        <p:nvSpPr>
          <p:cNvPr id="29" name="Text 26"/>
          <p:cNvSpPr/>
          <p:nvPr/>
        </p:nvSpPr>
        <p:spPr>
          <a:xfrm>
            <a:off x="685800" y="4892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· 知识库语料（官方指南与典故）</a:t>
            </a:r>
          </a:p>
        </p:txBody>
      </p:sp>
      <p:sp>
        <p:nvSpPr>
          <p:cNvPr id="30" name="Text 27"/>
          <p:cNvSpPr/>
          <p:nvPr/>
        </p:nvSpPr>
        <p:spPr>
          <a:xfrm>
            <a:off x="685800" y="5166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· 23 个路线节点 + 30 条当前登记道路边（31 条目标待核验）</a:t>
            </a:r>
          </a:p>
        </p:txBody>
      </p:sp>
      <p:sp>
        <p:nvSpPr>
          <p:cNvPr id="31" name="Text 28"/>
          <p:cNvSpPr/>
          <p:nvPr/>
        </p:nvSpPr>
        <p:spPr>
          <a:xfrm>
            <a:off x="685800" y="54406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· 演艺时刻、观光车时刻与设施规则</a:t>
            </a:r>
          </a:p>
        </p:txBody>
      </p:sp>
      <p:sp>
        <p:nvSpPr>
          <p:cNvPr id="32" name="Shape 29"/>
          <p:cNvSpPr/>
          <p:nvPr/>
        </p:nvSpPr>
        <p:spPr>
          <a:xfrm>
            <a:off x="5074920" y="4480560"/>
            <a:ext cx="6492240" cy="1554480"/>
          </a:xfrm>
          <a:prstGeom prst="roundRect">
            <a:avLst>
              <a:gd name="adj" fmla="val 2711"/>
            </a:avLst>
          </a:prstGeom>
          <a:solidFill>
            <a:srgbClr val="F1EAE0"/>
          </a:solidFill>
          <a:ln w="9525">
            <a:solidFill>
              <a:srgbClr val="B08D5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>
            <a:r>
              <a:t>商业财务测算（情景假设）</a:t>
            </a:r>
          </a:p>
          <a:p>
            <a:r>
              <a:t>💵 年运维：1.39 万元；首次实施：5.0 万元（独立核算）</a:t>
            </a:r>
          </a:p>
          <a:p>
            <a:r>
              <a:t>📈 闭环：SaaS 服务费 + 个性化交付 + 二消/观光车分成</a:t>
            </a:r>
          </a:p>
          <a:p>
            <a:r>
              <a:t>🎯 ROI：3~6 个月回收投入（中性情景 4.8 个月；非已实现经营结果）</a:t>
            </a:r>
          </a:p>
        </p:txBody>
      </p:sp>
      <p:sp>
        <p:nvSpPr>
          <p:cNvPr id="33" name="Text 30"/>
          <p:cNvSpPr/>
          <p:nvPr/>
        </p:nvSpPr>
        <p:spPr>
          <a:xfrm>
            <a:off x="5742432" y="49743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34" name="Text 31"/>
          <p:cNvSpPr/>
          <p:nvPr/>
        </p:nvSpPr>
        <p:spPr>
          <a:xfrm>
            <a:off x="5742432" y="5321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35" name="Text 32"/>
          <p:cNvSpPr/>
          <p:nvPr/>
        </p:nvSpPr>
        <p:spPr>
          <a:xfrm>
            <a:off x="8714232" y="5321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36" name="Text 33"/>
          <p:cNvSpPr/>
          <p:nvPr/>
        </p:nvSpPr>
        <p:spPr>
          <a:xfrm>
            <a:off x="5742432" y="5632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37" name="Text 34"/>
          <p:cNvSpPr/>
          <p:nvPr/>
        </p:nvSpPr>
        <p:spPr>
          <a:xfrm>
            <a:off x="8714232" y="5632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38" name="Text 35"/>
          <p:cNvSpPr/>
          <p:nvPr/>
        </p:nvSpPr>
        <p:spPr>
          <a:xfrm>
            <a:off x="502920" y="54406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27432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30936" y="3657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08D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 ·  14 / 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以算法敬畏物理世界，用数智赋能华夏文旅：灵小禅可信文旅决策智能体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5105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面向真实景区复杂场景的 AI 数字人导游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31575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19495" y="651052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050"/>
            </a:pPr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3584448" cy="2286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B08D5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95528" y="19202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 RAG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5528" y="24688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可靠获取景区知识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" y="297180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多路检索 · 证据可溯源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70248" y="1600200"/>
            <a:ext cx="3584448" cy="2286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62856" y="19202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 Understanding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62856" y="24688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理解个体需求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62856" y="297180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结构化游客状态 · 缺信息追问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37576" y="1600200"/>
            <a:ext cx="3584448" cy="2286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30184" y="19202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Constraint Planning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30184" y="24688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完成复杂游览决策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30184" y="297180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确定性规划 · 硬约束裁决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114800"/>
            <a:ext cx="11185855" cy="1005840"/>
          </a:xfrm>
          <a:prstGeom prst="roundRect">
            <a:avLst>
              <a:gd name="adj" fmla="val 4091"/>
            </a:avLst>
          </a:prstGeom>
          <a:solidFill>
            <a:srgbClr val="242A2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77240" y="42245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最有说服力的三个真实实验数字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4389120"/>
            <a:ext cx="35661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  <a:defRPr sz="3000" b="1">
                <a:solidFill>
                  <a:srgbClr val="F59E0B"/>
                </a:solidFill>
                <a:latin typeface="Microsoft YaHei"/>
              </a:defRPr>
            </a:pPr>
            <a:r>
              <a:t>96.0%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777240" y="48006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  <a:defRPr sz="1050" b="0">
                <a:solidFill>
                  <a:srgbClr val="EEEEEE"/>
                </a:solidFill>
                <a:latin typeface="Microsoft YaHei"/>
              </a:defRPr>
            </a:pPr>
            <a:r>
              <a:t>Fact Contract 权威基线准确率 (50 题基准)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0" y="4389120"/>
            <a:ext cx="35661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  <a:defRPr sz="3000" b="1">
                <a:solidFill>
                  <a:srgbClr val="F59E0B"/>
                </a:solidFill>
                <a:latin typeface="Microsoft YaHei"/>
              </a:defRPr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/ 40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4572000" y="48006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  <a:defRPr sz="1050" b="0">
                <a:solidFill>
                  <a:srgbClr val="EEEEEE"/>
                </a:solidFill>
                <a:latin typeface="Microsoft YaHei"/>
              </a:defRPr>
            </a:pPr>
            <a:r>
              <a:rPr lang="en-US" sz="850" dirty="0">
                <a:solidFill>
                  <a:srgbClr val="C9C2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场景理解 Gold 用例全部通过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66760" y="4389120"/>
            <a:ext cx="35661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  <a:defRPr sz="3000" b="1">
                <a:solidFill>
                  <a:srgbClr val="F59E0B"/>
                </a:solidFill>
                <a:latin typeface="Microsoft YaHei"/>
              </a:defRPr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/ 60 · 0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8366760" y="48006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  <a:defRPr sz="1050" b="0">
                <a:solidFill>
                  <a:srgbClr val="EEEEEE"/>
                </a:solidFill>
                <a:latin typeface="Microsoft YaHei"/>
              </a:defRPr>
            </a:pPr>
            <a:r>
              <a:t>路线可行性分类 · 物理硬违规恒为 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5376672"/>
            <a:ext cx="11185855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02920" y="51663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我们希望让 AI 真正理解游客当前需求，基于可信景区知识与现实约束，辅助游客完成一次完整的游览决策。</a:t>
            </a:r>
            <a:endParaRPr lang="en-US" sz="1350" dirty="0"/>
          </a:p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* 严格说明：98.0% 为 7 组受控消融实验中 Full Retrieval 单次运行观察值，系统冻结权威基线统一为 96.0% (48/50)。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lingshan-ai-guide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灵小禅——面向真实景区复杂场景的 AI 数字人导游</dc:title>
  <dc:subject>PptxGenJS Presentation</dc:subject>
  <dc:creator>灵小禅项目组</dc:creator>
  <cp:lastModifiedBy>灵小禅项目组</cp:lastModifiedBy>
  <cp:revision>1</cp:revision>
  <dcterms:created xsi:type="dcterms:W3CDTF">2026-09-17T17:39:08Z</dcterms:created>
  <dcterms:modified xsi:type="dcterms:W3CDTF">2026-09-17T17:39:08Z</dcterms:modified>
</cp:coreProperties>
</file>