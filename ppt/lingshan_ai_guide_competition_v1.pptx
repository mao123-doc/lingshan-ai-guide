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B08D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42A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Vector Only</c:v>
                  </c:pt>
                  <c:pt idx="1">
                    <c:v>Structured Only</c:v>
                  </c:pt>
                  <c:pt idx="2">
                    <c:v>Keyword Only</c:v>
                  </c:pt>
                  <c:pt idx="3">
                    <c:v>Full Retrieval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66</c:v>
                </c:pt>
                <c:pt idx="2">
                  <c:v>96</c:v>
                </c:pt>
                <c:pt idx="3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42A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478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封面定位：10 秒内让评委知道这是一个 AI 景区导游系统。避免堆技术名词。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3 个真实游客问题说明痛点：知识、个体状态、时间、空间、决策多约束并存。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这一页是整套汇报的逻辑锚点：知识（多路RAG）、理解（场景状态）、决策（约束规划）三者汇聚为 AI 数字人导游。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极简流程：游客 → 状态解析 → Hybrid RAG + Route Planner → LLM → 数字人/语音/地图。不画工程架构大图。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结合真实案例解释：语义问题→Vector；精确名称/编号→Keyword；票价/时间等结构化事实→Structured。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3 个问题让不懂 RAG 的评委 15 秒内理解：为什么单一向量检索有盲区。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最重要的数据页之一。图表按仓库真实消融结果绘制（94/66/96/98；组件 98/90/98），注明模型身份差异与单次运行观察值。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展示真实输入解析为结构化状态。字段来自 scene-state.ts 的 SceneStateSchema。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路线不是 LLM 随机生成，而是由约束驱动的确定性搜索；配真实路网资产（23 POI / 30 边 / 2 演艺 / 3 设施）与 60 用例验证。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三张指标卡突出系统化评测体系本身是竞赛亮点；注明评测边界（离线评测≠用户满意度）。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全片最重要的一页：用真实演示主线展示三个创新如何协同。来源：docs/competition/demo-script.md。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优先真实截图/素材：数字人形象为项目真实素材（Live2D 角色）。数字人是表现层，不包装成算法创新。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证明系统可迁移、可推广。不堆虚假市场规模，强调数据与算法解耦带来的复用价值。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收尾：三个核心能力 + 三个真实实验数字 + 一句话总结。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Dev/ppt-build/assets/cover_daf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502920"/>
            <a:ext cx="3639312" cy="5349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28432" y="502920"/>
            <a:ext cx="3639312" cy="5349240"/>
          </a:xfrm>
          <a:prstGeom prst="rect">
            <a:avLst/>
          </a:prstGeom>
          <a:ln w="15875">
            <a:solidFill>
              <a:srgbClr val="B08D5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777472" y="0"/>
            <a:ext cx="411480" cy="685800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566928"/>
            <a:ext cx="50292" cy="237744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" y="5029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人工·智能算法精英大赛  ·  AI+场景创新赛道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02920" y="221284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面向真实景区复杂场景的 AI 数字人导游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" y="2907792"/>
            <a:ext cx="822960" cy="27432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307238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融合多路知识检索 · 游客状态理解 · 多约束路线规划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37033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从「回答旅游问题」进一步走向「理解游客、规划行程、辅助游览决策」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806440"/>
            <a:ext cx="722376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59436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项目仓库  github.com/Mao123-doc/lingshan-ai-guide     |    初版汇报 · 2026.09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2920" y="61996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全部实验数据来自仓库 evaluation/results 真实记录，未虚构指标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场景与痛点  ·  02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传统景区导览难以处理复杂、动态、个性化的游客需求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17904"/>
            <a:ext cx="3584448" cy="2395728"/>
          </a:xfrm>
          <a:prstGeom prst="roundRect">
            <a:avLst>
              <a:gd name="adj" fmla="val 171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95528" y="2048256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“我带着 70 岁的父母，只有 3 小时，应该怎么游览？”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5528" y="3044952"/>
            <a:ext cx="299923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18211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 FAQ 只有景点介绍，没有时间预算与多景点取舍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1517904"/>
            <a:ext cx="3584448" cy="2395728"/>
          </a:xfrm>
          <a:prstGeom prst="roundRect">
            <a:avLst>
              <a:gd name="adj" fmla="val 171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0799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44568" y="2048256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“14:30 有演出，我现在在某个景点，下一站去哪？”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44568" y="3044952"/>
            <a:ext cx="299923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318211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传统导览不感知当前位置与演出场次的动态衔接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01000" y="1517904"/>
            <a:ext cx="3584448" cy="2395728"/>
          </a:xfrm>
          <a:prstGeom prst="roundRect">
            <a:avLst>
              <a:gd name="adj" fmla="val 171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5703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293608" y="2048256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“附近有没有适合轮椅通行的路线和卫生间？”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93608" y="3044952"/>
            <a:ext cx="299923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318211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通用大模型没有景区事实，也无行动能力与设施约束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11185855" cy="1737360"/>
          </a:xfrm>
          <a:prstGeom prst="roundRect">
            <a:avLst>
              <a:gd name="adj" fmla="val 2368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44256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景区智能导览真正面对的是 —— 多个问题同时存在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" y="4937760"/>
            <a:ext cx="1572768" cy="475488"/>
          </a:xfrm>
          <a:prstGeom prst="roundRect">
            <a:avLst>
              <a:gd name="adj" fmla="val 96154"/>
            </a:avLst>
          </a:prstGeom>
          <a:solidFill>
            <a:srgbClr val="8A6B3C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937760"/>
            <a:ext cx="157276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景区知识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587752" y="4937760"/>
            <a:ext cx="1572768" cy="475488"/>
          </a:xfrm>
          <a:prstGeom prst="roundRect">
            <a:avLst>
              <a:gd name="adj" fmla="val 96154"/>
            </a:avLst>
          </a:prstGeom>
          <a:solidFill>
            <a:srgbClr val="8A6B3C"/>
          </a:solidFill>
          <a:ln/>
        </p:spPr>
      </p:sp>
      <p:sp>
        <p:nvSpPr>
          <p:cNvPr id="28" name="Text 26"/>
          <p:cNvSpPr/>
          <p:nvPr/>
        </p:nvSpPr>
        <p:spPr>
          <a:xfrm>
            <a:off x="2587752" y="4937760"/>
            <a:ext cx="157276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游客个体状态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06824" y="4937760"/>
            <a:ext cx="1572768" cy="475488"/>
          </a:xfrm>
          <a:prstGeom prst="roundRect">
            <a:avLst>
              <a:gd name="adj" fmla="val 96154"/>
            </a:avLst>
          </a:prstGeom>
          <a:solidFill>
            <a:srgbClr val="8A6B3C"/>
          </a:solidFill>
          <a:ln/>
        </p:spPr>
      </p:sp>
      <p:sp>
        <p:nvSpPr>
          <p:cNvPr id="30" name="Text 28"/>
          <p:cNvSpPr/>
          <p:nvPr/>
        </p:nvSpPr>
        <p:spPr>
          <a:xfrm>
            <a:off x="4306824" y="4937760"/>
            <a:ext cx="157276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时间约束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025896" y="4937760"/>
            <a:ext cx="1572768" cy="475488"/>
          </a:xfrm>
          <a:prstGeom prst="roundRect">
            <a:avLst>
              <a:gd name="adj" fmla="val 96154"/>
            </a:avLst>
          </a:prstGeom>
          <a:solidFill>
            <a:srgbClr val="8A6B3C"/>
          </a:solidFill>
          <a:ln/>
        </p:spPr>
      </p:sp>
      <p:sp>
        <p:nvSpPr>
          <p:cNvPr id="32" name="Text 30"/>
          <p:cNvSpPr/>
          <p:nvPr/>
        </p:nvSpPr>
        <p:spPr>
          <a:xfrm>
            <a:off x="6025896" y="4937760"/>
            <a:ext cx="157276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空间约束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744968" y="4937760"/>
            <a:ext cx="1572768" cy="475488"/>
          </a:xfrm>
          <a:prstGeom prst="roundRect">
            <a:avLst>
              <a:gd name="adj" fmla="val 96154"/>
            </a:avLst>
          </a:prstGeom>
          <a:solidFill>
            <a:srgbClr val="8A6B3C"/>
          </a:solidFill>
          <a:ln/>
        </p:spPr>
      </p:sp>
      <p:sp>
        <p:nvSpPr>
          <p:cNvPr id="34" name="Text 32"/>
          <p:cNvSpPr/>
          <p:nvPr/>
        </p:nvSpPr>
        <p:spPr>
          <a:xfrm>
            <a:off x="7744968" y="4937760"/>
            <a:ext cx="157276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游览决策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68680" y="552297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单一「问答式」工具无法覆盖——景区需要的是一个会检索知识、会理解游客、会规划路线的智能体。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问题抽象  ·  03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真正的智能导游，需要同时解决「知识、理解、决策」三个问题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310128" cy="3063240"/>
          </a:xfrm>
          <a:prstGeom prst="roundRect">
            <a:avLst>
              <a:gd name="adj" fmla="val 1343"/>
            </a:avLst>
          </a:prstGeom>
          <a:solidFill>
            <a:srgbClr val="FFFFFF"/>
          </a:solidFill>
          <a:ln w="9525">
            <a:solidFill>
              <a:srgbClr val="B08D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80720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知道景区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60120" y="3429000"/>
            <a:ext cx="731520" cy="27432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57530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多路混合 RAG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941064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可靠获取景区知识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 · 专名 · 结构化事实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1600200"/>
            <a:ext cx="3310128" cy="3063240"/>
          </a:xfrm>
          <a:prstGeom prst="roundRect">
            <a:avLst>
              <a:gd name="adj" fmla="val 134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26280" y="24688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80720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理解游客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26280" y="3429000"/>
            <a:ext cx="731520" cy="27432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357530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场景状态解析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3941064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感知个体约束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· 行动能力 · 偏好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0" y="1600200"/>
            <a:ext cx="3310128" cy="3063240"/>
          </a:xfrm>
          <a:prstGeom prst="roundRect">
            <a:avLst>
              <a:gd name="adj" fmla="val 134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9244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092440" y="24688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92440" y="280720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规划游览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092440" y="3429000"/>
            <a:ext cx="731520" cy="27432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357530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多约束路线规划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92440" y="3941064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生成可执行决策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满足硬约束与时间线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0" y="251460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23760" y="251460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789920" y="251460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776472" y="4718304"/>
            <a:ext cx="3749040" cy="1133856"/>
          </a:xfrm>
          <a:prstGeom prst="ellipse">
            <a:avLst/>
          </a:prstGeom>
          <a:solidFill>
            <a:srgbClr val="242A2E"/>
          </a:solidFill>
          <a:ln/>
        </p:spPr>
      </p:sp>
      <p:sp>
        <p:nvSpPr>
          <p:cNvPr id="33" name="Text 31"/>
          <p:cNvSpPr/>
          <p:nvPr/>
        </p:nvSpPr>
        <p:spPr>
          <a:xfrm>
            <a:off x="3776472" y="47183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数字人导游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776472" y="5303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理解游客 → 检索知识 → 辅助决策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95144" y="4645152"/>
            <a:ext cx="0" cy="36576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95144" y="5010912"/>
            <a:ext cx="3355848" cy="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61304" y="4645152"/>
            <a:ext cx="0" cy="36576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61304" y="5010912"/>
            <a:ext cx="-210312" cy="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27464" y="4645152"/>
            <a:ext cx="0" cy="36576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27464" y="5010912"/>
            <a:ext cx="-3776472" cy="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50992" y="5010912"/>
            <a:ext cx="0" cy="256032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系统方案  ·  04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构建覆盖「问—懂—查—规划—交互」的 AI 导游闭环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1975104" cy="1234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883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" y="21762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3816" y="25786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/ 语音 / 图片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06040" y="2212848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25496" y="1737360"/>
            <a:ext cx="1975104" cy="1234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44952" y="1883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44952" y="21762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意图与游客状态解析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44952" y="25786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 · 在哪 · 还有多少时间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37176" y="2212848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56632" y="1737360"/>
            <a:ext cx="1975104" cy="1234440"/>
          </a:xfrm>
          <a:prstGeom prst="roundRect">
            <a:avLst>
              <a:gd name="adj" fmla="val 3333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76088" y="1883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76088" y="21762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RAG + 约束规划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76088" y="25786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多路检索 + 确定性路线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68312" y="2212848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87768" y="1737360"/>
            <a:ext cx="1975104" cy="1234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07224" y="1883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07224" y="21762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07224" y="25786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有证据的回答与解释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99448" y="2212848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18904" y="1737360"/>
            <a:ext cx="1975104" cy="1234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38360" y="1883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38360" y="21762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数字人 / 语音 / 地图 / 推荐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738360" y="25786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可交互的游览决策输出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3429000"/>
            <a:ext cx="11002975" cy="1051560"/>
          </a:xfrm>
          <a:prstGeom prst="roundRect">
            <a:avLst>
              <a:gd name="adj" fmla="val 3913"/>
            </a:avLst>
          </a:prstGeom>
          <a:solidFill>
            <a:srgbClr val="F1EAE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01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一句话方案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39044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游客的自然语言需求先被解析为结构化状态，再通过「多路检索拿事实 + 确定性规划算路线」，最后由大模型组织成有温度的回答——每一步都有据可查。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436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支撑层（辅助信息，不构成创新点）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360" y="5047488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038344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· TypeScript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79192" y="5047488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</p:sp>
      <p:sp>
        <p:nvSpPr>
          <p:cNvPr id="39" name="Text 37"/>
          <p:cNvSpPr/>
          <p:nvPr/>
        </p:nvSpPr>
        <p:spPr>
          <a:xfrm>
            <a:off x="2679192" y="5038344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· Ant Design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64024" y="5047488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</p:sp>
      <p:sp>
        <p:nvSpPr>
          <p:cNvPr id="41" name="Text 39"/>
          <p:cNvSpPr/>
          <p:nvPr/>
        </p:nvSpPr>
        <p:spPr>
          <a:xfrm>
            <a:off x="4764024" y="5038344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 + BGE 中文模型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" y="5468112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5458968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edge-tts · ASR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679192" y="5468112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</p:sp>
      <p:sp>
        <p:nvSpPr>
          <p:cNvPr id="45" name="Text 43"/>
          <p:cNvSpPr/>
          <p:nvPr/>
        </p:nvSpPr>
        <p:spPr>
          <a:xfrm>
            <a:off x="2679192" y="5458968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Live2D 数字人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64024" y="5468112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</p:sp>
      <p:sp>
        <p:nvSpPr>
          <p:cNvPr id="47" name="Text 45"/>
          <p:cNvSpPr/>
          <p:nvPr/>
        </p:nvSpPr>
        <p:spPr>
          <a:xfrm>
            <a:off x="4764024" y="5458968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Agnes LLM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436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后端框架、数据库与中间件只是支撑层；核心价值在中间「懂—查—规划」智能链路。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 01 · Hybrid RAG  ·  05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多路混合 RAG：让不同性质的问题走不同的信息通道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5532120" cy="4160520"/>
          </a:xfrm>
          <a:prstGeom prst="roundRect">
            <a:avLst>
              <a:gd name="adj" fmla="val 98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检索流水线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176272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EFE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3113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游客问题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口语化 · 多约束 · 混合表达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" y="2871216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EFE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260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 / Router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316382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判断问题性质，决定检索通道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" y="3566160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1EAE0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62102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三路并行检索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385876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· Keyword · Structured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2960" y="4261104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EFE7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3159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RRF 统一候选 + Rerank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5840" y="455371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k=60 融合，精排上下文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2960" y="4956048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EFE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0109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→ LLM 生成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524865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带证据的回答 + 完整 Trace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不同问题 → 不同通道（真实映射）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1975104"/>
            <a:ext cx="5303520" cy="1225296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11112" y="2176272"/>
            <a:ext cx="1783080" cy="384048"/>
          </a:xfrm>
          <a:prstGeom prst="roundRect">
            <a:avLst>
              <a:gd name="adj" fmla="val 119048"/>
            </a:avLst>
          </a:prstGeom>
          <a:solidFill>
            <a:srgbClr val="8A6B3C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12" y="2167128"/>
            <a:ext cx="17830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语义召回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11112" y="2633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 / 同义表达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76488" y="2176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“梵宫有多大规模？”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76488" y="2688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 中文向量，处理说法差异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3364992"/>
            <a:ext cx="5303520" cy="1225296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11112" y="3566160"/>
            <a:ext cx="1783080" cy="384048"/>
          </a:xfrm>
          <a:prstGeom prst="roundRect">
            <a:avLst>
              <a:gd name="adj" fmla="val 119048"/>
            </a:avLst>
          </a:prstGeom>
          <a:solidFill>
            <a:srgbClr val="8A6B3C"/>
          </a:solidFill>
          <a:ln/>
        </p:spPr>
      </p:sp>
      <p:sp>
        <p:nvSpPr>
          <p:cNvPr id="34" name="Text 32"/>
          <p:cNvSpPr/>
          <p:nvPr/>
        </p:nvSpPr>
        <p:spPr>
          <a:xfrm>
            <a:off x="6611112" y="3557016"/>
            <a:ext cx="17830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 精确命中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11112" y="4023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精确专名 / 编号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76488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“百子戏弥勒”在哪个区域？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476488" y="4078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专名、短词、原文命中不漂移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55080" y="4754880"/>
            <a:ext cx="5303520" cy="1225296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11112" y="4956048"/>
            <a:ext cx="1783080" cy="384048"/>
          </a:xfrm>
          <a:prstGeom prst="roundRect">
            <a:avLst>
              <a:gd name="adj" fmla="val 119048"/>
            </a:avLst>
          </a:prstGeom>
          <a:solidFill>
            <a:srgbClr val="8A6B3C"/>
          </a:solidFill>
          <a:ln/>
        </p:spPr>
      </p:sp>
      <p:sp>
        <p:nvSpPr>
          <p:cNvPr id="40" name="Text 38"/>
          <p:cNvSpPr/>
          <p:nvPr/>
        </p:nvSpPr>
        <p:spPr>
          <a:xfrm>
            <a:off x="6611112" y="4946904"/>
            <a:ext cx="17830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 字段级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11112" y="5413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结构化事实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76488" y="4956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《吉祥颂》14:00 场次多久？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476488" y="5468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 · 时长 · 票价 · 开放窗口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" y="5870448"/>
            <a:ext cx="11185855" cy="475488"/>
          </a:xfrm>
          <a:prstGeom prst="roundRect">
            <a:avLst>
              <a:gd name="adj" fmla="val 8654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创新不是「用了 RAG」，而是为不同类型的事实设计互补检索通道，并用 Trace 证明每路真实执行、召回了什么、如何影响最终回答。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 01 · Hybrid RAG  ·  06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单一向量检索存在盲区：不同问题需要不同的信息获取机制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1185855" cy="1298448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7739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“灵山大佛有多高？”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 · 常见问答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810512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BF1EC"/>
          </a:solidFill>
          <a:ln w="9525">
            <a:solidFill>
              <a:srgbClr val="E7C9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883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48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单一向量检索的盲区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4920" y="21214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向量可召回相似问法，但缺少精确事实对齐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98280" y="1810512"/>
            <a:ext cx="2560320" cy="786384"/>
          </a:xfrm>
          <a:prstGeom prst="roundRect">
            <a:avLst>
              <a:gd name="adj" fmla="val 9302"/>
            </a:avLst>
          </a:prstGeom>
          <a:solidFill>
            <a:srgbClr val="F1EAE0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对应通道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235440" y="21214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语义召回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999232"/>
            <a:ext cx="11185855" cy="1298448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218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“百子戏弥勒” 在哪个区域？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精确专名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255264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BF1EC"/>
          </a:solidFill>
          <a:ln w="9525">
            <a:solidFill>
              <a:srgbClr val="E7C9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328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48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单一向量检索的盲区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35661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近义词干扰下，向量可能被语义「带偏」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98280" y="3255264"/>
            <a:ext cx="2560320" cy="786384"/>
          </a:xfrm>
          <a:prstGeom prst="roundRect">
            <a:avLst>
              <a:gd name="adj" fmla="val 9302"/>
            </a:avLst>
          </a:prstGeom>
          <a:solidFill>
            <a:srgbClr val="F1EAE0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3328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对应通道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35440" y="35661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 精确命中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443984"/>
            <a:ext cx="11185855" cy="1298448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4663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《吉祥颂》14:00 场次演出多长时间？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51937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结构化事实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4700016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BF1EC"/>
          </a:solidFill>
          <a:ln w="9525">
            <a:solidFill>
              <a:srgbClr val="E7C9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773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48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单一向量检索的盲区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501091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向量难以稳定对齐「时刻 · 时长」字段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98280" y="4700016"/>
            <a:ext cx="2560320" cy="786384"/>
          </a:xfrm>
          <a:prstGeom prst="roundRect">
            <a:avLst>
              <a:gd name="adj" fmla="val 9302"/>
            </a:avLst>
          </a:prstGeom>
          <a:solidFill>
            <a:srgbClr val="F1EAE0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4773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对应通道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35440" y="501091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 字段级保证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8182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58064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多路检索的价值：为不同类型的事实设计互补通道，减少「看似相关、实则漏检」，让回答有证据可依。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实验验证 · 消融  ·  07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完整检索链在 50 题测试集上达到 98.0% 准确率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19495" y="65105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evaluation/results/ablation_20260917_013925 · git 0522c386 · 单次运行观察值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6492240" cy="4041648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7007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检索方式消融（Accuracy %）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77240" y="2103120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7315200" y="17007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组件消融（同一测试集）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0" y="2121408"/>
            <a:ext cx="4343400" cy="914400"/>
          </a:xfrm>
          <a:prstGeom prst="roundRect">
            <a:avLst>
              <a:gd name="adj" fmla="val 4500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589520" y="2286000"/>
            <a:ext cx="141732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98.0%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098280" y="23225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Retrieval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98280" y="26334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完整链路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315200" y="3200400"/>
            <a:ext cx="434340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589520" y="3364992"/>
            <a:ext cx="141732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90.0%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098280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− Rerank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098280" y="37124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Rerank 贡献 +8.0pp（本轮观察）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315200" y="4279392"/>
            <a:ext cx="434340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589520" y="4443984"/>
            <a:ext cx="141732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98.0%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9098280" y="44805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− Rewrite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098280" y="47914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Rewrite 本轮无差异（Trace 复核）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5855" cy="603504"/>
          </a:xfrm>
          <a:prstGeom prst="roundRect">
            <a:avLst>
              <a:gd name="adj" fmla="val 6818"/>
            </a:avLst>
          </a:prstGeom>
          <a:solidFill>
            <a:srgbClr val="F1EAE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77240" y="5760720"/>
            <a:ext cx="106372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控制变量：同一 50 题测试集  ·  同一模型（请求 deepseek-chat，Provider trace 返回 deepseek-flash）  ·  同一 Prompt / 参数  ·  每题独立 session  ·  retrievalTopK=8 / contextTopK=5  ·  单变量消融，7 组 × 50 题 = 350 次真实 API 调用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 02 · 场景状态理解  ·  08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理解「游客是谁、想去哪、还有多少时间」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17904"/>
            <a:ext cx="5120640" cy="4023360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9525">
            <a:solidFill>
              <a:srgbClr val="B08D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真实游客输入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157984"/>
            <a:ext cx="4480560" cy="1920240"/>
          </a:xfrm>
          <a:prstGeom prst="roundRect">
            <a:avLst>
              <a:gd name="adj" fmla="val 2857"/>
            </a:avLst>
          </a:prstGeom>
          <a:solidFill>
            <a:srgbClr val="F3EFE7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340864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“我带腿脚不方便的妈妈，现在是 13:00，在景区入口，只有三小时，还想看两点的《吉祥颂》，应该怎么走？”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306824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一段自然语言里同时包含：同行人、行动能力、当前时间、时间预算、演艺偏好、当前位置——这正是真实游客的说话方式。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0" y="1499616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系统解析出的 Scene State（结构化游客状态）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920240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44768" y="2011680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当前地点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44768" y="2249424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南门入口（south_gate）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83980" y="1920240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5148" y="2011680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当前时间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85148" y="2249424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2761488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44768" y="2852928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剩余时间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44768" y="3090672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 分钟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83980" y="2761488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85148" y="2852928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85148" y="3090672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老人（with_elderly）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3602736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44768" y="3694176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行动能力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44768" y="3931920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行动受限（limited）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83980" y="3602736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85148" y="3694176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演艺偏好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85148" y="3931920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《灵山吉祥颂》14:00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4443984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44768" y="4535424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必去 / 已游景点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44768" y="4773168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由需求与路线引擎共同维护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83980" y="4443984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185148" y="4535424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缺失关键字段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85148" y="4773168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—— 若缺失则主动追问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5779008"/>
            <a:ext cx="11185855" cy="566928"/>
          </a:xfrm>
          <a:prstGeom prst="roundRect">
            <a:avLst>
              <a:gd name="adj" fmla="val 7258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77240" y="5815584"/>
            <a:ext cx="10637215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8D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结构化字段：currentLocation · currentTime · remainingMinutes · partyType · mobility · interests · mustVisit · preferredPerformance · visited · missingCriticalFields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60533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关键：系统形成可复用的「游客状态」，而不是只做一次性问答；信息不足时用自然语言追问，不猜不编。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 03 · 多约束路线规划  ·  09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路线生成由真实约束驱动，而不是模型「随口推荐」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17904"/>
            <a:ext cx="5577840" cy="4297680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7007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约束输入 → 确定性规划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084832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75688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必去景点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23744" y="2084832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</p:sp>
      <p:sp>
        <p:nvSpPr>
          <p:cNvPr id="13" name="Text 11"/>
          <p:cNvSpPr/>
          <p:nvPr/>
        </p:nvSpPr>
        <p:spPr>
          <a:xfrm>
            <a:off x="2523744" y="2075688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时间预算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24528" y="2084832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</p:sp>
      <p:sp>
        <p:nvSpPr>
          <p:cNvPr id="15" name="Text 13"/>
          <p:cNvSpPr/>
          <p:nvPr/>
        </p:nvSpPr>
        <p:spPr>
          <a:xfrm>
            <a:off x="4224528" y="2075688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当前位置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2505456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496312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行动能力 / 无障碍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23744" y="2505456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</p:sp>
      <p:sp>
        <p:nvSpPr>
          <p:cNvPr id="19" name="Text 17"/>
          <p:cNvSpPr/>
          <p:nvPr/>
        </p:nvSpPr>
        <p:spPr>
          <a:xfrm>
            <a:off x="2523744" y="2496312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演艺场次与时长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24528" y="2505456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</p:sp>
      <p:sp>
        <p:nvSpPr>
          <p:cNvPr id="21" name="Text 19"/>
          <p:cNvSpPr/>
          <p:nvPr/>
        </p:nvSpPr>
        <p:spPr>
          <a:xfrm>
            <a:off x="4224528" y="2496312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已游景点 · 开放窗口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51560" y="3145536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242A2E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1455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Constraint Planner（确定性图搜索 + 校验）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负责理解与解释，但「路线可行」由算法裁决 —— 模型不能绕过硬约束宣布一条路线可行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68680" y="4334256"/>
            <a:ext cx="109728" cy="10972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6" name="Text 24"/>
          <p:cNvSpPr/>
          <p:nvPr/>
        </p:nvSpPr>
        <p:spPr>
          <a:xfrm>
            <a:off x="1069848" y="426110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多段路径 + 步行时长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" y="4700016"/>
            <a:ext cx="109728" cy="10972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8" name="Text 26"/>
          <p:cNvSpPr/>
          <p:nvPr/>
        </p:nvSpPr>
        <p:spPr>
          <a:xfrm>
            <a:off x="1069848" y="462686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到达 / 等待 / 演出时间线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5065776"/>
            <a:ext cx="109728" cy="10972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0" name="Text 28"/>
          <p:cNvSpPr/>
          <p:nvPr/>
        </p:nvSpPr>
        <p:spPr>
          <a:xfrm>
            <a:off x="1069848" y="499262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硬约束满足证明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431536"/>
            <a:ext cx="109728" cy="10972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2" name="Text 30"/>
          <p:cNvSpPr/>
          <p:nvPr/>
        </p:nvSpPr>
        <p:spPr>
          <a:xfrm>
            <a:off x="1069848" y="535838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不可行 → 拒绝并给替代方案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14996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真实路网与验证结果</a:t>
            </a:r>
            <a:endParaRPr lang="en-US" sz="1250" dirty="0"/>
          </a:p>
        </p:txBody>
      </p:sp>
      <p:pic>
        <p:nvPicPr>
          <p:cNvPr id="34" name="Image 0" descr="D:/Dev/ppt-build/assets/fangong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01952"/>
            <a:ext cx="5303520" cy="148132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355080" y="34015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灵山梵宫（《吉祥颂》演出地，LS-013）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35508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23 个景点 POI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900684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30 条路网边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35508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2 场演艺（时刻·时长）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900684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3 类设施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355080" y="4517136"/>
            <a:ext cx="5303520" cy="1170432"/>
          </a:xfrm>
          <a:prstGeom prst="roundRect">
            <a:avLst>
              <a:gd name="adj" fmla="val 3516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6583680" y="4645152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60/60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6583680" y="5102352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可行性分类正确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8199120" y="4645152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8199120" y="5102352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硬约束违规 hard violations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814560" y="4645152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814560" y="5102352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不可行 P / R / F1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02920" y="596188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确定性可复现：核心路线重复执行 9 次结果一致。步行时长等字段标记 estimated，需现场核验后才能称为运营级导航。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实验验证 · 系统化评测  ·  10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建立覆盖「知识—理解—决策」的系统化评测体系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19495" y="65105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baseline_20260917_020000 · scene_benchmark_v1 · route_validator_v1 · git 0522c386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3584448" cy="32918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73736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RAG / Knowledge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084832"/>
            <a:ext cx="3035808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/ 50 通过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108960"/>
            <a:ext cx="3035808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3346704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2186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题 Fact Contract 评测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5528" y="365760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52958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recall 0.970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5528" y="3968496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840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 success 50/50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5528" y="4279392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15137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失败题保留，不隐藏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4517136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QA API · 每题独立 session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70248" y="1536192"/>
            <a:ext cx="3584448" cy="32918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B08D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44568" y="173736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Scene Understanding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44568" y="2084832"/>
            <a:ext cx="3035808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/ 40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544568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field accuracy 1.0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44568" y="3108960"/>
            <a:ext cx="3035808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62856" y="3346704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9" name="Text 27"/>
          <p:cNvSpPr/>
          <p:nvPr/>
        </p:nvSpPr>
        <p:spPr>
          <a:xfrm>
            <a:off x="4727448" y="32186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老人 / 儿童 / 轮椅 / 行动受限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62856" y="365760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1" name="Text 29"/>
          <p:cNvSpPr/>
          <p:nvPr/>
        </p:nvSpPr>
        <p:spPr>
          <a:xfrm>
            <a:off x="4727448" y="352958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时间约束 · 演艺偏好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62856" y="3968496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3" name="Text 31"/>
          <p:cNvSpPr/>
          <p:nvPr/>
        </p:nvSpPr>
        <p:spPr>
          <a:xfrm>
            <a:off x="4727448" y="3840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必去 / 已游景点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62856" y="4279392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5" name="Text 33"/>
          <p:cNvSpPr/>
          <p:nvPr/>
        </p:nvSpPr>
        <p:spPr>
          <a:xfrm>
            <a:off x="4727448" y="415137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缺失关键字段识别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44568" y="4517136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确定性场景抽取 · gold case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037576" y="1536192"/>
            <a:ext cx="3584448" cy="32918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311896" y="173736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Route Planning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11896" y="2084832"/>
            <a:ext cx="3035808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/ 60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8311896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 violations = 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311896" y="3108960"/>
            <a:ext cx="3035808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30184" y="3346704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43" name="Text 41"/>
          <p:cNvSpPr/>
          <p:nvPr/>
        </p:nvSpPr>
        <p:spPr>
          <a:xfrm>
            <a:off x="8494776" y="32186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可行性分类全部正确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330184" y="365760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45" name="Text 43"/>
          <p:cNvSpPr/>
          <p:nvPr/>
        </p:nvSpPr>
        <p:spPr>
          <a:xfrm>
            <a:off x="8494776" y="352958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不可行 P / R / F1 = 1.0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330184" y="3968496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47" name="Text 45"/>
          <p:cNvSpPr/>
          <p:nvPr/>
        </p:nvSpPr>
        <p:spPr>
          <a:xfrm>
            <a:off x="8494776" y="3840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组不可行用例诚实拒绝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330184" y="4279392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49" name="Text 47"/>
          <p:cNvSpPr/>
          <p:nvPr/>
        </p:nvSpPr>
        <p:spPr>
          <a:xfrm>
            <a:off x="8494776" y="415137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确定性重复执行一致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311896" y="4517136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结构化约束验证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2920" y="5047488"/>
            <a:ext cx="11185855" cy="841248"/>
          </a:xfrm>
          <a:prstGeom prst="roundRect">
            <a:avLst>
              <a:gd name="adj" fmla="val 4891"/>
            </a:avLst>
          </a:prstGeom>
          <a:solidFill>
            <a:srgbClr val="F1EAE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157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评测证据链（全部版本化）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7724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77724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Contract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256032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 Gold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4340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434340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Gold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2648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12648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Validator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90956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790956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Smoke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69264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969264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Ablation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2920" y="6035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离线评测 ≠ 用户满意度；路线为结构化约束验证，步行时长标记 estimated。项目后续计划补充真实游客研究与运营方数据核验。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场景还原 · 完整案例  ·  11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一个复杂游客请求：三个创新如何协同完成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11185855" cy="786384"/>
          </a:xfrm>
          <a:prstGeom prst="roundRect">
            <a:avLst>
              <a:gd name="adj" fmla="val 5233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游客输入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1463040"/>
            <a:ext cx="95399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“我带腿脚不方便的妈妈，现在是 13:00，在景区入口，只有三小时，还想看两点的《吉祥颂》，应该怎么走？”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87168"/>
            <a:ext cx="26700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88336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8A6B3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79192"/>
            <a:ext cx="868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游客状态解析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State：老人 · 行动受限 · 剩余 180 分钟 · 演艺偏好《吉祥颂》14:00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72968" y="3493008"/>
            <a:ext cx="182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37560" y="2487168"/>
            <a:ext cx="26700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2688336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8A6B3C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2679192"/>
            <a:ext cx="868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31089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景区知识检索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66160" y="35661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 RAG：演出时刻与时长 · 景点开放窗口 · 位置关系 · 无障碍信息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07608" y="3493008"/>
            <a:ext cx="182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72200" y="2487168"/>
            <a:ext cx="26700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2688336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8A6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679192"/>
            <a:ext cx="868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31089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约束规划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0" y="35661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确定性搜索：多段路径 + 到达/等待/演出时间线，满足全部硬约束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42248" y="3493008"/>
            <a:ext cx="182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006840" y="2487168"/>
            <a:ext cx="26700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35440" y="2688336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8A6B3C"/>
          </a:solidFill>
          <a:ln/>
        </p:spPr>
      </p:sp>
      <p:sp>
        <p:nvSpPr>
          <p:cNvPr id="31" name="Text 29"/>
          <p:cNvSpPr/>
          <p:nvPr/>
        </p:nvSpPr>
        <p:spPr>
          <a:xfrm>
            <a:off x="9235440" y="2679192"/>
            <a:ext cx="868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235440" y="31089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LLM 生成解释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235440" y="35661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为什么这么走 · 预计耗时 · 下一站 · 注意事项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029200"/>
            <a:ext cx="11185855" cy="1298448"/>
          </a:xfrm>
          <a:prstGeom prst="roundRect">
            <a:avLst>
              <a:gd name="adj" fmla="val 3169"/>
            </a:avLst>
          </a:prstGeom>
          <a:solidFill>
            <a:srgbClr val="FBF1EC"/>
          </a:solidFill>
          <a:ln w="9525">
            <a:solidFill>
              <a:srgbClr val="E7C9B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" y="51572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48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对照：系统如何处理「不可行」与「信息不足」？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77240" y="544982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 3 小时但 10:00 出发 → 14:00 演出不可达：系统诚实拒绝，并给出满足时间预算的替代路线，不把需求「包装成可行」。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83680" y="544982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缺失当前时间 → 系统主动追问「你现在大约几点开始游览？」；缺失位置 → 继续澄清。不猜测、不编造、不留错误码。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产品闭环  ·  12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AI 能力已封装为可实际交互的数字人导游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6949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810512"/>
            <a:ext cx="384048" cy="38404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700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数字人交互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0299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Live2D 实时渲染 · 口型同步 · 表情动作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615184"/>
            <a:ext cx="6949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871216"/>
            <a:ext cx="384048" cy="38404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7614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语音问答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0906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语音输入识别 + 语音播报，解放双手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6949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931920"/>
            <a:ext cx="384048" cy="38404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8221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15137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多路混合 RAG 流式回答，带证据可溯源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736592"/>
            <a:ext cx="6949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992624"/>
            <a:ext cx="384048" cy="38404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8828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路线推荐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52120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约束路线规划 + 地图 + 周边设施推荐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5852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辅助功能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614476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6135624"/>
            <a:ext cx="2011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景点百科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97480" y="614476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  <a:ln/>
        </p:spPr>
      </p:sp>
      <p:sp>
        <p:nvSpPr>
          <p:cNvPr id="32" name="Text 30"/>
          <p:cNvSpPr/>
          <p:nvPr/>
        </p:nvSpPr>
        <p:spPr>
          <a:xfrm>
            <a:off x="2697480" y="6135624"/>
            <a:ext cx="2011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周边设施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614476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6135624"/>
            <a:ext cx="2011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图片识别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651052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01384"/>
            <a:ext cx="2011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情感分析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97480" y="651052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  <a:ln/>
        </p:spPr>
      </p:sp>
      <p:sp>
        <p:nvSpPr>
          <p:cNvPr id="38" name="Text 36"/>
          <p:cNvSpPr/>
          <p:nvPr/>
        </p:nvSpPr>
        <p:spPr>
          <a:xfrm>
            <a:off x="2697480" y="6501384"/>
            <a:ext cx="2011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818120" y="1554480"/>
            <a:ext cx="3840480" cy="448056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40" name="Image 0" descr="D:/Dev/ppt-build/assets/character_portra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0" y="1783080"/>
            <a:ext cx="3200400" cy="32004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138160" y="5074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数字人导游（Live2D）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13816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数字人是产品表现层，核心价值在背后的理解与决策链路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应用推广  ·  13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核心能力可从单一景区复制到更多文旅空间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36192"/>
            <a:ext cx="4206240" cy="301752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0" descr="D:/Dev/ppt-build/assets/bg_ba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36192"/>
            <a:ext cx="420624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788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灵山胜境（首个落地景区）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182112"/>
            <a:ext cx="3657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已验证：50 题评测 · 场景 40/40 · 路线 60/60 · 真实产品闭环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景区专属资产：知识库 · 23 个 POI · 30 条路网边 · 演艺时刻 · 设施规则——全部数据与算法解耦，配置驱动。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可扩展的文旅空间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0" y="1938528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0" y="19385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古镇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242048" y="1938528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242048" y="19385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博物馆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454896" y="1938528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454896" y="19385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主题园区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0" y="2651760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029200" y="26517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景区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242048" y="2651760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242048" y="26517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454896" y="2651760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454896" y="26517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文旅综合体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29200" y="349300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同一套「数据配置 + 核心算法 + 交互层」骨架，替换知识库、POI、路线图与景区规则即可快速适配新场景。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2920" y="4828032"/>
            <a:ext cx="4709160" cy="1517904"/>
          </a:xfrm>
          <a:prstGeom prst="roundRect">
            <a:avLst>
              <a:gd name="adj" fmla="val 2711"/>
            </a:avLst>
          </a:prstGeom>
          <a:solidFill>
            <a:srgbClr val="FBF1EC"/>
          </a:solidFill>
          <a:ln w="9525">
            <a:solidFill>
              <a:srgbClr val="E7C9B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77240" y="4974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48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需要替换（场景专属）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95528" y="5321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知识库语料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95528" y="5632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POI / 路网 / 演艺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95528" y="5943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景区规则与设施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68112" y="4828032"/>
            <a:ext cx="6217920" cy="1517904"/>
          </a:xfrm>
          <a:prstGeom prst="roundRect">
            <a:avLst>
              <a:gd name="adj" fmla="val 2711"/>
            </a:avLst>
          </a:prstGeom>
          <a:solidFill>
            <a:srgbClr val="F1EAE0"/>
          </a:solidFill>
          <a:ln w="9525">
            <a:solidFill>
              <a:srgbClr val="B08D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742432" y="49743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核心能力复用（不依赖具体景区）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742432" y="5321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Hybrid RAG 多路检索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714232" y="5321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Scene Understanding 场景解析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742432" y="5632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Constraint Planning 约束规划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714232" y="5632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AI 交互与证据链评测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2920" y="59893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工程化设计（数据与算法解耦、配置驱动、评测可复现）是可迁移性的基础；不依赖任何单点景区数据。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 ·  14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导游从「回答问题」走向「理解游客并辅助游览决策」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19495" y="65105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全部数据来自仓库 evaluation/results 真实实验记录（git 0522c386）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5844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B08D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19202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RAG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5528" y="2468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可靠获取景区知识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" y="297180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多路检索 · 证据可溯源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70248" y="1600200"/>
            <a:ext cx="35844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62856" y="19202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Understanding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62856" y="2468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理解个体需求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62856" y="297180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结构化游客状态 · 缺信息追问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37576" y="1600200"/>
            <a:ext cx="35844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0184" y="19202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Constraint Planning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30184" y="2468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完成复杂游览决策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30184" y="297180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确定性规划 · 硬约束裁决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114800"/>
            <a:ext cx="11185855" cy="1005840"/>
          </a:xfrm>
          <a:prstGeom prst="roundRect">
            <a:avLst>
              <a:gd name="adj" fmla="val 4091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2245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最有说服力的三个真实实验数字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4535424"/>
            <a:ext cx="35661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98.0%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77240" y="49377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完整检索链准确率（50 题消融）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4535424"/>
            <a:ext cx="35661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/ 40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4572000" y="49377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场景理解 Gold 用例全部通过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66760" y="4535424"/>
            <a:ext cx="35661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/ 60 · 0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8366760" y="49377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路线可行性分类 · 硬约束违规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5376672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57784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我们希望让 AI 真正理解游客当前需求，并基于可信景区知识与现实约束，辅助游客完成一次完整的游览决策。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lingshan-ai-guide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灵小禅——面向真实景区复杂场景的 AI 数字人导游</dc:title>
  <dc:subject>PptxGenJS Presentation</dc:subject>
  <dc:creator>灵小禅项目组</dc:creator>
  <cp:lastModifiedBy>灵小禅项目组</cp:lastModifiedBy>
  <cp:revision>1</cp:revision>
  <dcterms:created xsi:type="dcterms:W3CDTF">2026-09-17T17:39:08Z</dcterms:created>
  <dcterms:modified xsi:type="dcterms:W3CDTF">2026-09-17T17:39:08Z</dcterms:modified>
</cp:coreProperties>
</file>