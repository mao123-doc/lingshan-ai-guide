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1-1.jpg" ContentType="image/jpg"/>
  <Override PartName="/ppt/media/image-13-1.jpg" ContentType="image/jpg"/>
  <Override PartName="/ppt/media/image-14-1.jpg" ContentType="image/jpg"/>
  <Override PartName="/ppt/media/image-2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各位评委好，我们带来的不是又一个景区问答机器人，而是一套面向真实景区的可信决策智能体。它不仅要听懂游客，还要在真实道路、时间窗与人群约束下，算出确实走得通的方案。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我们聚焦三个会直接破坏游客体验的问题：物理不可达、时间窗错配、事实口误。它们共同说明，文旅智能体的终点不能只是生成答案，而必须把答案变成可执行、可验证的决策。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我们的核心创新是软硬解耦。大模型负责理解语义与提取约束，真正决定路线能否执行的是运筹引擎和形式化验证器。通过代码级字段门禁，模型不能直接编造 steps 和 feasible。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整套系统按五层拆开。底座层负责数据契约和形式化验证，状态层提取约束，知识层提供证据，规划层只做硬计算，表现层把结果交给游客。每一层都可以独立测试和替换。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检索不是串行兜底，而是通过 Promise.all 同时启动向量、结构化和关键词三路。之后用 RRF k 等于 60 融合，再由 Cross-Encoder 重排；遇到信源冲突，官方指南拥有最高优先级。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三路检索不是重复建设。向量负责语义，结构化负责数字与规则，关键词负责专名和原词。RRF 把它们统一到同一排序空间，再用重排与官方信源裁决，降低单一路径的盲区。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这页必须区分两套口径：50 题正式基线是 96%，即 48 比 50；七组受控消融中，完整方案的观察值是 98%。关闭重排后降到 90%，说明融合与重排确实在控制风险。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游客不会填写复杂表单，只会说一句自然语言。系统把它转成 13 维状态，并用 0.75 的置信度门禁决定是否追问。最关键的是，模型没有 steps 和 feasible 的写入权，避免理解模块越权编造路线。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规划流程先用 Dijkstra 过滤不可走的边，再用宽度 24 的 Beam Search 搜索景点、体力和演出时间窗之间的最优组合。最后由 14 项形式化守恒仲裁；不可行时必须诚实拒绝，并给出微游览备选。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我们用三类基准覆盖从知识到决策的全链路。事实问答正式基线 96%，状态槽位 40 比 40，边界路线 60 比 60，物理硬违规为零。这里每一个数字都对应仓库中的可复现实验文件。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英雄案例展示系统如何把人群、必看演出和离园死线变成时间轴。演出前主动留出 20 分钟排队缓冲，最后仍保留 15 分钟离园余量。如果游客只剩 20 分钟，系统会拒绝跨区赶场，改成可完成的入口微游览。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工程交付上，我们把事实问答和路线规划分成两个清晰入口。用户既可以展开证据抽屉，也可以把规划结果直接调起到实景导航。核心拓扑求解可在四核边缘节点达到 200 QPS 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落地不是大拆大建。第一周完成数据契约，第二周适配场景规则，第四周即可进入灰度运营。四核边缘节点加轻量服务让年综合成本低于 1.5 万元，预计 3 到 6 个月收回成本。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灵小禅最终要解决的不是如何生成一段更漂亮的话，而是让 AI 尊重物理世界，让每一次推荐都能被复核、能被执行、能真的走完。谢谢各位评委，欢迎现场验证。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Projects\lingshan-ai-guide-Mao123-doc\竞赛汇报与文档材料包\02_图片与视觉素材\国风数智_灵山胜境概念大图(封面推荐)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0352" y="457200"/>
            <a:ext cx="64008" cy="3611880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12064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12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 · AI+场景创新赛道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768096" y="11521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86384" y="1810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可信文旅决策智能体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86384" y="235915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从“会回答”到“算得对、走得通”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" y="29077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面向真实景区的物理时空多约束规划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软理解 × 硬计算 × 可追溯证据</a:t>
            </a:r>
            <a:endParaRPr lang="en-US" sz="1100" dirty="0"/>
          </a:p>
        </p:txBody>
      </p:sp>
      <p:pic>
        <p:nvPicPr>
          <p:cNvPr id="12" name="Image 1" descr="E:\Projects\lingshan-ai-guide-Mao123-doc\竞赛汇报与文档材料包\02_图片与视觉素材\数字人灵小禅立绘_透明底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04688" y="420624"/>
            <a:ext cx="3218688" cy="44074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" y="4315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第八届全球校园人工智能算法精英大赛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786384" y="45902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灵山胜境 · 可信决策 · 低成本落地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WHY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景区真正缺的，不是更多答案，而是更少“决策翻车”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170432"/>
            <a:ext cx="2578608" cy="3218688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7" name="Image 0" descr="E:\Projects\lingshan-ai-guide-Mao123-doc\竞赛汇报与文档材料包\02_图片与视觉素材\AI生图候选库\03_痛点场景候选\痛点候选_01_老人面对陡峭天梯长阶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170432"/>
            <a:ext cx="2578608" cy="1536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" y="2496312"/>
            <a:ext cx="438912" cy="43891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95351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物理常识盲区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340156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老人、儿童、轮椅用户被推荐到陡坡与台阶；文字正确，路线却走不动。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282696" y="1170432"/>
            <a:ext cx="2578608" cy="3218688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13" name="Image 1" descr="E:\Projects\lingshan-ai-guide-Mao123-doc\竞赛汇报与文档材料包\02_图片与视觉素材\AI生图候选库\03_痛点场景候选\痛点候选_02_演艺时间冲突赶场焦虑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2696" y="1170432"/>
            <a:ext cx="2578608" cy="15361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7288" y="2496312"/>
            <a:ext cx="438912" cy="43891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83864" y="295351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时效错配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83864" y="340156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演出时间窗、排队缓冲与离园死线相互冲突；赶到现场，节目已经结束。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6053328" y="1170432"/>
            <a:ext cx="2578608" cy="3218688"/>
          </a:xfrm>
          <a:prstGeom prst="roundRect">
            <a:avLst>
              <a:gd name="adj" fmla="val 283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19" name="Image 2" descr="E:\Projects\lingshan-ai-guide-Mao123-doc\竞赛汇报与文档材料包\02_图片与视觉素材\AI生图候选库\03_痛点场景候选\痛点候选_03_轮椅与行动不便面对无障碍盲区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53328" y="1170432"/>
            <a:ext cx="2578608" cy="15361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17920" y="2496312"/>
            <a:ext cx="438912" cy="43891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17920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54496" y="295351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事实口误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54496" y="340156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票价、开放时间与设施信息缺少来源；一句口误，就会破坏整段行程。</a:t>
            </a:r>
            <a:endParaRPr lang="en-US" sz="920" dirty="0"/>
          </a:p>
        </p:txBody>
      </p:sp>
      <p:sp>
        <p:nvSpPr>
          <p:cNvPr id="24" name="Text 19"/>
          <p:cNvSpPr/>
          <p:nvPr/>
        </p:nvSpPr>
        <p:spPr>
          <a:xfrm>
            <a:off x="512064" y="4453128"/>
            <a:ext cx="7543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传统生成式问答把“答案像不像”当终点；真实景区要求“决策能不能执行”。</a:t>
            </a:r>
            <a:endParaRPr lang="en-US" sz="1120" dirty="0"/>
          </a:p>
        </p:txBody>
      </p:sp>
      <p:sp>
        <p:nvSpPr>
          <p:cNvPr id="25" name="Text 20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问题归纳基于项目需求分析与 50 题 Fact Contract；场景图为概念视觉，不作为统计证据。</a:t>
            </a:r>
            <a:endParaRPr lang="en-US" sz="660" dirty="0"/>
          </a:p>
        </p:txBody>
      </p:sp>
      <p:sp>
        <p:nvSpPr>
          <p:cNvPr id="26" name="Shape 21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BREAKTHROUGH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破局：让大模型与运筹引擎各司其职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188720"/>
            <a:ext cx="3154680" cy="3072384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1732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417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语义软理解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1892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大模型负责“听懂人”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口语意图与多轮追问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13 维游客状态画像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文化内容与情绪表达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输出结构化约束，不生成路线真相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477256" y="1188720"/>
            <a:ext cx="3154680" cy="3072384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3288" y="141732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1417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时空硬规划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33288" y="189280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运筹引擎负责“算对路”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2450592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真实米数、坡度与道路拓扑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演出时间窗与排队缓冲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Dijkstra + 24 宽 Beam Search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14 项守恒仲裁与诚实拒绝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767328" y="2487168"/>
            <a:ext cx="1554480" cy="0"/>
          </a:xfrm>
          <a:prstGeom prst="line">
            <a:avLst/>
          </a:prstGeom>
          <a:noFill/>
          <a:ln w="2921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77056" y="1993392"/>
            <a:ext cx="1389888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157984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可信决策协议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77640" y="2487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 / 证据 / 审计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1042416" y="4425696"/>
            <a:ext cx="7059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核心不是“更大的模型”，而是把生成权与裁决权彻底分开。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架构原则：软硬解耦；FORBIDDEN_LLM_FIELDS 禁止大模型直接生成 steps / feasible。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五层解耦，把“能说”变成“能交付”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42416" y="1161288"/>
            <a:ext cx="7068312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161288"/>
            <a:ext cx="566928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161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73936" y="12435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072384" y="12527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9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双屏 UI · 证据追溯抽屉 · 实景导航 · Live2D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1042416" y="1837944"/>
            <a:ext cx="7068312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837944"/>
            <a:ext cx="566928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73936" y="1920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072384" y="192938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9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 · Beam Search(24) · 时间窗与动态纠偏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1042416" y="2514600"/>
            <a:ext cx="706831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2514600"/>
            <a:ext cx="566928" cy="566928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73936" y="25968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3072384" y="260604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三路并行检索 · RRF(k=60) · Cross-Encoder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1042416" y="3191256"/>
            <a:ext cx="706831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3191256"/>
            <a:ext cx="566928" cy="56692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73936" y="32735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状态层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3072384" y="328269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9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维画像 · 置信度门禁 ≥ 0.75 · 倒排时空推演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1042416" y="3867912"/>
            <a:ext cx="7068312" cy="566928"/>
          </a:xfrm>
          <a:prstGeom prst="roundRect">
            <a:avLst>
              <a:gd name="adj" fmla="val 967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3867912"/>
            <a:ext cx="566928" cy="566928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73936" y="39502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底座层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3072384" y="39593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景点 · 31 道路 · 14 项守恒 · 全链路 Trace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694944" y="1444752"/>
            <a:ext cx="0" cy="2852928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82880" y="2359152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可信度向上累积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23176" y="932688"/>
            <a:ext cx="969264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93268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≠ 裁决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当前系统架构以代码实现为准：表现、规划、知识、状态、底座五层解耦。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RETRIEVAL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一条请求，三路并行：把“找到”升级为“可信命中”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2249424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9424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7632" y="2496312"/>
            <a:ext cx="5029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1225296"/>
            <a:ext cx="1883664" cy="2532888"/>
          </a:xfrm>
          <a:prstGeom prst="roundRect">
            <a:avLst>
              <a:gd name="adj" fmla="val 3883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426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Promise.all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87168" y="192024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9202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487168" y="2569464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2569464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结构化检索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 / 规则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487168" y="3218688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321868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关键词检索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专名 / 原词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050792" y="2496312"/>
            <a:ext cx="566928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45152" y="2139696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13969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60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61304" y="2496312"/>
            <a:ext cx="5029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91656" y="2139696"/>
            <a:ext cx="117043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139696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2496312"/>
            <a:ext cx="438912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55864" y="2249424"/>
            <a:ext cx="859536" cy="493776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1584" y="2249424"/>
            <a:ext cx="768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权威答案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45152" y="3264408"/>
            <a:ext cx="2926080" cy="493776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36499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信源冲突：官方指南最高优先级置顶裁决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152144" y="4187952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Trace：rewrite → vector / structured / keyword → rrf → rerank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实现依据：backend/src/services/rag-service.ts 与 retrieval/hybrid-retriever.ts。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COMPLEMENTARITY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不是三选一：三种检索各自守住一类风险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1188720"/>
            <a:ext cx="1993392" cy="512064"/>
          </a:xfrm>
          <a:prstGeom prst="rect">
            <a:avLst/>
          </a:prstGeom>
          <a:solidFill>
            <a:srgbClr val="0F172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查询类型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93392" cy="512064"/>
          </a:xfrm>
          <a:prstGeom prst="rect">
            <a:avLst/>
          </a:prstGeom>
          <a:solidFill>
            <a:srgbClr val="0D948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118872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645152" y="1188720"/>
            <a:ext cx="1993392" cy="512064"/>
          </a:xfrm>
          <a:prstGeom prst="rect">
            <a:avLst/>
          </a:prstGeom>
          <a:solidFill>
            <a:srgbClr val="0D948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18872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结构化检索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638544" y="1188720"/>
            <a:ext cx="1847088" cy="512064"/>
          </a:xfrm>
          <a:prstGeom prst="rect">
            <a:avLst/>
          </a:prstGeom>
          <a:solidFill>
            <a:srgbClr val="0D948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188720"/>
            <a:ext cx="1700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关键词检索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1755648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755648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“带老人半天怎么玩？”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2651760" y="1755648"/>
            <a:ext cx="1993392" cy="676656"/>
          </a:xfrm>
          <a:prstGeom prst="rect">
            <a:avLst/>
          </a:prstGeom>
          <a:solidFill>
            <a:srgbClr val="D4AF3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1755648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理解语义与表达变体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4645152" y="1755648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755648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补齐人群 / 时长约束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638544" y="1755648"/>
            <a:ext cx="1847088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1755648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识别景点原词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58368" y="2514600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514600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“几点闭园、票价多少？”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2651760" y="2514600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514600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相关但可能混入近义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4645152" y="2514600"/>
            <a:ext cx="1993392" cy="676656"/>
          </a:xfrm>
          <a:prstGeom prst="rect">
            <a:avLst/>
          </a:prstGeom>
          <a:solidFill>
            <a:srgbClr val="D4AF3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514600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数字字段精确命中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638544" y="2514600"/>
            <a:ext cx="1847088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2514600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专名与规则兜底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58368" y="3273552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27355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“九龙灌浴今天能看吗？”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2651760" y="3273552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327355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召回上下文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645152" y="3273552"/>
            <a:ext cx="1993392" cy="676656"/>
          </a:xfrm>
          <a:prstGeom prst="rect">
            <a:avLst/>
          </a:prstGeom>
          <a:solidFill>
            <a:srgbClr val="F8FAF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27355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对齐演出时间窗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6638544" y="3273552"/>
            <a:ext cx="1847088" cy="676656"/>
          </a:xfrm>
          <a:prstGeom prst="rect">
            <a:avLst/>
          </a:prstGeom>
          <a:solidFill>
            <a:srgbClr val="D4AF3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11696" y="3273552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锁定专名与原句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1874520" y="420624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统一排序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22776" y="4206240"/>
            <a:ext cx="1444752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2776" y="4206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重排压低伪相关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420624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官方信源最终裁决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4206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577840" y="42062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职责对照基于当前混合检索实现；不使用历史串行回退链表述。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EVIDENCE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消融实证：融合不是装饰，重排也不是可有可无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170432"/>
            <a:ext cx="6089904" cy="3346704"/>
          </a:xfrm>
          <a:prstGeom prst="roundRect">
            <a:avLst>
              <a:gd name="adj" fmla="val 1639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5331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only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121408" y="138074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380744"/>
            <a:ext cx="2655418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3533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66.0%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76656" y="176479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w/o Rerank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121408" y="179222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21408" y="1792224"/>
            <a:ext cx="3621024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7647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90.0%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76656" y="217627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only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121408" y="220370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2203704"/>
            <a:ext cx="3781958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1762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94.0%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76656" y="258775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+ Rerank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121408" y="261518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2615184"/>
            <a:ext cx="3781958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877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76656" y="299923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Keyword only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121408" y="302666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1408" y="3026664"/>
            <a:ext cx="3862426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99923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76656" y="341071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w/o Rewrite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121408" y="343814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21408" y="3438144"/>
            <a:ext cx="3942893" cy="20116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4107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76656" y="3822192"/>
            <a:ext cx="1307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retrieval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121408" y="3849624"/>
            <a:ext cx="402336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1408" y="3849624"/>
            <a:ext cx="3942893" cy="201168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8221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121408" y="4288536"/>
            <a:ext cx="4023360" cy="0"/>
          </a:xfrm>
          <a:prstGeom prst="line">
            <a:avLst/>
          </a:prstGeom>
          <a:noFill/>
          <a:ln w="10160">
            <a:solidFill>
              <a:srgbClr val="0F172A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2029968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035808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041648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047488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053328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885432" y="1170432"/>
            <a:ext cx="1746504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14173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98.0%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013448" y="199339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受控消融运行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完整方案观察值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6885432" y="2788920"/>
            <a:ext cx="1746504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3026664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013448" y="3602736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题正式基线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50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证据：docs/ablation_report.md；正式基线与受控消融为不同运行口径，禁止混写。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SCENE STATE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把一句口语，变成可计算的 13 维场景状态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207008"/>
            <a:ext cx="2084832" cy="2450592"/>
          </a:xfrm>
          <a:prstGeom prst="roundRect">
            <a:avLst>
              <a:gd name="adj" fmla="val 4386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270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“我带着老人，下午四点前要走，想看九龙灌浴，别走太累。”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7238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自然语言输入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2423160"/>
            <a:ext cx="457200" cy="0"/>
          </a:xfrm>
          <a:prstGeom prst="line">
            <a:avLst/>
          </a:prstGeom>
          <a:noFill/>
          <a:ln w="2794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207008"/>
            <a:ext cx="3328416" cy="2450592"/>
          </a:xfrm>
          <a:prstGeom prst="roundRect">
            <a:avLst>
              <a:gd name="adj" fmla="val 3731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4630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同行人群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416552" y="14630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行动能力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5413248" y="1463040"/>
            <a:ext cx="941832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463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当前点位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419856" y="18562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入园时间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416552" y="18562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离园死线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413248" y="1856232"/>
            <a:ext cx="941832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18562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必看景点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419856" y="22494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必看演出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416552" y="22494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节奏偏好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413248" y="2249424"/>
            <a:ext cx="941832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24942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步行上限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419856" y="264261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2642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无障碍需求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416552" y="264261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6552" y="2642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天气状态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413248" y="2642616"/>
            <a:ext cx="941832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264261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餐饮需求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419856" y="303580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9856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实时变更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438144" y="33741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双轨抽取：规则先行 + LLM 补全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629400" y="2423160"/>
            <a:ext cx="438912" cy="0"/>
          </a:xfrm>
          <a:prstGeom prst="line">
            <a:avLst/>
          </a:prstGeom>
          <a:noFill/>
          <a:ln w="2794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14032" y="1207008"/>
            <a:ext cx="1517904" cy="2450592"/>
          </a:xfrm>
          <a:prstGeom prst="roundRect">
            <a:avLst>
              <a:gd name="adj" fmla="val 6024"/>
            </a:avLst>
          </a:prstGeom>
          <a:solidFill>
            <a:srgbClr val="F8FAFC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78624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置信度门禁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78624" y="1856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0.75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78624" y="24871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进入规划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 → 交互追问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78992" y="3977640"/>
            <a:ext cx="6986016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98448" y="4087368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代码级防越权：FORBIDDEN_LLM_FIELDS = steps / feasible　→　路线步骤与可行性只能由规划器裁决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场景槽位测试：40 / 40，关键缺失识别率 100%。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OPTIMIZATION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规划不是写文案：先过滤不可走，再搜索最优时空组合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170432"/>
            <a:ext cx="4709160" cy="3346704"/>
          </a:xfrm>
          <a:prstGeom prst="roundRect">
            <a:avLst>
              <a:gd name="adj" fmla="val 2186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807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景点 × 31 道路数字孪生路网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flipH="1">
            <a:off x="1225296" y="2075688"/>
            <a:ext cx="978408" cy="33832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03704" y="2075688"/>
            <a:ext cx="905256" cy="44805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3108960" y="2048256"/>
            <a:ext cx="1042416" cy="475488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151376" y="2048256"/>
            <a:ext cx="466344" cy="1033272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H="1">
            <a:off x="3483864" y="3081528"/>
            <a:ext cx="1133856" cy="36576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276856" y="3282696"/>
            <a:ext cx="1207008" cy="164592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1307592" y="3282696"/>
            <a:ext cx="969264" cy="41148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25296" y="2414016"/>
            <a:ext cx="82296" cy="128016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203704" y="2075688"/>
            <a:ext cx="73152" cy="1207008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108960" y="2523744"/>
            <a:ext cx="374904" cy="923544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108960" y="2523744"/>
            <a:ext cx="1508760" cy="557784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60120" y="2148840"/>
            <a:ext cx="530352" cy="530352"/>
          </a:xfrm>
          <a:prstGeom prst="ellipse">
            <a:avLst/>
          </a:prstGeom>
          <a:solidFill>
            <a:srgbClr val="D4AF37"/>
          </a:solidFill>
          <a:ln w="1778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271576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1938528" y="1810512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92224" y="23774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佛手广场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2843784" y="2258568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82549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九龙灌浴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3886200" y="1783080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35000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梵宫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4352544" y="2816352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38328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祥符禅寺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3218688" y="3182112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37490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五印坛城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011680" y="3017520"/>
            <a:ext cx="530352" cy="530352"/>
          </a:xfrm>
          <a:prstGeom prst="ellipse">
            <a:avLst/>
          </a:prstGeom>
          <a:solidFill>
            <a:srgbClr val="D4AF37"/>
          </a:solidFill>
          <a:ln w="1778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5376" y="358444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042416" y="3429000"/>
            <a:ext cx="530352" cy="530352"/>
          </a:xfrm>
          <a:prstGeom prst="ellipse">
            <a:avLst/>
          </a:prstGeom>
          <a:solidFill>
            <a:srgbClr val="F8FAFC"/>
          </a:solidFill>
          <a:ln w="1778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399592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无障碍点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1389888" y="4279392"/>
            <a:ext cx="2907792" cy="27432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9888" y="42793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坡度 / 米数 / 耗时 / 台阶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04688" y="1170432"/>
            <a:ext cx="3127248" cy="3346704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97296" y="1453896"/>
            <a:ext cx="1060704" cy="420624"/>
          </a:xfrm>
          <a:prstGeom prst="roundRect">
            <a:avLst>
              <a:gd name="adj" fmla="val 13043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43016" y="1453896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Dijkstra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0024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先剔除台阶、大坡度与无障碍禁边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6419088" y="1975104"/>
            <a:ext cx="0" cy="338328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797296" y="2414016"/>
            <a:ext cx="1216152" cy="420624"/>
          </a:xfrm>
          <a:prstGeom prst="roundRect">
            <a:avLst>
              <a:gd name="adj" fmla="val 13043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3016" y="2414016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Beam Search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7159752" y="2404872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 24：景点价值 × 步行负担 × 时间窗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419088" y="2944368"/>
            <a:ext cx="0" cy="329184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797296" y="3374136"/>
            <a:ext cx="1216152" cy="420624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43016" y="3374136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守恒仲裁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7159752" y="334670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项校验 + 演出前置 15–20 分钟缓冲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5769864" y="409651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 &gt; 10 分钟：增量重规划；不可行：诚实拒绝并给出微游览备选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实现依据：backend/src/services/route-planner.ts 与 route-validator.ts。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VERIFICATION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三类基准，把“可信”落实到可复现证据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12064" y="1188720"/>
            <a:ext cx="2505456" cy="2944368"/>
          </a:xfrm>
          <a:prstGeom prst="roundRect">
            <a:avLst>
              <a:gd name="adj" fmla="val 3650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630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事实问答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题 Fact Contract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/ 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25296" y="30906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权威基线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9808" y="36576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平均时延 3027.64 ms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3319272" y="1188720"/>
            <a:ext cx="2505456" cy="2944368"/>
          </a:xfrm>
          <a:prstGeom prst="roundRect">
            <a:avLst>
              <a:gd name="adj" fmla="val 3650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14630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状态理解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190195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557016" y="23408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槽位准确率 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关键缺失识别 100%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32504" y="30906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2504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维画像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57016" y="36576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低置信度触发交互追问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505456" cy="2944368"/>
          </a:xfrm>
          <a:prstGeom prst="roundRect">
            <a:avLst>
              <a:gd name="adj" fmla="val 3650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4630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路线守恒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190195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364224" y="23408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形式化合规 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物理硬违规 0 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39712" y="3090672"/>
            <a:ext cx="1078992" cy="27432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项仲裁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64224" y="365760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边界路线测试全部通过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1188720" y="4325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不是展示“看起来合理”，而是交付“每一步都能复核”。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证据：evaluation/results/baseline_20260917_020000、scene_benchmark_v1.json、route_validator_v1.json。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E:\Projects\lingshan-ai-guide-Mao123-doc\竞赛汇报与文档材料包\02_图片与视觉素材\国风数智_游客多约束决策全景概念图.jp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rcRect l="0" r="0" t="0" b="0"/>
          <a:stretch/>
        </p:blipFill>
        <p:spPr>
          <a:xfrm>
            <a:off x="6364224" y="1170432"/>
            <a:ext cx="2267712" cy="32735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64224" y="1170432"/>
            <a:ext cx="2267712" cy="3273552"/>
          </a:xfrm>
          <a:prstGeom prst="rect">
            <a:avLst/>
          </a:prstGeom>
          <a:solidFill>
            <a:srgbClr val="0F172A">
              <a:alpha val="70000"/>
            </a:srgbClr>
          </a:solidFill>
          <a:ln w="1524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HERO CASE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英雄案例：带老人半日游，也能在 16:00 前从容离园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30352" y="1207008"/>
            <a:ext cx="877824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30352" y="120700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老人同行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1517904" y="120700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517904" y="120700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步行优先少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2615184" y="120700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15184" y="12070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必看九龙灌浴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3895344" y="1207008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95344" y="120700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 离园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804672" y="2596896"/>
            <a:ext cx="4992624" cy="0"/>
          </a:xfrm>
          <a:prstGeom prst="line">
            <a:avLst/>
          </a:prstGeom>
          <a:noFill/>
          <a:ln w="17780">
            <a:solidFill>
              <a:srgbClr val="F8FAF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41248" y="24871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85216" y="2011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20624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20624" y="32644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状态确认</a:t>
            </a:r>
            <a:endParaRPr lang="en-US" sz="670" dirty="0"/>
          </a:p>
        </p:txBody>
      </p:sp>
      <p:sp>
        <p:nvSpPr>
          <p:cNvPr id="21" name="Shape 18"/>
          <p:cNvSpPr/>
          <p:nvPr/>
        </p:nvSpPr>
        <p:spPr>
          <a:xfrm>
            <a:off x="2011680" y="24871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755648" y="2011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11:35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591056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佛手广场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1591056" y="32644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低强度游览</a:t>
            </a:r>
            <a:endParaRPr lang="en-US" sz="670" dirty="0"/>
          </a:p>
        </p:txBody>
      </p:sp>
      <p:sp>
        <p:nvSpPr>
          <p:cNvPr id="25" name="Shape 22"/>
          <p:cNvSpPr/>
          <p:nvPr/>
        </p:nvSpPr>
        <p:spPr>
          <a:xfrm>
            <a:off x="3236976" y="2487168"/>
            <a:ext cx="219456" cy="21945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980944" y="2011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11:50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816352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九龙灌浴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2816352" y="32644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 10min 到场</a:t>
            </a:r>
            <a:endParaRPr lang="en-US" sz="670" dirty="0"/>
          </a:p>
        </p:txBody>
      </p:sp>
      <p:sp>
        <p:nvSpPr>
          <p:cNvPr id="29" name="Shape 26"/>
          <p:cNvSpPr/>
          <p:nvPr/>
        </p:nvSpPr>
        <p:spPr>
          <a:xfrm>
            <a:off x="4462272" y="24871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206240" y="2011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14:05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041648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梵宫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4041648" y="32644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无障碍路径</a:t>
            </a:r>
            <a:endParaRPr lang="en-US" sz="670" dirty="0"/>
          </a:p>
        </p:txBody>
      </p:sp>
      <p:sp>
        <p:nvSpPr>
          <p:cNvPr id="33" name="Shape 30"/>
          <p:cNvSpPr/>
          <p:nvPr/>
        </p:nvSpPr>
        <p:spPr>
          <a:xfrm>
            <a:off x="5614416" y="24871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5358384" y="2011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15:45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193792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5193792" y="32644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15min</a:t>
            </a:r>
            <a:endParaRPr lang="en-US" sz="670" dirty="0"/>
          </a:p>
        </p:txBody>
      </p:sp>
      <p:sp>
        <p:nvSpPr>
          <p:cNvPr id="37" name="Shape 34"/>
          <p:cNvSpPr/>
          <p:nvPr/>
        </p:nvSpPr>
        <p:spPr>
          <a:xfrm>
            <a:off x="530352" y="3913632"/>
            <a:ext cx="5376672" cy="530352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 w="1016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49808" y="401421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若只剩 20 分钟：明确拒绝跨区赶场 → 降级为入口周边“微游览”备选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6638544" y="38953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诚实拒绝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601968" y="42245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比“硬凑一条不可达路线”更可信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示例用于解释规划与降级机制；实际路线以实时位置、天气、开放状态与路网计算结果为准。</a:t>
            </a:r>
            <a:endParaRPr lang="en-US" sz="660" dirty="0"/>
          </a:p>
        </p:txBody>
      </p:sp>
      <p:sp>
        <p:nvSpPr>
          <p:cNvPr id="42" name="Shape 39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PRODUCT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不是算法演示，而是一套端到端可交付产品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280160"/>
            <a:ext cx="1975104" cy="3081528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426464"/>
            <a:ext cx="1792224" cy="2761488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160934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灵小禅 · 问答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77824" y="2011680"/>
            <a:ext cx="1271016" cy="493776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696" y="21214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梵宫几点闭馆？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1115568" y="2651760"/>
            <a:ext cx="1298448" cy="786384"/>
          </a:xfrm>
          <a:prstGeom prst="roundRect">
            <a:avLst>
              <a:gd name="adj" fmla="val 9302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43584" y="2807208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基于官方指南回答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可展开查看证据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77824" y="3630168"/>
            <a:ext cx="1536192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9264" y="372160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证据追溯：出处 · 相似度 · 时延</a:t>
            </a:r>
            <a:endParaRPr lang="en-US" sz="610" dirty="0"/>
          </a:p>
        </p:txBody>
      </p:sp>
      <p:sp>
        <p:nvSpPr>
          <p:cNvPr id="15" name="Shape 13"/>
          <p:cNvSpPr/>
          <p:nvPr/>
        </p:nvSpPr>
        <p:spPr>
          <a:xfrm>
            <a:off x="2862072" y="1280160"/>
            <a:ext cx="4315968" cy="3081528"/>
          </a:xfrm>
          <a:prstGeom prst="roundRect">
            <a:avLst>
              <a:gd name="adj" fmla="val 2374"/>
            </a:avLst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71800" y="1463040"/>
            <a:ext cx="4096512" cy="2734056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136392" y="1636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多约束规划看板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36392" y="1984248"/>
            <a:ext cx="1353312" cy="1682496"/>
          </a:xfrm>
          <a:prstGeom prst="roundRect">
            <a:avLst>
              <a:gd name="adj" fmla="val 3378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00984" y="2203704"/>
            <a:ext cx="10241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 入口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11:50 九龙灌浴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14:05 梵宫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15:45 出口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672584" y="1984248"/>
            <a:ext cx="2121408" cy="1682496"/>
          </a:xfrm>
          <a:prstGeom prst="roundRect">
            <a:avLst>
              <a:gd name="adj" fmla="val 2717"/>
            </a:avLst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4892040" y="2468880"/>
            <a:ext cx="1554480" cy="82296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55080" y="23774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837176" y="3803904"/>
            <a:ext cx="1773936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37176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调起高德 / 百度实景导航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7424928" y="1280160"/>
            <a:ext cx="1097280" cy="3081528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016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43800" y="16459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核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43800" y="208483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边缘节点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507224" y="264261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QPS级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43800" y="29900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拓扑求解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470648" y="3493008"/>
            <a:ext cx="10058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双屏分流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QAPage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RecommendPage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1024128" y="4471416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可问、可看、可追溯、可导航、可部署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0F172A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产品能力：QAPage / RecommendPage、证据追溯抽屉、Live2D 情绪驱动、实景导航调起。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0F172A"/>
          </a:solidFill>
          <a:ln w="1016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3" name="Image 0" descr="E:\Projects\lingshan-ai-guide-Mao123-doc\竞赛汇报与文档材料包\02_图片与视觉素材\国风数智_跨文旅空间数智迁移拓扑图.jp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2064" y="228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VALUE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12064" y="457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从单景区验证，到可复制的文旅决策基础设施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12064" y="932688"/>
            <a:ext cx="50292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530352" y="1188720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1887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年综合成本 &lt; 1.5 万元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78608" y="1188720"/>
            <a:ext cx="196596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78608" y="1188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3–6 个月收回 ROI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" y="1746504"/>
            <a:ext cx="4014216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1892808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同一套“状态—证据—规划—验证”框架，可迁移到博物馆、古镇、主题乐园与大型会展。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530352" y="2807208"/>
            <a:ext cx="1965960" cy="1060704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2944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07008" y="292608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694944" y="3319272"/>
            <a:ext cx="1636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 / 路网 / 指南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完成基础契约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2560320" y="3328416"/>
            <a:ext cx="347472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944368" y="2807208"/>
            <a:ext cx="1965960" cy="1060704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 w="1016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90672" y="2944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21024" y="292608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108960" y="3319272"/>
            <a:ext cx="1636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状态槽位 / 规则门禁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完成联合验证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4974336" y="3328416"/>
            <a:ext cx="347472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358384" y="2807208"/>
            <a:ext cx="1965960" cy="1060704"/>
          </a:xfrm>
          <a:prstGeom prst="roundRect">
            <a:avLst>
              <a:gd name="adj" fmla="val 6897"/>
            </a:avLst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2944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035040" y="292608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上线运营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5522976" y="3319272"/>
            <a:ext cx="1636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双屏产品 / Trace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灰度部署迭代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7498080" y="2807208"/>
            <a:ext cx="1115568" cy="1060704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07808" y="3026664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662672" y="337413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低算力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轻交付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快回本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1005840" y="426110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技术壁垒不是模型参数，而是可沉淀、可复现、可迁移的决策协议。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12064" y="4736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推广路径与成本口径：三阶轻量落地 1 / 2 / 4 周；年综合成本 &lt; 1.5 万元。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Projects\lingshan-ai-guide-Mao123-doc\竞赛汇报与文档材料包\02_图片与视觉素材\国风数智_灵山胜境概念大图(封面推荐).jp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7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016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658368"/>
            <a:ext cx="7461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120" kern="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尊重物理世界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13258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让每一次推荐，都能真的走完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69264" y="2029968"/>
            <a:ext cx="7205472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4440" y="2276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96.0%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34440" y="2715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事实问答正式基线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49040" y="2276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/ 40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3749040" y="2715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场景槽位测试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63640" y="22768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/ 60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263640" y="2715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路线合规 · 硬违规 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" y="38039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听懂游客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44952" y="38039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675888" y="38039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查准事实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86984" y="38039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217920" y="38039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算对路线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12848" y="440740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欢迎现场验证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47183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第八届全球校园人工智能算法精英大赛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灵小禅｜可信文旅决策智能体</dc:title>
  <dc:subject>可信文旅决策智能体竞赛汇报</dc:subject>
  <dc:creator>灵小禅项目组</dc:creator>
  <cp:lastModifiedBy>灵小禅项目组</cp:lastModifiedBy>
  <cp:revision>1</cp:revision>
  <dcterms:created xsi:type="dcterms:W3CDTF">2026-09-21T15:39:44Z</dcterms:created>
  <dcterms:modified xsi:type="dcterms:W3CDTF">2026-09-21T15:39:44Z</dcterms:modified>
</cp:coreProperties>
</file>